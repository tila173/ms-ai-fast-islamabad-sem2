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412" autoAdjust="0"/>
    <p:restoredTop sz="94610"/>
  </p:normalViewPr>
  <p:slideViewPr>
    <p:cSldViewPr snapToGrid="0" snapToObjects="1">
      <p:cViewPr varScale="1">
        <p:scale>
          <a:sx n="80" d="100"/>
          <a:sy n="80" d="100"/>
        </p:scale>
        <p:origin x="9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9103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p:spPr>
      </p:sp>
      <p:sp>
        <p:nvSpPr>
          <p:cNvPr id="3" name="Shape 1"/>
          <p:cNvSpPr/>
          <p:nvPr/>
        </p:nvSpPr>
        <p:spPr>
          <a:xfrm>
            <a:off x="0" y="4663440"/>
            <a:ext cx="9144000" cy="480060"/>
          </a:xfrm>
          <a:prstGeom prst="rect">
            <a:avLst/>
          </a:prstGeom>
          <a:solidFill>
            <a:srgbClr val="1A4731"/>
          </a:solidFill>
          <a:ln/>
        </p:spPr>
      </p:sp>
      <p:pic>
        <p:nvPicPr>
          <p:cNvPr id="4" name="Image 0" descr="preencoded.png"/>
          <p:cNvPicPr>
            <a:picLocks noChangeAspect="1"/>
          </p:cNvPicPr>
          <p:nvPr/>
        </p:nvPicPr>
        <p:blipFill>
          <a:blip r:embed="rId3"/>
          <a:stretch>
            <a:fillRect/>
          </a:stretch>
        </p:blipFill>
        <p:spPr>
          <a:xfrm>
            <a:off x="6949440" y="274320"/>
            <a:ext cx="1463040" cy="1463040"/>
          </a:xfrm>
          <a:prstGeom prst="rect">
            <a:avLst/>
          </a:prstGeom>
        </p:spPr>
      </p:pic>
      <p:pic>
        <p:nvPicPr>
          <p:cNvPr id="5" name="Image 1" descr="preencoded.png"/>
          <p:cNvPicPr>
            <a:picLocks noChangeAspect="1"/>
          </p:cNvPicPr>
          <p:nvPr/>
        </p:nvPicPr>
        <p:blipFill>
          <a:blip r:embed="rId4"/>
          <a:stretch>
            <a:fillRect/>
          </a:stretch>
        </p:blipFill>
        <p:spPr>
          <a:xfrm>
            <a:off x="7406640" y="1920240"/>
            <a:ext cx="1280160" cy="1280160"/>
          </a:xfrm>
          <a:prstGeom prst="rect">
            <a:avLst/>
          </a:prstGeom>
        </p:spPr>
      </p:pic>
      <p:pic>
        <p:nvPicPr>
          <p:cNvPr id="6" name="Image 2" descr="preencoded.png"/>
          <p:cNvPicPr>
            <a:picLocks noChangeAspect="1"/>
          </p:cNvPicPr>
          <p:nvPr/>
        </p:nvPicPr>
        <p:blipFill>
          <a:blip r:embed="rId5"/>
          <a:stretch>
            <a:fillRect/>
          </a:stretch>
        </p:blipFill>
        <p:spPr>
          <a:xfrm>
            <a:off x="7040880" y="3291840"/>
            <a:ext cx="1097280" cy="1097280"/>
          </a:xfrm>
          <a:prstGeom prst="rect">
            <a:avLst/>
          </a:prstGeom>
        </p:spPr>
      </p:pic>
      <p:sp>
        <p:nvSpPr>
          <p:cNvPr id="7" name="Text 2"/>
          <p:cNvSpPr/>
          <p:nvPr/>
        </p:nvSpPr>
        <p:spPr>
          <a:xfrm>
            <a:off x="433493" y="1178616"/>
            <a:ext cx="6492240" cy="685800"/>
          </a:xfrm>
          <a:prstGeom prst="rect">
            <a:avLst/>
          </a:prstGeom>
          <a:noFill/>
          <a:ln/>
        </p:spPr>
        <p:txBody>
          <a:bodyPr wrap="square" rtlCol="0" anchor="ctr"/>
          <a:lstStyle/>
          <a:p>
            <a:pPr marL="0" indent="0" algn="ctr">
              <a:buNone/>
            </a:pPr>
            <a:r>
              <a:rPr lang="en-US" sz="3600" b="1" dirty="0">
                <a:solidFill>
                  <a:srgbClr val="E8C97A"/>
                </a:solidFill>
                <a:latin typeface="Georgia" pitchFamily="34" charset="0"/>
                <a:ea typeface="Georgia" pitchFamily="34" charset="-122"/>
                <a:cs typeface="Georgia" pitchFamily="34" charset="-120"/>
              </a:rPr>
              <a:t>AI-Generated Voice &amp;</a:t>
            </a:r>
            <a:endParaRPr lang="en-US" sz="3600" dirty="0"/>
          </a:p>
        </p:txBody>
      </p:sp>
      <p:sp>
        <p:nvSpPr>
          <p:cNvPr id="8" name="Text 3"/>
          <p:cNvSpPr/>
          <p:nvPr/>
        </p:nvSpPr>
        <p:spPr>
          <a:xfrm>
            <a:off x="433493" y="1604038"/>
            <a:ext cx="6492240" cy="685800"/>
          </a:xfrm>
          <a:prstGeom prst="rect">
            <a:avLst/>
          </a:prstGeom>
          <a:noFill/>
          <a:ln/>
        </p:spPr>
        <p:txBody>
          <a:bodyPr wrap="square"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Quran Recitation</a:t>
            </a:r>
            <a:endParaRPr lang="en-US" sz="3600" dirty="0"/>
          </a:p>
        </p:txBody>
      </p:sp>
      <p:sp>
        <p:nvSpPr>
          <p:cNvPr id="9" name="Text 4"/>
          <p:cNvSpPr/>
          <p:nvPr/>
        </p:nvSpPr>
        <p:spPr>
          <a:xfrm>
            <a:off x="570653" y="2267260"/>
            <a:ext cx="6217920" cy="457200"/>
          </a:xfrm>
          <a:prstGeom prst="rect">
            <a:avLst/>
          </a:prstGeom>
          <a:noFill/>
          <a:ln/>
        </p:spPr>
        <p:txBody>
          <a:bodyPr wrap="square" rtlCol="0" anchor="ctr"/>
          <a:lstStyle/>
          <a:p>
            <a:pPr marL="0" indent="0" algn="ctr">
              <a:buNone/>
            </a:pPr>
            <a:r>
              <a:rPr lang="en-US" sz="2100" i="1" dirty="0">
                <a:solidFill>
                  <a:srgbClr val="E8C97A"/>
                </a:solidFill>
                <a:latin typeface="Georgia" pitchFamily="34" charset="0"/>
                <a:ea typeface="Georgia" pitchFamily="34" charset="-122"/>
                <a:cs typeface="Georgia" pitchFamily="34" charset="-120"/>
              </a:rPr>
              <a:t>Is It Permissible in Islam?</a:t>
            </a:r>
            <a:endParaRPr lang="en-US" sz="2100" dirty="0"/>
          </a:p>
        </p:txBody>
      </p:sp>
      <p:sp>
        <p:nvSpPr>
          <p:cNvPr id="10" name="Text 5"/>
          <p:cNvSpPr/>
          <p:nvPr/>
        </p:nvSpPr>
        <p:spPr>
          <a:xfrm>
            <a:off x="1645920" y="3259328"/>
            <a:ext cx="6400800" cy="658368"/>
          </a:xfrm>
          <a:prstGeom prst="rect">
            <a:avLst/>
          </a:prstGeom>
          <a:noFill/>
          <a:ln/>
        </p:spPr>
        <p:txBody>
          <a:bodyPr wrap="square" rtlCol="0" anchor="ctr"/>
          <a:lstStyle/>
          <a:p>
            <a:pPr marL="0" indent="0">
              <a:buNone/>
            </a:pPr>
            <a:r>
              <a:rPr lang="en-US" sz="1250" dirty="0">
                <a:solidFill>
                  <a:srgbClr val="2D9B6A"/>
                </a:solidFill>
                <a:latin typeface="Calibri" pitchFamily="34" charset="0"/>
                <a:ea typeface="Calibri" pitchFamily="34" charset="-122"/>
                <a:cs typeface="Calibri" pitchFamily="34" charset="-120"/>
              </a:rPr>
              <a:t>A Comprehensive Jurisprudential Review with Named Fatwas</a:t>
            </a:r>
            <a:endParaRPr lang="en-US" sz="1250" dirty="0"/>
          </a:p>
          <a:p>
            <a:pPr marL="0" indent="0">
              <a:buNone/>
            </a:pPr>
            <a:r>
              <a:rPr lang="en-US" sz="1250" dirty="0">
                <a:solidFill>
                  <a:srgbClr val="2D9B6A"/>
                </a:solidFill>
                <a:latin typeface="Calibri" pitchFamily="34" charset="0"/>
                <a:ea typeface="Calibri" pitchFamily="34" charset="-122"/>
                <a:cs typeface="Calibri" pitchFamily="34" charset="-120"/>
              </a:rPr>
              <a:t>from Global Islamic Bodies</a:t>
            </a:r>
            <a:endParaRPr lang="en-US" sz="1250" dirty="0"/>
          </a:p>
        </p:txBody>
      </p:sp>
      <p:sp>
        <p:nvSpPr>
          <p:cNvPr id="12" name="Text 7"/>
          <p:cNvSpPr/>
          <p:nvPr/>
        </p:nvSpPr>
        <p:spPr>
          <a:xfrm>
            <a:off x="320040" y="4709160"/>
            <a:ext cx="4572000" cy="347472"/>
          </a:xfrm>
          <a:prstGeom prst="rect">
            <a:avLst/>
          </a:prstGeom>
          <a:noFill/>
          <a:ln/>
        </p:spPr>
        <p:txBody>
          <a:bodyPr wrap="square" rtlCol="0" anchor="ctr"/>
          <a:lstStyle/>
          <a:p>
            <a:pPr marL="0" indent="0">
              <a:buNone/>
            </a:pPr>
            <a:r>
              <a:rPr lang="en-US" sz="1200" dirty="0">
                <a:solidFill>
                  <a:srgbClr val="E8C97A"/>
                </a:solidFill>
                <a:latin typeface="Calibri" pitchFamily="34" charset="0"/>
                <a:ea typeface="Calibri" pitchFamily="34" charset="-122"/>
                <a:cs typeface="Calibri" pitchFamily="34" charset="-120"/>
              </a:rPr>
              <a:t>Tila Muhammad |  March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8EE"/>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A4731"/>
          </a:solidFill>
          <a:ln/>
        </p:spPr>
      </p:sp>
      <p:sp>
        <p:nvSpPr>
          <p:cNvPr id="3" name="Shape 1"/>
          <p:cNvSpPr/>
          <p:nvPr/>
        </p:nvSpPr>
        <p:spPr>
          <a:xfrm>
            <a:off x="0" y="804672"/>
            <a:ext cx="9144000" cy="54864"/>
          </a:xfrm>
          <a:prstGeom prst="rect">
            <a:avLst/>
          </a:prstGeom>
          <a:solidFill>
            <a:srgbClr val="C9A84C"/>
          </a:solidFill>
          <a:ln/>
        </p:spPr>
      </p:sp>
      <p:sp>
        <p:nvSpPr>
          <p:cNvPr id="4" name="Text 2"/>
          <p:cNvSpPr/>
          <p:nvPr/>
        </p:nvSpPr>
        <p:spPr>
          <a:xfrm>
            <a:off x="320040" y="91440"/>
            <a:ext cx="8503920" cy="621792"/>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The Fundamental Distinction</a:t>
            </a:r>
            <a:endParaRPr lang="en-US" sz="2800" dirty="0"/>
          </a:p>
        </p:txBody>
      </p:sp>
      <p:sp>
        <p:nvSpPr>
          <p:cNvPr id="5" name="Text 3"/>
          <p:cNvSpPr/>
          <p:nvPr/>
        </p:nvSpPr>
        <p:spPr>
          <a:xfrm>
            <a:off x="274320" y="987552"/>
            <a:ext cx="8595360" cy="320040"/>
          </a:xfrm>
          <a:prstGeom prst="rect">
            <a:avLst/>
          </a:prstGeom>
          <a:noFill/>
          <a:ln/>
        </p:spPr>
        <p:txBody>
          <a:bodyPr wrap="square" rtlCol="0" anchor="ctr"/>
          <a:lstStyle/>
          <a:p>
            <a:pPr marL="0" indent="0">
              <a:buNone/>
            </a:pPr>
            <a:r>
              <a:rPr lang="en-US" sz="1300" b="1" dirty="0">
                <a:solidFill>
                  <a:srgbClr val="1A4731"/>
                </a:solidFill>
                <a:latin typeface="Calibri" pitchFamily="34" charset="0"/>
                <a:ea typeface="Calibri" pitchFamily="34" charset="-122"/>
                <a:cs typeface="Calibri" pitchFamily="34" charset="-120"/>
              </a:rPr>
              <a:t>Two different technologies — two very different Islamic questions:</a:t>
            </a:r>
            <a:endParaRPr lang="en-US" sz="1300" dirty="0"/>
          </a:p>
        </p:txBody>
      </p:sp>
      <p:sp>
        <p:nvSpPr>
          <p:cNvPr id="6" name="Shape 4"/>
          <p:cNvSpPr/>
          <p:nvPr/>
        </p:nvSpPr>
        <p:spPr>
          <a:xfrm>
            <a:off x="256032" y="1417320"/>
            <a:ext cx="4041648" cy="3246120"/>
          </a:xfrm>
          <a:prstGeom prst="rect">
            <a:avLst/>
          </a:prstGeom>
          <a:solidFill>
            <a:srgbClr val="E8F5EE"/>
          </a:solidFill>
          <a:ln/>
          <a:effectLst>
            <a:outerShdw blurRad="76200" dist="25400" dir="8100000" algn="bl" rotWithShape="0">
              <a:srgbClr val="000000">
                <a:alpha val="14000"/>
              </a:srgbClr>
            </a:outerShdw>
          </a:effectLst>
        </p:spPr>
      </p:sp>
      <p:sp>
        <p:nvSpPr>
          <p:cNvPr id="7" name="Shape 5"/>
          <p:cNvSpPr/>
          <p:nvPr/>
        </p:nvSpPr>
        <p:spPr>
          <a:xfrm>
            <a:off x="256032" y="1417320"/>
            <a:ext cx="4041648" cy="91440"/>
          </a:xfrm>
          <a:prstGeom prst="rect">
            <a:avLst/>
          </a:prstGeom>
          <a:solidFill>
            <a:srgbClr val="2D9B6A"/>
          </a:solidFill>
          <a:ln/>
        </p:spPr>
      </p:sp>
      <p:pic>
        <p:nvPicPr>
          <p:cNvPr id="8" name="Image 0" descr="preencoded.png"/>
          <p:cNvPicPr>
            <a:picLocks noChangeAspect="1"/>
          </p:cNvPicPr>
          <p:nvPr/>
        </p:nvPicPr>
        <p:blipFill>
          <a:blip r:embed="rId3"/>
          <a:stretch>
            <a:fillRect/>
          </a:stretch>
        </p:blipFill>
        <p:spPr>
          <a:xfrm>
            <a:off x="457200" y="1572768"/>
            <a:ext cx="457200" cy="457200"/>
          </a:xfrm>
          <a:prstGeom prst="rect">
            <a:avLst/>
          </a:prstGeom>
        </p:spPr>
      </p:pic>
      <p:sp>
        <p:nvSpPr>
          <p:cNvPr id="9" name="Text 6"/>
          <p:cNvSpPr/>
          <p:nvPr/>
        </p:nvSpPr>
        <p:spPr>
          <a:xfrm>
            <a:off x="1005840" y="1572768"/>
            <a:ext cx="3108960" cy="457200"/>
          </a:xfrm>
          <a:prstGeom prst="rect">
            <a:avLst/>
          </a:prstGeom>
          <a:noFill/>
          <a:ln/>
        </p:spPr>
        <p:txBody>
          <a:bodyPr wrap="square" rtlCol="0" anchor="ctr"/>
          <a:lstStyle/>
          <a:p>
            <a:pPr marL="0" indent="0">
              <a:buNone/>
            </a:pPr>
            <a:r>
              <a:rPr lang="en-US" sz="1300" b="1" dirty="0">
                <a:solidFill>
                  <a:srgbClr val="1A4731"/>
                </a:solidFill>
                <a:latin typeface="Calibri" pitchFamily="34" charset="0"/>
                <a:ea typeface="Calibri" pitchFamily="34" charset="-122"/>
                <a:cs typeface="Calibri" pitchFamily="34" charset="-120"/>
              </a:rPr>
              <a:t>Type A: AI Evaluation Tools</a:t>
            </a:r>
            <a:endParaRPr lang="en-US" sz="1300" dirty="0"/>
          </a:p>
        </p:txBody>
      </p:sp>
      <p:sp>
        <p:nvSpPr>
          <p:cNvPr id="10" name="Text 7"/>
          <p:cNvSpPr/>
          <p:nvPr/>
        </p:nvSpPr>
        <p:spPr>
          <a:xfrm>
            <a:off x="384048" y="2103120"/>
            <a:ext cx="3794760" cy="36576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Listens to a human reciting and flags potential errors</a:t>
            </a:r>
            <a:endParaRPr lang="en-US" sz="1150" dirty="0"/>
          </a:p>
        </p:txBody>
      </p:sp>
      <p:sp>
        <p:nvSpPr>
          <p:cNvPr id="11" name="Text 8"/>
          <p:cNvSpPr/>
          <p:nvPr/>
        </p:nvSpPr>
        <p:spPr>
          <a:xfrm>
            <a:off x="384048" y="2560320"/>
            <a:ext cx="1280160" cy="411480"/>
          </a:xfrm>
          <a:prstGeom prst="rect">
            <a:avLst/>
          </a:prstGeom>
          <a:noFill/>
          <a:ln/>
        </p:spPr>
        <p:txBody>
          <a:bodyPr wrap="square" rtlCol="0" anchor="ctr"/>
          <a:lstStyle/>
          <a:p>
            <a:pPr marL="0" indent="0">
              <a:buNone/>
            </a:pPr>
            <a:r>
              <a:rPr lang="en-US" sz="1050" b="1" dirty="0">
                <a:solidFill>
                  <a:srgbClr val="1A4731"/>
                </a:solidFill>
                <a:latin typeface="Calibri" pitchFamily="34" charset="0"/>
                <a:ea typeface="Calibri" pitchFamily="34" charset="-122"/>
                <a:cs typeface="Calibri" pitchFamily="34" charset="-120"/>
              </a:rPr>
              <a:t>Examples:</a:t>
            </a:r>
            <a:endParaRPr lang="en-US" sz="1050" dirty="0"/>
          </a:p>
        </p:txBody>
      </p:sp>
      <p:sp>
        <p:nvSpPr>
          <p:cNvPr id="12" name="Text 9"/>
          <p:cNvSpPr/>
          <p:nvPr/>
        </p:nvSpPr>
        <p:spPr>
          <a:xfrm>
            <a:off x="1664208" y="2560320"/>
            <a:ext cx="2468880" cy="411480"/>
          </a:xfrm>
          <a:prstGeom prst="rect">
            <a:avLst/>
          </a:prstGeom>
          <a:noFill/>
          <a:ln/>
        </p:spPr>
        <p:txBody>
          <a:bodyPr wrap="square" rtlCol="0" anchor="ctr"/>
          <a:lstStyle/>
          <a:p>
            <a:pPr marL="0" indent="0">
              <a:buNone/>
            </a:pPr>
            <a:r>
              <a:rPr lang="en-US" sz="1050" dirty="0">
                <a:solidFill>
                  <a:srgbClr val="333333"/>
                </a:solidFill>
                <a:latin typeface="Calibri" pitchFamily="34" charset="0"/>
                <a:ea typeface="Calibri" pitchFamily="34" charset="-122"/>
                <a:cs typeface="Calibri" pitchFamily="34" charset="-120"/>
              </a:rPr>
              <a:t>Tarteel AI, TajweedMate</a:t>
            </a:r>
            <a:endParaRPr lang="en-US" sz="1050" dirty="0"/>
          </a:p>
        </p:txBody>
      </p:sp>
      <p:sp>
        <p:nvSpPr>
          <p:cNvPr id="13" name="Text 10"/>
          <p:cNvSpPr/>
          <p:nvPr/>
        </p:nvSpPr>
        <p:spPr>
          <a:xfrm>
            <a:off x="384048" y="3063240"/>
            <a:ext cx="1280160" cy="411480"/>
          </a:xfrm>
          <a:prstGeom prst="rect">
            <a:avLst/>
          </a:prstGeom>
          <a:noFill/>
          <a:ln/>
        </p:spPr>
        <p:txBody>
          <a:bodyPr wrap="square" rtlCol="0" anchor="ctr"/>
          <a:lstStyle/>
          <a:p>
            <a:pPr marL="0" indent="0">
              <a:buNone/>
            </a:pPr>
            <a:r>
              <a:rPr lang="en-US" sz="1050" b="1" dirty="0">
                <a:solidFill>
                  <a:srgbClr val="1A4731"/>
                </a:solidFill>
                <a:latin typeface="Calibri" pitchFamily="34" charset="0"/>
                <a:ea typeface="Calibri" pitchFamily="34" charset="-122"/>
                <a:cs typeface="Calibri" pitchFamily="34" charset="-120"/>
              </a:rPr>
              <a:t>Human role:</a:t>
            </a:r>
            <a:endParaRPr lang="en-US" sz="1050" dirty="0"/>
          </a:p>
        </p:txBody>
      </p:sp>
      <p:sp>
        <p:nvSpPr>
          <p:cNvPr id="14" name="Text 11"/>
          <p:cNvSpPr/>
          <p:nvPr/>
        </p:nvSpPr>
        <p:spPr>
          <a:xfrm>
            <a:off x="1664208" y="3063240"/>
            <a:ext cx="2468880" cy="411480"/>
          </a:xfrm>
          <a:prstGeom prst="rect">
            <a:avLst/>
          </a:prstGeom>
          <a:noFill/>
          <a:ln/>
        </p:spPr>
        <p:txBody>
          <a:bodyPr wrap="square" rtlCol="0" anchor="ctr"/>
          <a:lstStyle/>
          <a:p>
            <a:pPr marL="0" indent="0">
              <a:buNone/>
            </a:pPr>
            <a:r>
              <a:rPr lang="en-US" sz="1050" dirty="0">
                <a:solidFill>
                  <a:srgbClr val="333333"/>
                </a:solidFill>
                <a:latin typeface="Calibri" pitchFamily="34" charset="0"/>
                <a:ea typeface="Calibri" pitchFamily="34" charset="-122"/>
                <a:cs typeface="Calibri" pitchFamily="34" charset="-120"/>
              </a:rPr>
              <a:t>Human still recites — AI only assists</a:t>
            </a:r>
            <a:endParaRPr lang="en-US" sz="1050" dirty="0"/>
          </a:p>
        </p:txBody>
      </p:sp>
      <p:sp>
        <p:nvSpPr>
          <p:cNvPr id="15" name="Text 12"/>
          <p:cNvSpPr/>
          <p:nvPr/>
        </p:nvSpPr>
        <p:spPr>
          <a:xfrm>
            <a:off x="384048" y="3566160"/>
            <a:ext cx="1280160" cy="411480"/>
          </a:xfrm>
          <a:prstGeom prst="rect">
            <a:avLst/>
          </a:prstGeom>
          <a:noFill/>
          <a:ln/>
        </p:spPr>
        <p:txBody>
          <a:bodyPr wrap="square" rtlCol="0" anchor="ctr"/>
          <a:lstStyle/>
          <a:p>
            <a:pPr marL="0" indent="0">
              <a:buNone/>
            </a:pPr>
            <a:r>
              <a:rPr lang="en-US" sz="1050" b="1" dirty="0">
                <a:solidFill>
                  <a:srgbClr val="1A4731"/>
                </a:solidFill>
                <a:latin typeface="Calibri" pitchFamily="34" charset="0"/>
                <a:ea typeface="Calibri" pitchFamily="34" charset="-122"/>
                <a:cs typeface="Calibri" pitchFamily="34" charset="-120"/>
              </a:rPr>
              <a:t>Islamic stakes:</a:t>
            </a:r>
            <a:endParaRPr lang="en-US" sz="1050" dirty="0"/>
          </a:p>
        </p:txBody>
      </p:sp>
      <p:sp>
        <p:nvSpPr>
          <p:cNvPr id="16" name="Text 13"/>
          <p:cNvSpPr/>
          <p:nvPr/>
        </p:nvSpPr>
        <p:spPr>
          <a:xfrm>
            <a:off x="1664208" y="3566160"/>
            <a:ext cx="2468880" cy="411480"/>
          </a:xfrm>
          <a:prstGeom prst="rect">
            <a:avLst/>
          </a:prstGeom>
          <a:noFill/>
          <a:ln/>
        </p:spPr>
        <p:txBody>
          <a:bodyPr wrap="square" rtlCol="0" anchor="ctr"/>
          <a:lstStyle/>
          <a:p>
            <a:pPr marL="0" indent="0">
              <a:buNone/>
            </a:pPr>
            <a:r>
              <a:rPr lang="en-US" sz="1050" dirty="0">
                <a:solidFill>
                  <a:srgbClr val="333333"/>
                </a:solidFill>
                <a:latin typeface="Calibri" pitchFamily="34" charset="0"/>
                <a:ea typeface="Calibri" pitchFamily="34" charset="-122"/>
                <a:cs typeface="Calibri" pitchFamily="34" charset="-120"/>
              </a:rPr>
              <a:t>Lower — human act of worship preserved</a:t>
            </a:r>
            <a:endParaRPr lang="en-US" sz="1050" dirty="0"/>
          </a:p>
        </p:txBody>
      </p:sp>
      <p:sp>
        <p:nvSpPr>
          <p:cNvPr id="18" name="Shape 15"/>
          <p:cNvSpPr/>
          <p:nvPr/>
        </p:nvSpPr>
        <p:spPr>
          <a:xfrm>
            <a:off x="4846320" y="1417320"/>
            <a:ext cx="4041648" cy="3246120"/>
          </a:xfrm>
          <a:prstGeom prst="rect">
            <a:avLst/>
          </a:prstGeom>
          <a:solidFill>
            <a:srgbClr val="FFF0EE"/>
          </a:solidFill>
          <a:ln/>
          <a:effectLst>
            <a:outerShdw blurRad="76200" dist="25400" dir="8100000" algn="bl" rotWithShape="0">
              <a:srgbClr val="000000">
                <a:alpha val="14000"/>
              </a:srgbClr>
            </a:outerShdw>
          </a:effectLst>
        </p:spPr>
      </p:sp>
      <p:sp>
        <p:nvSpPr>
          <p:cNvPr id="19" name="Shape 16"/>
          <p:cNvSpPr/>
          <p:nvPr/>
        </p:nvSpPr>
        <p:spPr>
          <a:xfrm>
            <a:off x="4846320" y="1417320"/>
            <a:ext cx="4041648" cy="91440"/>
          </a:xfrm>
          <a:prstGeom prst="rect">
            <a:avLst/>
          </a:prstGeom>
          <a:solidFill>
            <a:srgbClr val="8B2222"/>
          </a:solidFill>
          <a:ln/>
        </p:spPr>
      </p:sp>
      <p:pic>
        <p:nvPicPr>
          <p:cNvPr id="20" name="Image 1" descr="preencoded.png"/>
          <p:cNvPicPr>
            <a:picLocks noChangeAspect="1"/>
          </p:cNvPicPr>
          <p:nvPr/>
        </p:nvPicPr>
        <p:blipFill>
          <a:blip r:embed="rId4"/>
          <a:stretch>
            <a:fillRect/>
          </a:stretch>
        </p:blipFill>
        <p:spPr>
          <a:xfrm>
            <a:off x="5047488" y="1572768"/>
            <a:ext cx="457200" cy="457200"/>
          </a:xfrm>
          <a:prstGeom prst="rect">
            <a:avLst/>
          </a:prstGeom>
        </p:spPr>
      </p:pic>
      <p:sp>
        <p:nvSpPr>
          <p:cNvPr id="21" name="Text 17"/>
          <p:cNvSpPr/>
          <p:nvPr/>
        </p:nvSpPr>
        <p:spPr>
          <a:xfrm>
            <a:off x="5596128" y="1572768"/>
            <a:ext cx="3108960" cy="457200"/>
          </a:xfrm>
          <a:prstGeom prst="rect">
            <a:avLst/>
          </a:prstGeom>
          <a:noFill/>
          <a:ln/>
        </p:spPr>
        <p:txBody>
          <a:bodyPr wrap="square" rtlCol="0" anchor="ctr"/>
          <a:lstStyle/>
          <a:p>
            <a:pPr marL="0" indent="0">
              <a:buNone/>
            </a:pPr>
            <a:r>
              <a:rPr lang="en-US" sz="1300" b="1" dirty="0">
                <a:solidFill>
                  <a:srgbClr val="8B2222"/>
                </a:solidFill>
                <a:latin typeface="Calibri" pitchFamily="34" charset="0"/>
                <a:ea typeface="Calibri" pitchFamily="34" charset="-122"/>
                <a:cs typeface="Calibri" pitchFamily="34" charset="-120"/>
              </a:rPr>
              <a:t>Type B: AI Voice Synthesis</a:t>
            </a:r>
            <a:endParaRPr lang="en-US" sz="1300" dirty="0"/>
          </a:p>
        </p:txBody>
      </p:sp>
      <p:sp>
        <p:nvSpPr>
          <p:cNvPr id="22" name="Text 18"/>
          <p:cNvSpPr/>
          <p:nvPr/>
        </p:nvSpPr>
        <p:spPr>
          <a:xfrm>
            <a:off x="4974336" y="2103120"/>
            <a:ext cx="3794760" cy="36576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Produces Quranic audio — no human is reciting at all</a:t>
            </a:r>
            <a:endParaRPr lang="en-US" sz="1150" dirty="0"/>
          </a:p>
        </p:txBody>
      </p:sp>
      <p:sp>
        <p:nvSpPr>
          <p:cNvPr id="23" name="Text 19"/>
          <p:cNvSpPr/>
          <p:nvPr/>
        </p:nvSpPr>
        <p:spPr>
          <a:xfrm>
            <a:off x="4974336" y="2560320"/>
            <a:ext cx="1280160" cy="411480"/>
          </a:xfrm>
          <a:prstGeom prst="rect">
            <a:avLst/>
          </a:prstGeom>
          <a:noFill/>
          <a:ln/>
        </p:spPr>
        <p:txBody>
          <a:bodyPr wrap="square" rtlCol="0" anchor="ctr"/>
          <a:lstStyle/>
          <a:p>
            <a:pPr marL="0" indent="0">
              <a:buNone/>
            </a:pPr>
            <a:r>
              <a:rPr lang="en-US" sz="1050" b="1" dirty="0">
                <a:solidFill>
                  <a:srgbClr val="8B2222"/>
                </a:solidFill>
                <a:latin typeface="Calibri" pitchFamily="34" charset="0"/>
                <a:ea typeface="Calibri" pitchFamily="34" charset="-122"/>
                <a:cs typeface="Calibri" pitchFamily="34" charset="-120"/>
              </a:rPr>
              <a:t>Examples:</a:t>
            </a:r>
            <a:endParaRPr lang="en-US" sz="1050" dirty="0"/>
          </a:p>
        </p:txBody>
      </p:sp>
      <p:sp>
        <p:nvSpPr>
          <p:cNvPr id="24" name="Text 20"/>
          <p:cNvSpPr/>
          <p:nvPr/>
        </p:nvSpPr>
        <p:spPr>
          <a:xfrm>
            <a:off x="6254496" y="2560320"/>
            <a:ext cx="2468880" cy="411480"/>
          </a:xfrm>
          <a:prstGeom prst="rect">
            <a:avLst/>
          </a:prstGeom>
          <a:noFill/>
          <a:ln/>
        </p:spPr>
        <p:txBody>
          <a:bodyPr wrap="square" rtlCol="0" anchor="ctr"/>
          <a:lstStyle/>
          <a:p>
            <a:pPr marL="0" indent="0">
              <a:buNone/>
            </a:pPr>
            <a:r>
              <a:rPr lang="en-US" sz="1050" dirty="0">
                <a:solidFill>
                  <a:srgbClr val="333333"/>
                </a:solidFill>
                <a:latin typeface="Calibri" pitchFamily="34" charset="0"/>
                <a:ea typeface="Calibri" pitchFamily="34" charset="-122"/>
                <a:cs typeface="Calibri" pitchFamily="34" charset="-120"/>
              </a:rPr>
              <a:t>ElevenLabs voice clones, Murattal AI, Quran TTS</a:t>
            </a:r>
            <a:endParaRPr lang="en-US" sz="1050" dirty="0"/>
          </a:p>
        </p:txBody>
      </p:sp>
      <p:sp>
        <p:nvSpPr>
          <p:cNvPr id="25" name="Text 21"/>
          <p:cNvSpPr/>
          <p:nvPr/>
        </p:nvSpPr>
        <p:spPr>
          <a:xfrm>
            <a:off x="4974336" y="3063240"/>
            <a:ext cx="1280160" cy="411480"/>
          </a:xfrm>
          <a:prstGeom prst="rect">
            <a:avLst/>
          </a:prstGeom>
          <a:noFill/>
          <a:ln/>
        </p:spPr>
        <p:txBody>
          <a:bodyPr wrap="square" rtlCol="0" anchor="ctr"/>
          <a:lstStyle/>
          <a:p>
            <a:pPr marL="0" indent="0">
              <a:buNone/>
            </a:pPr>
            <a:r>
              <a:rPr lang="en-US" sz="1050" b="1" dirty="0">
                <a:solidFill>
                  <a:srgbClr val="8B2222"/>
                </a:solidFill>
                <a:latin typeface="Calibri" pitchFamily="34" charset="0"/>
                <a:ea typeface="Calibri" pitchFamily="34" charset="-122"/>
                <a:cs typeface="Calibri" pitchFamily="34" charset="-120"/>
              </a:rPr>
              <a:t>Human role:</a:t>
            </a:r>
            <a:endParaRPr lang="en-US" sz="1050" dirty="0"/>
          </a:p>
        </p:txBody>
      </p:sp>
      <p:sp>
        <p:nvSpPr>
          <p:cNvPr id="26" name="Text 22"/>
          <p:cNvSpPr/>
          <p:nvPr/>
        </p:nvSpPr>
        <p:spPr>
          <a:xfrm>
            <a:off x="6254496" y="3063240"/>
            <a:ext cx="2468880" cy="411480"/>
          </a:xfrm>
          <a:prstGeom prst="rect">
            <a:avLst/>
          </a:prstGeom>
          <a:noFill/>
          <a:ln/>
        </p:spPr>
        <p:txBody>
          <a:bodyPr wrap="square" rtlCol="0" anchor="ctr"/>
          <a:lstStyle/>
          <a:p>
            <a:pPr marL="0" indent="0">
              <a:buNone/>
            </a:pPr>
            <a:r>
              <a:rPr lang="en-US" sz="1050" dirty="0">
                <a:solidFill>
                  <a:srgbClr val="333333"/>
                </a:solidFill>
                <a:latin typeface="Calibri" pitchFamily="34" charset="0"/>
                <a:ea typeface="Calibri" pitchFamily="34" charset="-122"/>
                <a:cs typeface="Calibri" pitchFamily="34" charset="-120"/>
              </a:rPr>
              <a:t>NONE — machine generates the audio</a:t>
            </a:r>
            <a:endParaRPr lang="en-US" sz="1050" dirty="0"/>
          </a:p>
        </p:txBody>
      </p:sp>
      <p:sp>
        <p:nvSpPr>
          <p:cNvPr id="27" name="Text 23"/>
          <p:cNvSpPr/>
          <p:nvPr/>
        </p:nvSpPr>
        <p:spPr>
          <a:xfrm>
            <a:off x="4974336" y="3566160"/>
            <a:ext cx="1280160" cy="411480"/>
          </a:xfrm>
          <a:prstGeom prst="rect">
            <a:avLst/>
          </a:prstGeom>
          <a:noFill/>
          <a:ln/>
        </p:spPr>
        <p:txBody>
          <a:bodyPr wrap="square" rtlCol="0" anchor="ctr"/>
          <a:lstStyle/>
          <a:p>
            <a:pPr marL="0" indent="0">
              <a:buNone/>
            </a:pPr>
            <a:r>
              <a:rPr lang="en-US" sz="1050" b="1" dirty="0">
                <a:solidFill>
                  <a:srgbClr val="8B2222"/>
                </a:solidFill>
                <a:latin typeface="Calibri" pitchFamily="34" charset="0"/>
                <a:ea typeface="Calibri" pitchFamily="34" charset="-122"/>
                <a:cs typeface="Calibri" pitchFamily="34" charset="-120"/>
              </a:rPr>
              <a:t>Islamic stakes:</a:t>
            </a:r>
            <a:endParaRPr lang="en-US" sz="1050" dirty="0"/>
          </a:p>
        </p:txBody>
      </p:sp>
      <p:sp>
        <p:nvSpPr>
          <p:cNvPr id="28" name="Text 24"/>
          <p:cNvSpPr/>
          <p:nvPr/>
        </p:nvSpPr>
        <p:spPr>
          <a:xfrm>
            <a:off x="6254496" y="3566160"/>
            <a:ext cx="2468880" cy="411480"/>
          </a:xfrm>
          <a:prstGeom prst="rect">
            <a:avLst/>
          </a:prstGeom>
          <a:noFill/>
          <a:ln/>
        </p:spPr>
        <p:txBody>
          <a:bodyPr wrap="square" rtlCol="0" anchor="ctr"/>
          <a:lstStyle/>
          <a:p>
            <a:pPr marL="0" indent="0">
              <a:buNone/>
            </a:pPr>
            <a:r>
              <a:rPr lang="en-US" sz="1050" dirty="0">
                <a:solidFill>
                  <a:srgbClr val="333333"/>
                </a:solidFill>
                <a:latin typeface="Calibri" pitchFamily="34" charset="0"/>
                <a:ea typeface="Calibri" pitchFamily="34" charset="-122"/>
                <a:cs typeface="Calibri" pitchFamily="34" charset="-120"/>
              </a:rPr>
              <a:t>HIGHER — who or what is reciting the Quran?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A4731"/>
          </a:solidFill>
          <a:ln/>
        </p:spPr>
      </p:sp>
      <p:sp>
        <p:nvSpPr>
          <p:cNvPr id="3" name="Shape 1"/>
          <p:cNvSpPr/>
          <p:nvPr/>
        </p:nvSpPr>
        <p:spPr>
          <a:xfrm>
            <a:off x="0" y="804672"/>
            <a:ext cx="9144000" cy="54864"/>
          </a:xfrm>
          <a:prstGeom prst="rect">
            <a:avLst/>
          </a:prstGeom>
          <a:solidFill>
            <a:srgbClr val="C9A84C"/>
          </a:solidFill>
          <a:ln/>
        </p:spPr>
      </p:sp>
      <p:sp>
        <p:nvSpPr>
          <p:cNvPr id="4" name="Text 2"/>
          <p:cNvSpPr/>
          <p:nvPr/>
        </p:nvSpPr>
        <p:spPr>
          <a:xfrm>
            <a:off x="320040" y="91440"/>
            <a:ext cx="8503920" cy="621792"/>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The AI Voice Tools in Question</a:t>
            </a:r>
            <a:endParaRPr lang="en-US" sz="2800" dirty="0"/>
          </a:p>
        </p:txBody>
      </p:sp>
      <p:sp>
        <p:nvSpPr>
          <p:cNvPr id="5" name="Shape 3"/>
          <p:cNvSpPr/>
          <p:nvPr/>
        </p:nvSpPr>
        <p:spPr>
          <a:xfrm>
            <a:off x="228600" y="960120"/>
            <a:ext cx="4251960" cy="1097280"/>
          </a:xfrm>
          <a:prstGeom prst="rect">
            <a:avLst/>
          </a:prstGeom>
          <a:solidFill>
            <a:srgbClr val="0D2137"/>
          </a:solidFill>
          <a:ln/>
          <a:effectLst>
            <a:outerShdw blurRad="76200" dist="25400" dir="8100000" algn="bl" rotWithShape="0">
              <a:srgbClr val="000000">
                <a:alpha val="14000"/>
              </a:srgbClr>
            </a:outerShdw>
          </a:effectLst>
        </p:spPr>
      </p:sp>
      <p:sp>
        <p:nvSpPr>
          <p:cNvPr id="6" name="Shape 4"/>
          <p:cNvSpPr/>
          <p:nvPr/>
        </p:nvSpPr>
        <p:spPr>
          <a:xfrm>
            <a:off x="228600" y="960120"/>
            <a:ext cx="73152" cy="1097280"/>
          </a:xfrm>
          <a:prstGeom prst="rect">
            <a:avLst/>
          </a:prstGeom>
          <a:solidFill>
            <a:srgbClr val="8B2222"/>
          </a:solidFill>
          <a:ln/>
        </p:spPr>
      </p:sp>
      <p:sp>
        <p:nvSpPr>
          <p:cNvPr id="7" name="Text 5"/>
          <p:cNvSpPr/>
          <p:nvPr/>
        </p:nvSpPr>
        <p:spPr>
          <a:xfrm>
            <a:off x="393192" y="1024128"/>
            <a:ext cx="3977640" cy="256032"/>
          </a:xfrm>
          <a:prstGeom prst="rect">
            <a:avLst/>
          </a:prstGeom>
          <a:noFill/>
          <a:ln/>
        </p:spPr>
        <p:txBody>
          <a:bodyPr wrap="square" rtlCol="0" anchor="ctr"/>
          <a:lstStyle/>
          <a:p>
            <a:pPr marL="0" indent="0">
              <a:buNone/>
            </a:pPr>
            <a:r>
              <a:rPr lang="en-US" sz="1200" b="1" dirty="0">
                <a:solidFill>
                  <a:srgbClr val="FFFF00"/>
                </a:solidFill>
                <a:latin typeface="Calibri" pitchFamily="34" charset="0"/>
                <a:ea typeface="Calibri" pitchFamily="34" charset="-122"/>
                <a:cs typeface="Calibri" pitchFamily="34" charset="-120"/>
              </a:rPr>
              <a:t>ElevenLabs / Voice Cloning Platforms</a:t>
            </a:r>
            <a:endParaRPr lang="en-US" sz="1200" dirty="0">
              <a:solidFill>
                <a:srgbClr val="FFFF00"/>
              </a:solidFill>
            </a:endParaRPr>
          </a:p>
        </p:txBody>
      </p:sp>
      <p:sp>
        <p:nvSpPr>
          <p:cNvPr id="8" name="Text 6"/>
          <p:cNvSpPr/>
          <p:nvPr/>
        </p:nvSpPr>
        <p:spPr>
          <a:xfrm>
            <a:off x="393192" y="1280160"/>
            <a:ext cx="3977640" cy="201168"/>
          </a:xfrm>
          <a:prstGeom prst="rect">
            <a:avLst/>
          </a:prstGeom>
          <a:noFill/>
          <a:ln/>
        </p:spPr>
        <p:txBody>
          <a:bodyPr wrap="square" rtlCol="0" anchor="ctr"/>
          <a:lstStyle/>
          <a:p>
            <a:pPr marL="0" indent="0">
              <a:buNone/>
            </a:pPr>
            <a:r>
              <a:rPr lang="en-US" sz="950" i="1" dirty="0">
                <a:solidFill>
                  <a:srgbClr val="8A9BA8"/>
                </a:solidFill>
                <a:latin typeface="Calibri" pitchFamily="34" charset="0"/>
                <a:ea typeface="Calibri" pitchFamily="34" charset="-122"/>
                <a:cs typeface="Calibri" pitchFamily="34" charset="-120"/>
              </a:rPr>
              <a:t>Commercial TTS</a:t>
            </a:r>
            <a:endParaRPr lang="en-US" sz="950" dirty="0"/>
          </a:p>
        </p:txBody>
      </p:sp>
      <p:sp>
        <p:nvSpPr>
          <p:cNvPr id="9" name="Text 7"/>
          <p:cNvSpPr/>
          <p:nvPr/>
        </p:nvSpPr>
        <p:spPr>
          <a:xfrm>
            <a:off x="393192" y="1490472"/>
            <a:ext cx="3977640" cy="512064"/>
          </a:xfrm>
          <a:prstGeom prst="rect">
            <a:avLst/>
          </a:prstGeom>
          <a:noFill/>
          <a:ln/>
        </p:spPr>
        <p:txBody>
          <a:bodyPr wrap="square" rtlCol="0" anchor="ctr"/>
          <a:lstStyle/>
          <a:p>
            <a:pPr marL="0" indent="0">
              <a:buNone/>
            </a:pPr>
            <a:r>
              <a:rPr lang="en-US" sz="950" dirty="0">
                <a:solidFill>
                  <a:srgbClr val="BBCCDD"/>
                </a:solidFill>
                <a:latin typeface="Calibri" pitchFamily="34" charset="0"/>
                <a:ea typeface="Calibri" pitchFamily="34" charset="-122"/>
                <a:cs typeface="Calibri" pitchFamily="34" charset="-120"/>
              </a:rPr>
              <a:t>Clones a Qari's voice from audio samples to generate synthetic Quranic recitation. Used to clone Sheikh Mishary Al-Afasy and Sheikh Abdul Basit without permission. Issue: rights violation + no human reciting.</a:t>
            </a:r>
            <a:endParaRPr lang="en-US" sz="950" dirty="0"/>
          </a:p>
        </p:txBody>
      </p:sp>
      <p:sp>
        <p:nvSpPr>
          <p:cNvPr id="10" name="Shape 8"/>
          <p:cNvSpPr/>
          <p:nvPr/>
        </p:nvSpPr>
        <p:spPr>
          <a:xfrm>
            <a:off x="228600" y="2194560"/>
            <a:ext cx="4251960" cy="1097280"/>
          </a:xfrm>
          <a:prstGeom prst="rect">
            <a:avLst/>
          </a:prstGeom>
          <a:solidFill>
            <a:srgbClr val="0D2137"/>
          </a:solidFill>
          <a:ln/>
          <a:effectLst>
            <a:outerShdw blurRad="76200" dist="25400" dir="8100000" algn="bl" rotWithShape="0">
              <a:srgbClr val="000000">
                <a:alpha val="14000"/>
              </a:srgbClr>
            </a:outerShdw>
          </a:effectLst>
        </p:spPr>
      </p:sp>
      <p:sp>
        <p:nvSpPr>
          <p:cNvPr id="11" name="Shape 9"/>
          <p:cNvSpPr/>
          <p:nvPr/>
        </p:nvSpPr>
        <p:spPr>
          <a:xfrm>
            <a:off x="228600" y="2194560"/>
            <a:ext cx="73152" cy="1097280"/>
          </a:xfrm>
          <a:prstGeom prst="rect">
            <a:avLst/>
          </a:prstGeom>
          <a:solidFill>
            <a:srgbClr val="C4622D"/>
          </a:solidFill>
          <a:ln/>
        </p:spPr>
      </p:sp>
      <p:sp>
        <p:nvSpPr>
          <p:cNvPr id="12" name="Text 10"/>
          <p:cNvSpPr/>
          <p:nvPr/>
        </p:nvSpPr>
        <p:spPr>
          <a:xfrm>
            <a:off x="393192" y="2258568"/>
            <a:ext cx="3977640" cy="256032"/>
          </a:xfrm>
          <a:prstGeom prst="rect">
            <a:avLst/>
          </a:prstGeom>
          <a:noFill/>
          <a:ln/>
        </p:spPr>
        <p:txBody>
          <a:bodyPr wrap="square" rtlCol="0" anchor="ctr"/>
          <a:lstStyle/>
          <a:p>
            <a:pPr marL="0" indent="0">
              <a:buNone/>
            </a:pPr>
            <a:r>
              <a:rPr lang="en-US" sz="1200" b="1" dirty="0">
                <a:solidFill>
                  <a:srgbClr val="FFFF00"/>
                </a:solidFill>
                <a:latin typeface="Calibri" pitchFamily="34" charset="0"/>
                <a:ea typeface="Calibri" pitchFamily="34" charset="-122"/>
                <a:cs typeface="Calibri" pitchFamily="34" charset="-120"/>
              </a:rPr>
              <a:t>Murattal AI / Quran TTS Apps</a:t>
            </a:r>
            <a:endParaRPr lang="en-US" sz="1200" dirty="0">
              <a:solidFill>
                <a:srgbClr val="FFFF00"/>
              </a:solidFill>
            </a:endParaRPr>
          </a:p>
        </p:txBody>
      </p:sp>
      <p:sp>
        <p:nvSpPr>
          <p:cNvPr id="13" name="Text 11"/>
          <p:cNvSpPr/>
          <p:nvPr/>
        </p:nvSpPr>
        <p:spPr>
          <a:xfrm>
            <a:off x="393192" y="2514600"/>
            <a:ext cx="3977640" cy="201168"/>
          </a:xfrm>
          <a:prstGeom prst="rect">
            <a:avLst/>
          </a:prstGeom>
          <a:noFill/>
          <a:ln/>
        </p:spPr>
        <p:txBody>
          <a:bodyPr wrap="square" rtlCol="0" anchor="ctr"/>
          <a:lstStyle/>
          <a:p>
            <a:pPr marL="0" indent="0">
              <a:buNone/>
            </a:pPr>
            <a:r>
              <a:rPr lang="en-US" sz="950" i="1" dirty="0">
                <a:solidFill>
                  <a:srgbClr val="8A9BA8"/>
                </a:solidFill>
                <a:latin typeface="Calibri" pitchFamily="34" charset="0"/>
                <a:ea typeface="Calibri" pitchFamily="34" charset="-122"/>
                <a:cs typeface="Calibri" pitchFamily="34" charset="-120"/>
              </a:rPr>
              <a:t>Islamic-Specific</a:t>
            </a:r>
            <a:endParaRPr lang="en-US" sz="950" dirty="0"/>
          </a:p>
        </p:txBody>
      </p:sp>
      <p:sp>
        <p:nvSpPr>
          <p:cNvPr id="14" name="Text 12"/>
          <p:cNvSpPr/>
          <p:nvPr/>
        </p:nvSpPr>
        <p:spPr>
          <a:xfrm>
            <a:off x="393192" y="2724912"/>
            <a:ext cx="3977640" cy="512064"/>
          </a:xfrm>
          <a:prstGeom prst="rect">
            <a:avLst/>
          </a:prstGeom>
          <a:noFill/>
          <a:ln/>
        </p:spPr>
        <p:txBody>
          <a:bodyPr wrap="square" rtlCol="0" anchor="ctr"/>
          <a:lstStyle/>
          <a:p>
            <a:pPr marL="0" indent="0">
              <a:buNone/>
            </a:pPr>
            <a:r>
              <a:rPr lang="en-US" sz="950" dirty="0">
                <a:solidFill>
                  <a:srgbClr val="BBCCDD"/>
                </a:solidFill>
                <a:latin typeface="Calibri" pitchFamily="34" charset="0"/>
                <a:ea typeface="Calibri" pitchFamily="34" charset="-122"/>
                <a:cs typeface="Calibri" pitchFamily="34" charset="-120"/>
              </a:rPr>
              <a:t>Dedicated Islamic apps that train models on Qari datasets to produce complete Quranic surahs. No Qari is present during output. Marketed for accessibility and learning.</a:t>
            </a:r>
            <a:endParaRPr lang="en-US" sz="950" dirty="0"/>
          </a:p>
        </p:txBody>
      </p:sp>
      <p:sp>
        <p:nvSpPr>
          <p:cNvPr id="15" name="Shape 13"/>
          <p:cNvSpPr/>
          <p:nvPr/>
        </p:nvSpPr>
        <p:spPr>
          <a:xfrm>
            <a:off x="4709160" y="960120"/>
            <a:ext cx="4251960" cy="1097280"/>
          </a:xfrm>
          <a:prstGeom prst="rect">
            <a:avLst/>
          </a:prstGeom>
          <a:solidFill>
            <a:srgbClr val="0D2137"/>
          </a:solidFill>
          <a:ln/>
          <a:effectLst>
            <a:outerShdw blurRad="76200" dist="25400" dir="8100000" algn="bl" rotWithShape="0">
              <a:srgbClr val="000000">
                <a:alpha val="14000"/>
              </a:srgbClr>
            </a:outerShdw>
          </a:effectLst>
        </p:spPr>
        <p:txBody>
          <a:bodyPr/>
          <a:lstStyle/>
          <a:p>
            <a:endParaRPr lang="en-US" dirty="0"/>
          </a:p>
        </p:txBody>
      </p:sp>
      <p:sp>
        <p:nvSpPr>
          <p:cNvPr id="16" name="Shape 14"/>
          <p:cNvSpPr/>
          <p:nvPr/>
        </p:nvSpPr>
        <p:spPr>
          <a:xfrm>
            <a:off x="4709160" y="960120"/>
            <a:ext cx="73152" cy="1097280"/>
          </a:xfrm>
          <a:prstGeom prst="rect">
            <a:avLst/>
          </a:prstGeom>
          <a:solidFill>
            <a:srgbClr val="B8760C"/>
          </a:solidFill>
          <a:ln/>
        </p:spPr>
      </p:sp>
      <p:sp>
        <p:nvSpPr>
          <p:cNvPr id="17" name="Text 15"/>
          <p:cNvSpPr/>
          <p:nvPr/>
        </p:nvSpPr>
        <p:spPr>
          <a:xfrm>
            <a:off x="4873752" y="1024128"/>
            <a:ext cx="3977640" cy="256032"/>
          </a:xfrm>
          <a:prstGeom prst="rect">
            <a:avLst/>
          </a:prstGeom>
          <a:noFill/>
          <a:ln/>
        </p:spPr>
        <p:txBody>
          <a:bodyPr wrap="square" rtlCol="0" anchor="ctr"/>
          <a:lstStyle/>
          <a:p>
            <a:pPr marL="0" indent="0">
              <a:buNone/>
            </a:pPr>
            <a:r>
              <a:rPr lang="en-US" sz="1200" b="1" dirty="0">
                <a:solidFill>
                  <a:srgbClr val="FFFF00"/>
                </a:solidFill>
                <a:latin typeface="Calibri" pitchFamily="34" charset="0"/>
                <a:ea typeface="Calibri" pitchFamily="34" charset="-122"/>
                <a:cs typeface="Calibri" pitchFamily="34" charset="-120"/>
              </a:rPr>
              <a:t>Speechify Arabic TTS</a:t>
            </a:r>
            <a:endParaRPr lang="en-US" sz="1200" dirty="0">
              <a:solidFill>
                <a:srgbClr val="FFFF00"/>
              </a:solidFill>
            </a:endParaRPr>
          </a:p>
        </p:txBody>
      </p:sp>
      <p:sp>
        <p:nvSpPr>
          <p:cNvPr id="18" name="Text 16"/>
          <p:cNvSpPr/>
          <p:nvPr/>
        </p:nvSpPr>
        <p:spPr>
          <a:xfrm>
            <a:off x="4873752" y="1280160"/>
            <a:ext cx="3977640" cy="201168"/>
          </a:xfrm>
          <a:prstGeom prst="rect">
            <a:avLst/>
          </a:prstGeom>
          <a:noFill/>
          <a:ln/>
        </p:spPr>
        <p:txBody>
          <a:bodyPr wrap="square" rtlCol="0" anchor="ctr"/>
          <a:lstStyle/>
          <a:p>
            <a:pPr marL="0" indent="0">
              <a:buNone/>
            </a:pPr>
            <a:r>
              <a:rPr lang="en-US" sz="950" i="1" dirty="0">
                <a:solidFill>
                  <a:srgbClr val="8A9BA8"/>
                </a:solidFill>
                <a:latin typeface="Calibri" pitchFamily="34" charset="0"/>
                <a:ea typeface="Calibri" pitchFamily="34" charset="-122"/>
                <a:cs typeface="Calibri" pitchFamily="34" charset="-120"/>
              </a:rPr>
              <a:t>Accessibility Tool</a:t>
            </a:r>
            <a:endParaRPr lang="en-US" sz="950" dirty="0"/>
          </a:p>
        </p:txBody>
      </p:sp>
      <p:sp>
        <p:nvSpPr>
          <p:cNvPr id="19" name="Text 17"/>
          <p:cNvSpPr/>
          <p:nvPr/>
        </p:nvSpPr>
        <p:spPr>
          <a:xfrm>
            <a:off x="4873752" y="1490472"/>
            <a:ext cx="3977640" cy="512064"/>
          </a:xfrm>
          <a:prstGeom prst="rect">
            <a:avLst/>
          </a:prstGeom>
          <a:noFill/>
          <a:ln/>
        </p:spPr>
        <p:txBody>
          <a:bodyPr wrap="square" rtlCol="0" anchor="ctr"/>
          <a:lstStyle/>
          <a:p>
            <a:pPr marL="0" indent="0">
              <a:buNone/>
            </a:pPr>
            <a:r>
              <a:rPr lang="en-US" sz="950" dirty="0">
                <a:solidFill>
                  <a:srgbClr val="BBCCDD"/>
                </a:solidFill>
                <a:latin typeface="Calibri" pitchFamily="34" charset="0"/>
                <a:ea typeface="Calibri" pitchFamily="34" charset="-122"/>
                <a:cs typeface="Calibri" pitchFamily="34" charset="-120"/>
              </a:rPr>
              <a:t>General Arabic text-to-speech repurposed for Quranic text. Widely used in apps. No acoustic model trained on Tajweed — high distortion risk.</a:t>
            </a:r>
            <a:endParaRPr lang="en-US" sz="950" dirty="0"/>
          </a:p>
        </p:txBody>
      </p:sp>
      <p:sp>
        <p:nvSpPr>
          <p:cNvPr id="20" name="Shape 18"/>
          <p:cNvSpPr/>
          <p:nvPr/>
        </p:nvSpPr>
        <p:spPr>
          <a:xfrm>
            <a:off x="4709160" y="2194560"/>
            <a:ext cx="4251960" cy="1097280"/>
          </a:xfrm>
          <a:prstGeom prst="rect">
            <a:avLst/>
          </a:prstGeom>
          <a:solidFill>
            <a:srgbClr val="0D2137"/>
          </a:solidFill>
          <a:ln/>
          <a:effectLst>
            <a:outerShdw blurRad="76200" dist="25400" dir="8100000" algn="bl" rotWithShape="0">
              <a:srgbClr val="000000">
                <a:alpha val="14000"/>
              </a:srgbClr>
            </a:outerShdw>
          </a:effectLst>
        </p:spPr>
      </p:sp>
      <p:sp>
        <p:nvSpPr>
          <p:cNvPr id="21" name="Shape 19"/>
          <p:cNvSpPr/>
          <p:nvPr/>
        </p:nvSpPr>
        <p:spPr>
          <a:xfrm>
            <a:off x="4709160" y="2194560"/>
            <a:ext cx="73152" cy="1097280"/>
          </a:xfrm>
          <a:prstGeom prst="rect">
            <a:avLst/>
          </a:prstGeom>
          <a:solidFill>
            <a:srgbClr val="2D9B6A"/>
          </a:solidFill>
          <a:ln/>
        </p:spPr>
      </p:sp>
      <p:sp>
        <p:nvSpPr>
          <p:cNvPr id="22" name="Text 20"/>
          <p:cNvSpPr/>
          <p:nvPr/>
        </p:nvSpPr>
        <p:spPr>
          <a:xfrm>
            <a:off x="4873752" y="2258568"/>
            <a:ext cx="3977640" cy="256032"/>
          </a:xfrm>
          <a:prstGeom prst="rect">
            <a:avLst/>
          </a:prstGeom>
          <a:noFill/>
          <a:ln/>
        </p:spPr>
        <p:txBody>
          <a:bodyPr wrap="square" rtlCol="0" anchor="ctr"/>
          <a:lstStyle/>
          <a:p>
            <a:pPr marL="0" indent="0">
              <a:buNone/>
            </a:pPr>
            <a:r>
              <a:rPr lang="en-US" sz="1200" b="1" dirty="0">
                <a:solidFill>
                  <a:srgbClr val="FFFF00"/>
                </a:solidFill>
                <a:latin typeface="Calibri" pitchFamily="34" charset="0"/>
                <a:ea typeface="Calibri" pitchFamily="34" charset="-122"/>
                <a:cs typeface="Calibri" pitchFamily="34" charset="-120"/>
              </a:rPr>
              <a:t>Tarteel AI / TajweedMate</a:t>
            </a:r>
            <a:endParaRPr lang="en-US" sz="1200" dirty="0">
              <a:solidFill>
                <a:srgbClr val="FFFF00"/>
              </a:solidFill>
            </a:endParaRPr>
          </a:p>
        </p:txBody>
      </p:sp>
      <p:sp>
        <p:nvSpPr>
          <p:cNvPr id="23" name="Text 21"/>
          <p:cNvSpPr/>
          <p:nvPr/>
        </p:nvSpPr>
        <p:spPr>
          <a:xfrm>
            <a:off x="4873752" y="2514600"/>
            <a:ext cx="3977640" cy="201168"/>
          </a:xfrm>
          <a:prstGeom prst="rect">
            <a:avLst/>
          </a:prstGeom>
          <a:noFill/>
          <a:ln/>
        </p:spPr>
        <p:txBody>
          <a:bodyPr wrap="square" rtlCol="0" anchor="ctr"/>
          <a:lstStyle/>
          <a:p>
            <a:pPr marL="0" indent="0">
              <a:buNone/>
            </a:pPr>
            <a:r>
              <a:rPr lang="en-US" sz="950" i="1" dirty="0">
                <a:solidFill>
                  <a:srgbClr val="8A9BA8"/>
                </a:solidFill>
                <a:latin typeface="Calibri" pitchFamily="34" charset="0"/>
                <a:ea typeface="Calibri" pitchFamily="34" charset="-122"/>
                <a:cs typeface="Calibri" pitchFamily="34" charset="-120"/>
              </a:rPr>
              <a:t>Evaluation Tools</a:t>
            </a:r>
            <a:endParaRPr lang="en-US" sz="950" dirty="0"/>
          </a:p>
        </p:txBody>
      </p:sp>
      <p:sp>
        <p:nvSpPr>
          <p:cNvPr id="24" name="Text 22"/>
          <p:cNvSpPr/>
          <p:nvPr/>
        </p:nvSpPr>
        <p:spPr>
          <a:xfrm>
            <a:off x="4873752" y="2724912"/>
            <a:ext cx="3977640" cy="512064"/>
          </a:xfrm>
          <a:prstGeom prst="rect">
            <a:avLst/>
          </a:prstGeom>
          <a:noFill/>
          <a:ln/>
        </p:spPr>
        <p:txBody>
          <a:bodyPr wrap="square" rtlCol="0" anchor="ctr"/>
          <a:lstStyle/>
          <a:p>
            <a:pPr marL="0" indent="0">
              <a:buNone/>
            </a:pPr>
            <a:r>
              <a:rPr lang="en-US" sz="950" dirty="0">
                <a:solidFill>
                  <a:srgbClr val="BBCCDD"/>
                </a:solidFill>
                <a:latin typeface="Calibri" pitchFamily="34" charset="0"/>
                <a:ea typeface="Calibri" pitchFamily="34" charset="-122"/>
                <a:cs typeface="Calibri" pitchFamily="34" charset="-120"/>
              </a:rPr>
              <a:t>The human recites; AI listens and grades. Human act of worship is preserved. Secondary jurisprudential concern — different ruling applies </a:t>
            </a:r>
            <a:endParaRPr lang="en-US" sz="950" dirty="0"/>
          </a:p>
        </p:txBody>
      </p:sp>
      <p:sp>
        <p:nvSpPr>
          <p:cNvPr id="25" name="Shape 23"/>
          <p:cNvSpPr/>
          <p:nvPr/>
        </p:nvSpPr>
        <p:spPr>
          <a:xfrm>
            <a:off x="228600" y="3401568"/>
            <a:ext cx="8686800" cy="1508760"/>
          </a:xfrm>
          <a:prstGeom prst="rect">
            <a:avLst/>
          </a:prstGeom>
          <a:solidFill>
            <a:srgbClr val="1A4731"/>
          </a:solidFill>
          <a:ln/>
        </p:spPr>
      </p:sp>
      <p:pic>
        <p:nvPicPr>
          <p:cNvPr id="26" name="Image 0" descr="preencoded.png"/>
          <p:cNvPicPr>
            <a:picLocks noChangeAspect="1"/>
          </p:cNvPicPr>
          <p:nvPr/>
        </p:nvPicPr>
        <p:blipFill>
          <a:blip r:embed="rId3"/>
          <a:stretch>
            <a:fillRect/>
          </a:stretch>
        </p:blipFill>
        <p:spPr>
          <a:xfrm>
            <a:off x="384048" y="3566160"/>
            <a:ext cx="502920" cy="502920"/>
          </a:xfrm>
          <a:prstGeom prst="rect">
            <a:avLst/>
          </a:prstGeom>
        </p:spPr>
      </p:pic>
      <p:sp>
        <p:nvSpPr>
          <p:cNvPr id="27" name="Text 24"/>
          <p:cNvSpPr/>
          <p:nvPr/>
        </p:nvSpPr>
        <p:spPr>
          <a:xfrm>
            <a:off x="1005840" y="3493008"/>
            <a:ext cx="7680960" cy="292608"/>
          </a:xfrm>
          <a:prstGeom prst="rect">
            <a:avLst/>
          </a:prstGeom>
          <a:noFill/>
          <a:ln/>
        </p:spPr>
        <p:txBody>
          <a:bodyPr wrap="square" rtlCol="0" anchor="ctr"/>
          <a:lstStyle/>
          <a:p>
            <a:pPr marL="0" indent="0">
              <a:buNone/>
            </a:pPr>
            <a:r>
              <a:rPr lang="en-US" sz="1150" b="1" dirty="0">
                <a:solidFill>
                  <a:srgbClr val="E8C97A"/>
                </a:solidFill>
                <a:latin typeface="Calibri" pitchFamily="34" charset="0"/>
                <a:ea typeface="Calibri" pitchFamily="34" charset="-122"/>
                <a:cs typeface="Calibri" pitchFamily="34" charset="-120"/>
              </a:rPr>
              <a:t>How AI Voice Synthesis Works:</a:t>
            </a:r>
            <a:endParaRPr lang="en-US" sz="1150" dirty="0"/>
          </a:p>
        </p:txBody>
      </p:sp>
      <p:sp>
        <p:nvSpPr>
          <p:cNvPr id="28" name="Text 25"/>
          <p:cNvSpPr/>
          <p:nvPr/>
        </p:nvSpPr>
        <p:spPr>
          <a:xfrm>
            <a:off x="1005840" y="3785616"/>
            <a:ext cx="7680960" cy="1005840"/>
          </a:xfrm>
          <a:prstGeom prst="rect">
            <a:avLst/>
          </a:prstGeom>
          <a:noFill/>
          <a:ln/>
        </p:spPr>
        <p:txBody>
          <a:bodyPr wrap="square" rtlCol="0" anchor="ctr"/>
          <a:lstStyle/>
          <a:p>
            <a:pPr marL="0" indent="0">
              <a:buNone/>
            </a:pPr>
            <a:r>
              <a:rPr lang="en-US" sz="1000" dirty="0">
                <a:solidFill>
                  <a:srgbClr val="DDEECC"/>
                </a:solidFill>
                <a:latin typeface="Calibri" pitchFamily="34" charset="0"/>
                <a:ea typeface="Calibri" pitchFamily="34" charset="-122"/>
                <a:cs typeface="Calibri" pitchFamily="34" charset="-120"/>
              </a:rPr>
              <a:t>(1) Ingest thousands of hours of Qari recordings  →  (2) Train a neural network on phoneme patterns, prosody, and cadence  →  (3) At inference, generate audio by sampling from statistical distributions given text input. Output is mathematical interpolation — not a recording of any real person. No human intention, breath, or consciousness is present. Sound is produced by matrix multiplication, not by a worshipping human being.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A4731"/>
          </a:solidFill>
          <a:ln/>
        </p:spPr>
      </p:sp>
      <p:sp>
        <p:nvSpPr>
          <p:cNvPr id="3" name="Shape 1"/>
          <p:cNvSpPr/>
          <p:nvPr/>
        </p:nvSpPr>
        <p:spPr>
          <a:xfrm>
            <a:off x="0" y="804672"/>
            <a:ext cx="9144000" cy="54864"/>
          </a:xfrm>
          <a:prstGeom prst="rect">
            <a:avLst/>
          </a:prstGeom>
          <a:solidFill>
            <a:srgbClr val="C9A84C"/>
          </a:solidFill>
          <a:ln/>
        </p:spPr>
      </p:sp>
      <p:sp>
        <p:nvSpPr>
          <p:cNvPr id="4" name="Text 2"/>
          <p:cNvSpPr/>
          <p:nvPr/>
        </p:nvSpPr>
        <p:spPr>
          <a:xfrm>
            <a:off x="320040" y="91440"/>
            <a:ext cx="8503920" cy="621792"/>
          </a:xfrm>
          <a:prstGeom prst="rect">
            <a:avLst/>
          </a:prstGeom>
          <a:noFill/>
          <a:ln/>
        </p:spPr>
        <p:txBody>
          <a:bodyPr wrap="square"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Research Papers: Technical Evidence</a:t>
            </a:r>
            <a:endParaRPr lang="en-US" sz="2700" dirty="0"/>
          </a:p>
        </p:txBody>
      </p:sp>
      <p:sp>
        <p:nvSpPr>
          <p:cNvPr id="5" name="Text 3"/>
          <p:cNvSpPr/>
          <p:nvPr/>
        </p:nvSpPr>
        <p:spPr>
          <a:xfrm>
            <a:off x="320040" y="850392"/>
            <a:ext cx="8503920" cy="228600"/>
          </a:xfrm>
          <a:prstGeom prst="rect">
            <a:avLst/>
          </a:prstGeom>
          <a:noFill/>
          <a:ln/>
        </p:spPr>
        <p:txBody>
          <a:bodyPr wrap="square" rtlCol="0" anchor="ctr"/>
          <a:lstStyle/>
          <a:p>
            <a:pPr marL="0" indent="0">
              <a:buNone/>
            </a:pPr>
            <a:r>
              <a:rPr lang="en-US" sz="1050" i="1" dirty="0">
                <a:solidFill>
                  <a:srgbClr val="E8C97A"/>
                </a:solidFill>
                <a:latin typeface="Calibri" pitchFamily="34" charset="0"/>
                <a:ea typeface="Calibri" pitchFamily="34" charset="-122"/>
                <a:cs typeface="Calibri" pitchFamily="34" charset="-120"/>
              </a:rPr>
              <a:t>How peer-reviewed studies document what AI voice tools actually do — and where they fail theologically</a:t>
            </a:r>
            <a:endParaRPr lang="en-US" sz="1050" dirty="0"/>
          </a:p>
        </p:txBody>
      </p:sp>
      <p:sp>
        <p:nvSpPr>
          <p:cNvPr id="6" name="Shape 4"/>
          <p:cNvSpPr/>
          <p:nvPr/>
        </p:nvSpPr>
        <p:spPr>
          <a:xfrm>
            <a:off x="228600" y="1133856"/>
            <a:ext cx="8686800" cy="1133856"/>
          </a:xfrm>
          <a:prstGeom prst="rect">
            <a:avLst/>
          </a:prstGeom>
          <a:solidFill>
            <a:srgbClr val="0D2137"/>
          </a:solidFill>
          <a:ln/>
          <a:effectLst>
            <a:outerShdw blurRad="76200" dist="25400" dir="8100000" algn="bl" rotWithShape="0">
              <a:srgbClr val="000000">
                <a:alpha val="14000"/>
              </a:srgbClr>
            </a:outerShdw>
          </a:effectLst>
        </p:spPr>
      </p:sp>
      <p:sp>
        <p:nvSpPr>
          <p:cNvPr id="7" name="Shape 5"/>
          <p:cNvSpPr/>
          <p:nvPr/>
        </p:nvSpPr>
        <p:spPr>
          <a:xfrm>
            <a:off x="228600" y="1133856"/>
            <a:ext cx="502920" cy="1133856"/>
          </a:xfrm>
          <a:prstGeom prst="rect">
            <a:avLst/>
          </a:prstGeom>
          <a:solidFill>
            <a:srgbClr val="C9A84C"/>
          </a:solidFill>
          <a:ln/>
        </p:spPr>
      </p:sp>
      <p:sp>
        <p:nvSpPr>
          <p:cNvPr id="8" name="Text 6"/>
          <p:cNvSpPr/>
          <p:nvPr/>
        </p:nvSpPr>
        <p:spPr>
          <a:xfrm>
            <a:off x="228600" y="1499616"/>
            <a:ext cx="502920" cy="365760"/>
          </a:xfrm>
          <a:prstGeom prst="rect">
            <a:avLst/>
          </a:prstGeom>
          <a:noFill/>
          <a:ln/>
        </p:spPr>
        <p:txBody>
          <a:bodyPr wrap="square" rtlCol="0" anchor="ctr"/>
          <a:lstStyle/>
          <a:p>
            <a:pPr marL="0" indent="0" algn="ctr">
              <a:buNone/>
            </a:pPr>
            <a:r>
              <a:rPr lang="en-US" sz="1600" b="1" dirty="0">
                <a:solidFill>
                  <a:srgbClr val="0A1628"/>
                </a:solidFill>
                <a:latin typeface="Georgia" pitchFamily="34" charset="0"/>
                <a:ea typeface="Georgia" pitchFamily="34" charset="-122"/>
                <a:cs typeface="Georgia" pitchFamily="34" charset="-120"/>
              </a:rPr>
              <a:t>01</a:t>
            </a:r>
            <a:endParaRPr lang="en-US" sz="1600" dirty="0"/>
          </a:p>
        </p:txBody>
      </p:sp>
      <p:sp>
        <p:nvSpPr>
          <p:cNvPr id="9" name="Text 7"/>
          <p:cNvSpPr/>
          <p:nvPr/>
        </p:nvSpPr>
        <p:spPr>
          <a:xfrm>
            <a:off x="822960" y="1179576"/>
            <a:ext cx="7909560" cy="237744"/>
          </a:xfrm>
          <a:prstGeom prst="rect">
            <a:avLst/>
          </a:prstGeom>
          <a:noFill/>
          <a:ln/>
        </p:spPr>
        <p:txBody>
          <a:bodyPr wrap="square" rtlCol="0" anchor="ctr"/>
          <a:lstStyle/>
          <a:p>
            <a:pPr marL="0" indent="0">
              <a:buNone/>
            </a:pPr>
            <a:r>
              <a:rPr lang="en-US" sz="1000" b="1" dirty="0">
                <a:solidFill>
                  <a:srgbClr val="FFFF00"/>
                </a:solidFill>
                <a:latin typeface="Calibri" pitchFamily="34" charset="0"/>
                <a:ea typeface="Calibri" pitchFamily="34" charset="-122"/>
                <a:cs typeface="Calibri" pitchFamily="34" charset="-120"/>
              </a:rPr>
              <a:t>Alrumiah &amp; Al-Shargabi (2023)  ·  Arabian Journal for Science and Engineering — Springer Nature</a:t>
            </a:r>
            <a:endParaRPr lang="en-US" sz="1000" dirty="0">
              <a:solidFill>
                <a:srgbClr val="FFFF00"/>
              </a:solidFill>
            </a:endParaRPr>
          </a:p>
        </p:txBody>
      </p:sp>
      <p:sp>
        <p:nvSpPr>
          <p:cNvPr id="10" name="Text 8"/>
          <p:cNvSpPr/>
          <p:nvPr/>
        </p:nvSpPr>
        <p:spPr>
          <a:xfrm>
            <a:off x="822960" y="1408176"/>
            <a:ext cx="7909560" cy="201168"/>
          </a:xfrm>
          <a:prstGeom prst="rect">
            <a:avLst/>
          </a:prstGeom>
          <a:noFill/>
          <a:ln/>
        </p:spPr>
        <p:txBody>
          <a:bodyPr wrap="square" rtlCol="0" anchor="ctr"/>
          <a:lstStyle/>
          <a:p>
            <a:pPr marL="0" indent="0">
              <a:buNone/>
            </a:pPr>
            <a:r>
              <a:rPr lang="en-US" sz="850" i="1" dirty="0">
                <a:solidFill>
                  <a:srgbClr val="8A9BA8"/>
                </a:solidFill>
                <a:latin typeface="Calibri" pitchFamily="34" charset="0"/>
                <a:ea typeface="Calibri" pitchFamily="34" charset="-122"/>
                <a:cs typeface="Calibri" pitchFamily="34" charset="-120"/>
              </a:rPr>
              <a:t>Intelligent Quran Recitation Recognition and Verification: Research Trends and Open Issues</a:t>
            </a:r>
            <a:endParaRPr lang="en-US" sz="850" dirty="0"/>
          </a:p>
        </p:txBody>
      </p:sp>
      <p:sp>
        <p:nvSpPr>
          <p:cNvPr id="11" name="Text 9"/>
          <p:cNvSpPr/>
          <p:nvPr/>
        </p:nvSpPr>
        <p:spPr>
          <a:xfrm>
            <a:off x="822960" y="1618488"/>
            <a:ext cx="7909560" cy="329184"/>
          </a:xfrm>
          <a:prstGeom prst="rect">
            <a:avLst/>
          </a:prstGeom>
          <a:noFill/>
          <a:ln/>
        </p:spPr>
        <p:txBody>
          <a:bodyPr wrap="square" rtlCol="0" anchor="ctr"/>
          <a:lstStyle/>
          <a:p>
            <a:pPr marL="0" indent="0">
              <a:buNone/>
            </a:pPr>
            <a:r>
              <a:rPr lang="en-US" sz="900" dirty="0">
                <a:solidFill>
                  <a:srgbClr val="BBCCDD"/>
                </a:solidFill>
                <a:latin typeface="Calibri" pitchFamily="34" charset="0"/>
                <a:ea typeface="Calibri" pitchFamily="34" charset="-122"/>
                <a:cs typeface="Calibri" pitchFamily="34" charset="-120"/>
              </a:rPr>
              <a:t>Key Finding: Most comprehensive systematic review (2006–2022). AI accuracy degrades severely under real-world conditions. Diacritics (harakat) error detection and verse-sequence errors remain UNSOLVED open problems.</a:t>
            </a:r>
            <a:endParaRPr lang="en-US" sz="900" dirty="0"/>
          </a:p>
        </p:txBody>
      </p:sp>
      <p:sp>
        <p:nvSpPr>
          <p:cNvPr id="12" name="Text 10"/>
          <p:cNvSpPr/>
          <p:nvPr/>
        </p:nvSpPr>
        <p:spPr>
          <a:xfrm>
            <a:off x="822960" y="1965960"/>
            <a:ext cx="7909560" cy="237744"/>
          </a:xfrm>
          <a:prstGeom prst="rect">
            <a:avLst/>
          </a:prstGeom>
          <a:noFill/>
          <a:ln/>
        </p:spPr>
        <p:txBody>
          <a:bodyPr wrap="square" rtlCol="0" anchor="ctr"/>
          <a:lstStyle/>
          <a:p>
            <a:pPr marL="0" indent="0">
              <a:buNone/>
            </a:pPr>
            <a:r>
              <a:rPr lang="en-US" sz="850" b="1" dirty="0">
                <a:solidFill>
                  <a:srgbClr val="FFFF00"/>
                </a:solidFill>
                <a:latin typeface="Calibri" pitchFamily="34" charset="0"/>
                <a:ea typeface="Calibri" pitchFamily="34" charset="-122"/>
                <a:cs typeface="Calibri" pitchFamily="34" charset="-120"/>
              </a:rPr>
              <a:t>Islamic Link: These unsolved errors directly cause Tahreef al-Ma'na. A system that cannot reliably read harakat cannot preserve the Words of Allah.</a:t>
            </a:r>
            <a:endParaRPr lang="en-US" sz="850" dirty="0">
              <a:solidFill>
                <a:srgbClr val="FFFF00"/>
              </a:solidFill>
            </a:endParaRPr>
          </a:p>
        </p:txBody>
      </p:sp>
      <p:sp>
        <p:nvSpPr>
          <p:cNvPr id="13" name="Shape 11"/>
          <p:cNvSpPr/>
          <p:nvPr/>
        </p:nvSpPr>
        <p:spPr>
          <a:xfrm>
            <a:off x="228600" y="2386584"/>
            <a:ext cx="8686800" cy="1133856"/>
          </a:xfrm>
          <a:prstGeom prst="rect">
            <a:avLst/>
          </a:prstGeom>
          <a:solidFill>
            <a:srgbClr val="0D2137"/>
          </a:solidFill>
          <a:ln/>
          <a:effectLst>
            <a:outerShdw blurRad="76200" dist="25400" dir="8100000" algn="bl" rotWithShape="0">
              <a:srgbClr val="000000">
                <a:alpha val="14000"/>
              </a:srgbClr>
            </a:outerShdw>
          </a:effectLst>
        </p:spPr>
      </p:sp>
      <p:sp>
        <p:nvSpPr>
          <p:cNvPr id="14" name="Shape 12"/>
          <p:cNvSpPr/>
          <p:nvPr/>
        </p:nvSpPr>
        <p:spPr>
          <a:xfrm>
            <a:off x="228600" y="2386584"/>
            <a:ext cx="502920" cy="1133856"/>
          </a:xfrm>
          <a:prstGeom prst="rect">
            <a:avLst/>
          </a:prstGeom>
          <a:solidFill>
            <a:srgbClr val="C4622D"/>
          </a:solidFill>
          <a:ln/>
        </p:spPr>
      </p:sp>
      <p:sp>
        <p:nvSpPr>
          <p:cNvPr id="15" name="Text 13"/>
          <p:cNvSpPr/>
          <p:nvPr/>
        </p:nvSpPr>
        <p:spPr>
          <a:xfrm>
            <a:off x="228600" y="2752344"/>
            <a:ext cx="502920" cy="365760"/>
          </a:xfrm>
          <a:prstGeom prst="rect">
            <a:avLst/>
          </a:prstGeom>
          <a:noFill/>
          <a:ln/>
        </p:spPr>
        <p:txBody>
          <a:bodyPr wrap="square" rtlCol="0" anchor="ctr"/>
          <a:lstStyle/>
          <a:p>
            <a:pPr marL="0" indent="0" algn="ctr">
              <a:buNone/>
            </a:pPr>
            <a:r>
              <a:rPr lang="en-US" sz="1600" b="1" dirty="0">
                <a:solidFill>
                  <a:srgbClr val="0A1628"/>
                </a:solidFill>
                <a:latin typeface="Georgia" pitchFamily="34" charset="0"/>
                <a:ea typeface="Georgia" pitchFamily="34" charset="-122"/>
                <a:cs typeface="Georgia" pitchFamily="34" charset="-120"/>
              </a:rPr>
              <a:t>02</a:t>
            </a:r>
            <a:endParaRPr lang="en-US" sz="1600" dirty="0"/>
          </a:p>
        </p:txBody>
      </p:sp>
      <p:sp>
        <p:nvSpPr>
          <p:cNvPr id="16" name="Text 14"/>
          <p:cNvSpPr/>
          <p:nvPr/>
        </p:nvSpPr>
        <p:spPr>
          <a:xfrm>
            <a:off x="822960" y="2432304"/>
            <a:ext cx="7909560" cy="237744"/>
          </a:xfrm>
          <a:prstGeom prst="rect">
            <a:avLst/>
          </a:prstGeom>
          <a:noFill/>
          <a:ln/>
        </p:spPr>
        <p:txBody>
          <a:bodyPr wrap="square" rtlCol="0" anchor="ctr"/>
          <a:lstStyle/>
          <a:p>
            <a:pPr marL="0" indent="0">
              <a:buNone/>
            </a:pPr>
            <a:r>
              <a:rPr lang="en-US" sz="1000" b="1" dirty="0">
                <a:solidFill>
                  <a:srgbClr val="FFFF00"/>
                </a:solidFill>
                <a:latin typeface="Calibri" pitchFamily="34" charset="0"/>
                <a:ea typeface="Calibri" pitchFamily="34" charset="-122"/>
                <a:cs typeface="Calibri" pitchFamily="34" charset="-120"/>
              </a:rPr>
              <a:t>Al Harere &amp; Al Jallad (2023)  ·  arXiv:2305.06429</a:t>
            </a:r>
            <a:endParaRPr lang="en-US" sz="1000" dirty="0">
              <a:solidFill>
                <a:srgbClr val="FFFF00"/>
              </a:solidFill>
            </a:endParaRPr>
          </a:p>
        </p:txBody>
      </p:sp>
      <p:sp>
        <p:nvSpPr>
          <p:cNvPr id="17" name="Text 15"/>
          <p:cNvSpPr/>
          <p:nvPr/>
        </p:nvSpPr>
        <p:spPr>
          <a:xfrm>
            <a:off x="822960" y="2660904"/>
            <a:ext cx="7909560" cy="201168"/>
          </a:xfrm>
          <a:prstGeom prst="rect">
            <a:avLst/>
          </a:prstGeom>
          <a:noFill/>
          <a:ln/>
        </p:spPr>
        <p:txBody>
          <a:bodyPr wrap="square" rtlCol="0" anchor="ctr"/>
          <a:lstStyle/>
          <a:p>
            <a:pPr marL="0" indent="0">
              <a:buNone/>
            </a:pPr>
            <a:r>
              <a:rPr lang="en-US" sz="850" i="1" dirty="0">
                <a:solidFill>
                  <a:srgbClr val="8A9BA8"/>
                </a:solidFill>
                <a:latin typeface="Calibri" pitchFamily="34" charset="0"/>
                <a:ea typeface="Calibri" pitchFamily="34" charset="-122"/>
                <a:cs typeface="Calibri" pitchFamily="34" charset="-120"/>
              </a:rPr>
              <a:t>Mispronunciation Detection of Basic Quranic Recitation Rules Using Deep Learning</a:t>
            </a:r>
            <a:endParaRPr lang="en-US" sz="850" dirty="0"/>
          </a:p>
        </p:txBody>
      </p:sp>
      <p:sp>
        <p:nvSpPr>
          <p:cNvPr id="18" name="Text 16"/>
          <p:cNvSpPr/>
          <p:nvPr/>
        </p:nvSpPr>
        <p:spPr>
          <a:xfrm>
            <a:off x="822960" y="2871216"/>
            <a:ext cx="7909560" cy="329184"/>
          </a:xfrm>
          <a:prstGeom prst="rect">
            <a:avLst/>
          </a:prstGeom>
          <a:noFill/>
          <a:ln/>
        </p:spPr>
        <p:txBody>
          <a:bodyPr wrap="square" rtlCol="0" anchor="ctr"/>
          <a:lstStyle/>
          <a:p>
            <a:pPr marL="0" indent="0">
              <a:buNone/>
            </a:pPr>
            <a:r>
              <a:rPr lang="en-US" sz="900" dirty="0">
                <a:solidFill>
                  <a:srgbClr val="BBCCDD"/>
                </a:solidFill>
                <a:latin typeface="Calibri" pitchFamily="34" charset="0"/>
                <a:ea typeface="Calibri" pitchFamily="34" charset="-122"/>
                <a:cs typeface="Calibri" pitchFamily="34" charset="-120"/>
              </a:rPr>
              <a:t>Key Finding: LSTM on 1,500 controlled lab samples — reports 96% accuracy on Mad, Ghunnah, Ikhfa'. However: only under ideal conditions. Real-world performance is substantially lower. No field deployment data provided.</a:t>
            </a:r>
            <a:endParaRPr lang="en-US" sz="900" dirty="0"/>
          </a:p>
        </p:txBody>
      </p:sp>
      <p:sp>
        <p:nvSpPr>
          <p:cNvPr id="19" name="Text 17"/>
          <p:cNvSpPr/>
          <p:nvPr/>
        </p:nvSpPr>
        <p:spPr>
          <a:xfrm>
            <a:off x="822960" y="3218688"/>
            <a:ext cx="7909560" cy="237744"/>
          </a:xfrm>
          <a:prstGeom prst="rect">
            <a:avLst/>
          </a:prstGeom>
          <a:noFill/>
          <a:ln/>
        </p:spPr>
        <p:txBody>
          <a:bodyPr wrap="square" rtlCol="0" anchor="ctr"/>
          <a:lstStyle/>
          <a:p>
            <a:pPr marL="0" indent="0">
              <a:buNone/>
            </a:pPr>
            <a:r>
              <a:rPr lang="en-US" sz="850" b="1" dirty="0">
                <a:solidFill>
                  <a:srgbClr val="FFFF00"/>
                </a:solidFill>
                <a:latin typeface="Calibri" pitchFamily="34" charset="0"/>
                <a:ea typeface="Calibri" pitchFamily="34" charset="-122"/>
                <a:cs typeface="Calibri" pitchFamily="34" charset="-120"/>
              </a:rPr>
              <a:t>Islamic Link: 96% lab accuracy = thousands of errors across a full recitation. Each Mad error risks altering grammatical structure — Lahn Jali, prohibited in all four Madhabs.</a:t>
            </a:r>
            <a:endParaRPr lang="en-US" sz="850" dirty="0">
              <a:solidFill>
                <a:srgbClr val="FFFF00"/>
              </a:solidFill>
            </a:endParaRPr>
          </a:p>
        </p:txBody>
      </p:sp>
      <p:sp>
        <p:nvSpPr>
          <p:cNvPr id="20" name="Shape 18"/>
          <p:cNvSpPr/>
          <p:nvPr/>
        </p:nvSpPr>
        <p:spPr>
          <a:xfrm>
            <a:off x="228600" y="3639312"/>
            <a:ext cx="8686800" cy="1133856"/>
          </a:xfrm>
          <a:prstGeom prst="rect">
            <a:avLst/>
          </a:prstGeom>
          <a:solidFill>
            <a:srgbClr val="0D2137"/>
          </a:solidFill>
          <a:ln/>
          <a:effectLst>
            <a:outerShdw blurRad="76200" dist="25400" dir="8100000" algn="bl" rotWithShape="0">
              <a:srgbClr val="000000">
                <a:alpha val="14000"/>
              </a:srgbClr>
            </a:outerShdw>
          </a:effectLst>
        </p:spPr>
      </p:sp>
      <p:sp>
        <p:nvSpPr>
          <p:cNvPr id="21" name="Shape 19"/>
          <p:cNvSpPr/>
          <p:nvPr/>
        </p:nvSpPr>
        <p:spPr>
          <a:xfrm>
            <a:off x="228600" y="3639312"/>
            <a:ext cx="502920" cy="1133856"/>
          </a:xfrm>
          <a:prstGeom prst="rect">
            <a:avLst/>
          </a:prstGeom>
          <a:solidFill>
            <a:srgbClr val="2D9B6A"/>
          </a:solidFill>
          <a:ln/>
        </p:spPr>
      </p:sp>
      <p:sp>
        <p:nvSpPr>
          <p:cNvPr id="22" name="Text 20"/>
          <p:cNvSpPr/>
          <p:nvPr/>
        </p:nvSpPr>
        <p:spPr>
          <a:xfrm>
            <a:off x="228600" y="4005072"/>
            <a:ext cx="502920" cy="365760"/>
          </a:xfrm>
          <a:prstGeom prst="rect">
            <a:avLst/>
          </a:prstGeom>
          <a:noFill/>
          <a:ln/>
        </p:spPr>
        <p:txBody>
          <a:bodyPr wrap="square" rtlCol="0" anchor="ctr"/>
          <a:lstStyle/>
          <a:p>
            <a:pPr marL="0" indent="0" algn="ctr">
              <a:buNone/>
            </a:pPr>
            <a:r>
              <a:rPr lang="en-US" sz="1600" b="1" dirty="0">
                <a:solidFill>
                  <a:srgbClr val="0A1628"/>
                </a:solidFill>
                <a:latin typeface="Georgia" pitchFamily="34" charset="0"/>
                <a:ea typeface="Georgia" pitchFamily="34" charset="-122"/>
                <a:cs typeface="Georgia" pitchFamily="34" charset="-120"/>
              </a:rPr>
              <a:t>03</a:t>
            </a:r>
            <a:endParaRPr lang="en-US" sz="1600" dirty="0"/>
          </a:p>
        </p:txBody>
      </p:sp>
      <p:sp>
        <p:nvSpPr>
          <p:cNvPr id="23" name="Text 21"/>
          <p:cNvSpPr/>
          <p:nvPr/>
        </p:nvSpPr>
        <p:spPr>
          <a:xfrm>
            <a:off x="822960" y="3685032"/>
            <a:ext cx="7909560" cy="237744"/>
          </a:xfrm>
          <a:prstGeom prst="rect">
            <a:avLst/>
          </a:prstGeom>
          <a:noFill/>
          <a:ln/>
        </p:spPr>
        <p:txBody>
          <a:bodyPr wrap="square" rtlCol="0" anchor="ctr"/>
          <a:lstStyle/>
          <a:p>
            <a:pPr marL="0" indent="0">
              <a:buNone/>
            </a:pPr>
            <a:r>
              <a:rPr lang="en-US" sz="1000" b="1" dirty="0">
                <a:solidFill>
                  <a:srgbClr val="FFFF00"/>
                </a:solidFill>
                <a:latin typeface="Calibri" pitchFamily="34" charset="0"/>
                <a:ea typeface="Calibri" pitchFamily="34" charset="-122"/>
                <a:cs typeface="Calibri" pitchFamily="34" charset="-120"/>
              </a:rPr>
              <a:t>Birgün (2026)  ·  Computers in Human Behavior Reports</a:t>
            </a:r>
            <a:endParaRPr lang="en-US" sz="1000" dirty="0">
              <a:solidFill>
                <a:srgbClr val="FFFF00"/>
              </a:solidFill>
            </a:endParaRPr>
          </a:p>
        </p:txBody>
      </p:sp>
      <p:sp>
        <p:nvSpPr>
          <p:cNvPr id="24" name="Text 22"/>
          <p:cNvSpPr/>
          <p:nvPr/>
        </p:nvSpPr>
        <p:spPr>
          <a:xfrm>
            <a:off x="822960" y="3913632"/>
            <a:ext cx="7909560" cy="201168"/>
          </a:xfrm>
          <a:prstGeom prst="rect">
            <a:avLst/>
          </a:prstGeom>
          <a:noFill/>
          <a:ln/>
        </p:spPr>
        <p:txBody>
          <a:bodyPr wrap="square" rtlCol="0" anchor="ctr"/>
          <a:lstStyle/>
          <a:p>
            <a:pPr marL="0" indent="0">
              <a:buNone/>
            </a:pPr>
            <a:r>
              <a:rPr lang="en-US" sz="850" i="1" dirty="0">
                <a:solidFill>
                  <a:srgbClr val="8A9BA8"/>
                </a:solidFill>
                <a:latin typeface="Calibri" pitchFamily="34" charset="0"/>
                <a:ea typeface="Calibri" pitchFamily="34" charset="-122"/>
                <a:cs typeface="Calibri" pitchFamily="34" charset="-120"/>
              </a:rPr>
              <a:t>Integrating AI into Qur'an Learning: Technical Advances and Pedagogical Gaps</a:t>
            </a:r>
            <a:endParaRPr lang="en-US" sz="850" dirty="0"/>
          </a:p>
        </p:txBody>
      </p:sp>
      <p:sp>
        <p:nvSpPr>
          <p:cNvPr id="25" name="Text 23"/>
          <p:cNvSpPr/>
          <p:nvPr/>
        </p:nvSpPr>
        <p:spPr>
          <a:xfrm>
            <a:off x="822960" y="4123944"/>
            <a:ext cx="7909560" cy="329184"/>
          </a:xfrm>
          <a:prstGeom prst="rect">
            <a:avLst/>
          </a:prstGeom>
          <a:noFill/>
          <a:ln/>
        </p:spPr>
        <p:txBody>
          <a:bodyPr wrap="square" rtlCol="0" anchor="ctr"/>
          <a:lstStyle/>
          <a:p>
            <a:pPr marL="0" indent="0">
              <a:buNone/>
            </a:pPr>
            <a:r>
              <a:rPr lang="en-US" sz="900" dirty="0">
                <a:solidFill>
                  <a:srgbClr val="BBCCDD"/>
                </a:solidFill>
                <a:latin typeface="Calibri" pitchFamily="34" charset="0"/>
                <a:ea typeface="Calibri" pitchFamily="34" charset="-122"/>
                <a:cs typeface="Calibri" pitchFamily="34" charset="-120"/>
              </a:rPr>
              <a:t>Key Finding: Reviews Tarteel AI &amp; TajweedMate in real-world educational settings. Finds AI cannot provide spiritual guidance, cannot adapt to individual learner needs, cannot contextually explain why an error matters theologically.</a:t>
            </a:r>
            <a:endParaRPr lang="en-US" sz="900" dirty="0"/>
          </a:p>
        </p:txBody>
      </p:sp>
      <p:sp>
        <p:nvSpPr>
          <p:cNvPr id="26" name="Text 24"/>
          <p:cNvSpPr/>
          <p:nvPr/>
        </p:nvSpPr>
        <p:spPr>
          <a:xfrm>
            <a:off x="822960" y="4471416"/>
            <a:ext cx="7909560" cy="237744"/>
          </a:xfrm>
          <a:prstGeom prst="rect">
            <a:avLst/>
          </a:prstGeom>
          <a:noFill/>
          <a:ln/>
        </p:spPr>
        <p:txBody>
          <a:bodyPr wrap="square" rtlCol="0" anchor="ctr"/>
          <a:lstStyle/>
          <a:p>
            <a:pPr marL="0" indent="0">
              <a:buNone/>
            </a:pPr>
            <a:r>
              <a:rPr lang="en-US" sz="850" b="1" dirty="0">
                <a:solidFill>
                  <a:srgbClr val="FFFF00"/>
                </a:solidFill>
                <a:latin typeface="Calibri" pitchFamily="34" charset="0"/>
                <a:ea typeface="Calibri" pitchFamily="34" charset="-122"/>
                <a:cs typeface="Calibri" pitchFamily="34" charset="-120"/>
              </a:rPr>
              <a:t>Islamic Link: The 'pedagogical gap' documented here IS the Sanad gap in Islamic terms. AI is structurally incapable of replicating the Talaqqi teacher-student relationship.</a:t>
            </a:r>
            <a:endParaRPr lang="en-US" sz="850" dirty="0">
              <a:solidFill>
                <a:srgbClr val="FFFF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8EE"/>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A4731"/>
          </a:solidFill>
          <a:ln/>
        </p:spPr>
      </p:sp>
      <p:sp>
        <p:nvSpPr>
          <p:cNvPr id="3" name="Shape 1"/>
          <p:cNvSpPr/>
          <p:nvPr/>
        </p:nvSpPr>
        <p:spPr>
          <a:xfrm>
            <a:off x="0" y="804672"/>
            <a:ext cx="9144000" cy="54864"/>
          </a:xfrm>
          <a:prstGeom prst="rect">
            <a:avLst/>
          </a:prstGeom>
          <a:solidFill>
            <a:srgbClr val="C9A84C"/>
          </a:solidFill>
          <a:ln/>
        </p:spPr>
      </p:sp>
      <p:sp>
        <p:nvSpPr>
          <p:cNvPr id="4" name="Text 2"/>
          <p:cNvSpPr/>
          <p:nvPr/>
        </p:nvSpPr>
        <p:spPr>
          <a:xfrm>
            <a:off x="320040" y="91440"/>
            <a:ext cx="8503920" cy="621792"/>
          </a:xfrm>
          <a:prstGeom prst="rect">
            <a:avLst/>
          </a:prstGeom>
          <a:noFill/>
          <a:ln/>
        </p:spPr>
        <p:txBody>
          <a:bodyPr wrap="square"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Research Papers: Islamic Sciences Evidence</a:t>
            </a:r>
            <a:endParaRPr lang="en-US" sz="2700" dirty="0"/>
          </a:p>
        </p:txBody>
      </p:sp>
      <p:sp>
        <p:nvSpPr>
          <p:cNvPr id="5" name="Text 3"/>
          <p:cNvSpPr/>
          <p:nvPr/>
        </p:nvSpPr>
        <p:spPr>
          <a:xfrm>
            <a:off x="320040" y="850392"/>
            <a:ext cx="8503920" cy="228600"/>
          </a:xfrm>
          <a:prstGeom prst="rect">
            <a:avLst/>
          </a:prstGeom>
          <a:noFill/>
          <a:ln/>
        </p:spPr>
        <p:txBody>
          <a:bodyPr wrap="square" rtlCol="0" anchor="ctr"/>
          <a:lstStyle/>
          <a:p>
            <a:pPr marL="0" indent="0">
              <a:buNone/>
            </a:pPr>
            <a:r>
              <a:rPr lang="en-US" sz="1050" i="1" dirty="0">
                <a:solidFill>
                  <a:srgbClr val="1A4731"/>
                </a:solidFill>
                <a:latin typeface="Calibri" pitchFamily="34" charset="0"/>
                <a:ea typeface="Calibri" pitchFamily="34" charset="-122"/>
                <a:cs typeface="Calibri" pitchFamily="34" charset="-120"/>
              </a:rPr>
              <a:t>Papers framing AI tools within Islamic jurisprudence and the ethics of Quranic scholarship</a:t>
            </a:r>
            <a:endParaRPr lang="en-US" sz="1050" dirty="0"/>
          </a:p>
        </p:txBody>
      </p:sp>
      <p:sp>
        <p:nvSpPr>
          <p:cNvPr id="6" name="Shape 4"/>
          <p:cNvSpPr/>
          <p:nvPr/>
        </p:nvSpPr>
        <p:spPr>
          <a:xfrm>
            <a:off x="228600" y="1133856"/>
            <a:ext cx="8686800" cy="1664208"/>
          </a:xfrm>
          <a:prstGeom prst="rect">
            <a:avLst/>
          </a:prstGeom>
          <a:solidFill>
            <a:srgbClr val="FFFFFF"/>
          </a:solidFill>
          <a:ln/>
          <a:effectLst>
            <a:outerShdw blurRad="76200" dist="25400" dir="8100000" algn="bl" rotWithShape="0">
              <a:srgbClr val="000000">
                <a:alpha val="14000"/>
              </a:srgbClr>
            </a:outerShdw>
          </a:effectLst>
        </p:spPr>
      </p:sp>
      <p:sp>
        <p:nvSpPr>
          <p:cNvPr id="7" name="Shape 5"/>
          <p:cNvSpPr/>
          <p:nvPr/>
        </p:nvSpPr>
        <p:spPr>
          <a:xfrm>
            <a:off x="228600" y="1133856"/>
            <a:ext cx="73152" cy="1664208"/>
          </a:xfrm>
          <a:prstGeom prst="rect">
            <a:avLst/>
          </a:prstGeom>
          <a:solidFill>
            <a:srgbClr val="1A4731"/>
          </a:solidFill>
          <a:ln/>
        </p:spPr>
      </p:sp>
      <p:sp>
        <p:nvSpPr>
          <p:cNvPr id="8" name="Shape 6"/>
          <p:cNvSpPr/>
          <p:nvPr/>
        </p:nvSpPr>
        <p:spPr>
          <a:xfrm>
            <a:off x="228600" y="1133856"/>
            <a:ext cx="502920" cy="310896"/>
          </a:xfrm>
          <a:prstGeom prst="rect">
            <a:avLst/>
          </a:prstGeom>
          <a:solidFill>
            <a:srgbClr val="1A4731"/>
          </a:solidFill>
          <a:ln/>
        </p:spPr>
      </p:sp>
      <p:sp>
        <p:nvSpPr>
          <p:cNvPr id="9" name="Text 7"/>
          <p:cNvSpPr/>
          <p:nvPr/>
        </p:nvSpPr>
        <p:spPr>
          <a:xfrm>
            <a:off x="228600" y="1152144"/>
            <a:ext cx="502920" cy="256032"/>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04</a:t>
            </a:r>
            <a:endParaRPr lang="en-US" sz="1400" dirty="0"/>
          </a:p>
        </p:txBody>
      </p:sp>
      <p:sp>
        <p:nvSpPr>
          <p:cNvPr id="10" name="Text 8"/>
          <p:cNvSpPr/>
          <p:nvPr/>
        </p:nvSpPr>
        <p:spPr>
          <a:xfrm>
            <a:off x="822960" y="1188720"/>
            <a:ext cx="7863840" cy="237744"/>
          </a:xfrm>
          <a:prstGeom prst="rect">
            <a:avLst/>
          </a:prstGeom>
          <a:noFill/>
          <a:ln/>
        </p:spPr>
        <p:txBody>
          <a:bodyPr wrap="square" rtlCol="0" anchor="ctr"/>
          <a:lstStyle/>
          <a:p>
            <a:pPr marL="0" indent="0">
              <a:buNone/>
            </a:pPr>
            <a:r>
              <a:rPr lang="en-US" sz="1000" b="1" dirty="0">
                <a:solidFill>
                  <a:srgbClr val="1A4731"/>
                </a:solidFill>
                <a:latin typeface="Calibri" pitchFamily="34" charset="0"/>
                <a:ea typeface="Calibri" pitchFamily="34" charset="-122"/>
                <a:cs typeface="Calibri" pitchFamily="34" charset="-120"/>
              </a:rPr>
              <a:t>Adnan (2024)  ·  Khazanah Journal of Religion and Technology, Vol. 2, No. 2</a:t>
            </a:r>
            <a:endParaRPr lang="en-US" sz="1000" dirty="0"/>
          </a:p>
        </p:txBody>
      </p:sp>
      <p:sp>
        <p:nvSpPr>
          <p:cNvPr id="11" name="Text 9"/>
          <p:cNvSpPr/>
          <p:nvPr/>
        </p:nvSpPr>
        <p:spPr>
          <a:xfrm>
            <a:off x="822960" y="1426464"/>
            <a:ext cx="7863840" cy="201168"/>
          </a:xfrm>
          <a:prstGeom prst="rect">
            <a:avLst/>
          </a:prstGeom>
          <a:noFill/>
          <a:ln/>
        </p:spPr>
        <p:txBody>
          <a:bodyPr wrap="square" rtlCol="0" anchor="ctr"/>
          <a:lstStyle/>
          <a:p>
            <a:pPr marL="0" indent="0">
              <a:buNone/>
            </a:pPr>
            <a:r>
              <a:rPr lang="en-US" sz="900" i="1" dirty="0">
                <a:solidFill>
                  <a:srgbClr val="8A9BA8"/>
                </a:solidFill>
                <a:latin typeface="Calibri" pitchFamily="34" charset="0"/>
                <a:ea typeface="Calibri" pitchFamily="34" charset="-122"/>
                <a:cs typeface="Calibri" pitchFamily="34" charset="-120"/>
              </a:rPr>
              <a:t>Leveraging AI Technologies in the Service of the Holy Quran and Its Sciences</a:t>
            </a:r>
            <a:endParaRPr lang="en-US" sz="900" dirty="0"/>
          </a:p>
        </p:txBody>
      </p:sp>
      <p:sp>
        <p:nvSpPr>
          <p:cNvPr id="12" name="Text 10"/>
          <p:cNvSpPr/>
          <p:nvPr/>
        </p:nvSpPr>
        <p:spPr>
          <a:xfrm>
            <a:off x="822960" y="1645920"/>
            <a:ext cx="7863840" cy="457200"/>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Key Finding: The only paper reviewing AI Quran tools through Islamic sciences — not computer science. Establishes that AI tools in Islam MUST be validated jointly by engineers AND qualified Islamic scholars. Without dual validation, tools risk producing Islamically incorrect output under the imprimatur of digital authority, which users uncritically accept.</a:t>
            </a:r>
            <a:endParaRPr lang="en-US" sz="950" dirty="0"/>
          </a:p>
        </p:txBody>
      </p:sp>
      <p:sp>
        <p:nvSpPr>
          <p:cNvPr id="13" name="Shape 11"/>
          <p:cNvSpPr/>
          <p:nvPr/>
        </p:nvSpPr>
        <p:spPr>
          <a:xfrm>
            <a:off x="365760" y="2139696"/>
            <a:ext cx="8321040" cy="566928"/>
          </a:xfrm>
          <a:prstGeom prst="rect">
            <a:avLst/>
          </a:prstGeom>
          <a:solidFill>
            <a:srgbClr val="E8F5EE"/>
          </a:solidFill>
          <a:ln/>
        </p:spPr>
      </p:sp>
      <p:sp>
        <p:nvSpPr>
          <p:cNvPr id="14" name="Shape 12"/>
          <p:cNvSpPr/>
          <p:nvPr/>
        </p:nvSpPr>
        <p:spPr>
          <a:xfrm>
            <a:off x="365760" y="2139696"/>
            <a:ext cx="54864" cy="566928"/>
          </a:xfrm>
          <a:prstGeom prst="rect">
            <a:avLst/>
          </a:prstGeom>
          <a:solidFill>
            <a:srgbClr val="1A4731"/>
          </a:solidFill>
          <a:ln/>
        </p:spPr>
      </p:sp>
      <p:sp>
        <p:nvSpPr>
          <p:cNvPr id="15" name="Text 13"/>
          <p:cNvSpPr/>
          <p:nvPr/>
        </p:nvSpPr>
        <p:spPr>
          <a:xfrm>
            <a:off x="502920" y="2176272"/>
            <a:ext cx="8046720" cy="475488"/>
          </a:xfrm>
          <a:prstGeom prst="rect">
            <a:avLst/>
          </a:prstGeom>
          <a:noFill/>
          <a:ln/>
        </p:spPr>
        <p:txBody>
          <a:bodyPr wrap="square" rtlCol="0" anchor="ctr"/>
          <a:lstStyle/>
          <a:p>
            <a:pPr marL="0" indent="0">
              <a:buNone/>
            </a:pPr>
            <a:r>
              <a:rPr lang="en-US" sz="900" b="1" dirty="0">
                <a:solidFill>
                  <a:srgbClr val="1A4731"/>
                </a:solidFill>
                <a:latin typeface="Calibri" pitchFamily="34" charset="0"/>
                <a:ea typeface="Calibri" pitchFamily="34" charset="-122"/>
                <a:cs typeface="Calibri" pitchFamily="34" charset="-120"/>
              </a:rPr>
              <a:t>Islamic Link: Supports the core fatwa argument — no AI recitation tool has received joint engineer + Tajweed scholar certification. Adnan (2024) provides the academic basis for why this gap renders current tools impermissible as substitutes.</a:t>
            </a:r>
            <a:endParaRPr lang="en-US" sz="900" dirty="0"/>
          </a:p>
        </p:txBody>
      </p:sp>
      <p:sp>
        <p:nvSpPr>
          <p:cNvPr id="16" name="Shape 14"/>
          <p:cNvSpPr/>
          <p:nvPr/>
        </p:nvSpPr>
        <p:spPr>
          <a:xfrm>
            <a:off x="228600" y="2926080"/>
            <a:ext cx="8686800" cy="1664208"/>
          </a:xfrm>
          <a:prstGeom prst="rect">
            <a:avLst/>
          </a:prstGeom>
          <a:solidFill>
            <a:srgbClr val="FFFFFF"/>
          </a:solidFill>
          <a:ln/>
          <a:effectLst>
            <a:outerShdw blurRad="76200" dist="25400" dir="8100000" algn="bl" rotWithShape="0">
              <a:srgbClr val="000000">
                <a:alpha val="14000"/>
              </a:srgbClr>
            </a:outerShdw>
          </a:effectLst>
        </p:spPr>
      </p:sp>
      <p:sp>
        <p:nvSpPr>
          <p:cNvPr id="17" name="Shape 15"/>
          <p:cNvSpPr/>
          <p:nvPr/>
        </p:nvSpPr>
        <p:spPr>
          <a:xfrm>
            <a:off x="228600" y="2926080"/>
            <a:ext cx="73152" cy="1664208"/>
          </a:xfrm>
          <a:prstGeom prst="rect">
            <a:avLst/>
          </a:prstGeom>
          <a:solidFill>
            <a:srgbClr val="1E6B47"/>
          </a:solidFill>
          <a:ln/>
        </p:spPr>
      </p:sp>
      <p:sp>
        <p:nvSpPr>
          <p:cNvPr id="18" name="Shape 16"/>
          <p:cNvSpPr/>
          <p:nvPr/>
        </p:nvSpPr>
        <p:spPr>
          <a:xfrm>
            <a:off x="228600" y="2926080"/>
            <a:ext cx="502920" cy="310896"/>
          </a:xfrm>
          <a:prstGeom prst="rect">
            <a:avLst/>
          </a:prstGeom>
          <a:solidFill>
            <a:srgbClr val="1E6B47"/>
          </a:solidFill>
          <a:ln/>
        </p:spPr>
      </p:sp>
      <p:sp>
        <p:nvSpPr>
          <p:cNvPr id="19" name="Text 17"/>
          <p:cNvSpPr/>
          <p:nvPr/>
        </p:nvSpPr>
        <p:spPr>
          <a:xfrm>
            <a:off x="228600" y="2944368"/>
            <a:ext cx="502920" cy="256032"/>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05</a:t>
            </a:r>
            <a:endParaRPr lang="en-US" sz="1400" dirty="0"/>
          </a:p>
        </p:txBody>
      </p:sp>
      <p:sp>
        <p:nvSpPr>
          <p:cNvPr id="20" name="Text 18"/>
          <p:cNvSpPr/>
          <p:nvPr/>
        </p:nvSpPr>
        <p:spPr>
          <a:xfrm>
            <a:off x="822960" y="2980944"/>
            <a:ext cx="7863840" cy="237744"/>
          </a:xfrm>
          <a:prstGeom prst="rect">
            <a:avLst/>
          </a:prstGeom>
          <a:noFill/>
          <a:ln/>
        </p:spPr>
        <p:txBody>
          <a:bodyPr wrap="square" rtlCol="0" anchor="ctr"/>
          <a:lstStyle/>
          <a:p>
            <a:pPr marL="0" indent="0">
              <a:buNone/>
            </a:pPr>
            <a:r>
              <a:rPr lang="en-US" sz="1000" b="1" dirty="0">
                <a:solidFill>
                  <a:srgbClr val="1E6B47"/>
                </a:solidFill>
                <a:latin typeface="Calibri" pitchFamily="34" charset="0"/>
                <a:ea typeface="Calibri" pitchFamily="34" charset="-122"/>
                <a:cs typeface="Calibri" pitchFamily="34" charset="-120"/>
              </a:rPr>
              <a:t>MDPI Religions (2025)  ·  Religions, Vol. 16, No. 6 — doi:10.3390/rel16060796</a:t>
            </a:r>
            <a:endParaRPr lang="en-US" sz="1000" dirty="0"/>
          </a:p>
        </p:txBody>
      </p:sp>
      <p:sp>
        <p:nvSpPr>
          <p:cNvPr id="21" name="Text 19"/>
          <p:cNvSpPr/>
          <p:nvPr/>
        </p:nvSpPr>
        <p:spPr>
          <a:xfrm>
            <a:off x="822960" y="3218688"/>
            <a:ext cx="7863840" cy="201168"/>
          </a:xfrm>
          <a:prstGeom prst="rect">
            <a:avLst/>
          </a:prstGeom>
          <a:noFill/>
          <a:ln/>
        </p:spPr>
        <p:txBody>
          <a:bodyPr wrap="square" rtlCol="0" anchor="ctr"/>
          <a:lstStyle/>
          <a:p>
            <a:pPr marL="0" indent="0">
              <a:buNone/>
            </a:pPr>
            <a:r>
              <a:rPr lang="en-US" sz="900" i="1" dirty="0">
                <a:solidFill>
                  <a:srgbClr val="8A9BA8"/>
                </a:solidFill>
                <a:latin typeface="Calibri" pitchFamily="34" charset="0"/>
                <a:ea typeface="Calibri" pitchFamily="34" charset="-122"/>
                <a:cs typeface="Calibri" pitchFamily="34" charset="-120"/>
              </a:rPr>
              <a:t>Artificial Intelligence and the Islamic Theology of Technology: From 'Means' to 'Meanings'</a:t>
            </a:r>
            <a:endParaRPr lang="en-US" sz="900" dirty="0"/>
          </a:p>
        </p:txBody>
      </p:sp>
      <p:sp>
        <p:nvSpPr>
          <p:cNvPr id="22" name="Text 20"/>
          <p:cNvSpPr/>
          <p:nvPr/>
        </p:nvSpPr>
        <p:spPr>
          <a:xfrm>
            <a:off x="822960" y="3438144"/>
            <a:ext cx="7863840" cy="457200"/>
          </a:xfrm>
          <a:prstGeom prst="rect">
            <a:avLst/>
          </a:prstGeom>
          <a:noFill/>
          <a:ln/>
        </p:spPr>
        <p:txBody>
          <a:bodyPr wrap="square" rtlCol="0" anchor="ctr"/>
          <a:lstStyle/>
          <a:p>
            <a:r>
              <a:rPr lang="en-US" sz="950" dirty="0">
                <a:solidFill>
                  <a:srgbClr val="222222"/>
                </a:solidFill>
                <a:latin typeface="Calibri" pitchFamily="34" charset="0"/>
                <a:ea typeface="Calibri" pitchFamily="34" charset="-122"/>
                <a:cs typeface="Calibri" pitchFamily="34" charset="-120"/>
              </a:rPr>
              <a:t>Key Finding:</a:t>
            </a:r>
            <a:r>
              <a:rPr lang="en-US" sz="1000" dirty="0"/>
              <a:t> This looks at AI from Islamic thinking about technology. </a:t>
            </a:r>
            <a:r>
              <a:rPr lang="en-US" sz="950" dirty="0">
                <a:solidFill>
                  <a:srgbClr val="222222"/>
                </a:solidFill>
                <a:latin typeface="Calibri" pitchFamily="34" charset="0"/>
                <a:ea typeface="Calibri" pitchFamily="34" charset="-122"/>
                <a:cs typeface="Calibri" pitchFamily="34" charset="-120"/>
              </a:rPr>
              <a:t>Distinguishes 'means' (</a:t>
            </a:r>
            <a:r>
              <a:rPr lang="en-US" sz="1000" dirty="0"/>
              <a:t>making correct-sounding</a:t>
            </a:r>
            <a:r>
              <a:rPr lang="en-US" sz="950" dirty="0">
                <a:solidFill>
                  <a:srgbClr val="222222"/>
                </a:solidFill>
                <a:latin typeface="Calibri" pitchFamily="34" charset="0"/>
                <a:ea typeface="Calibri" pitchFamily="34" charset="-122"/>
                <a:cs typeface="Calibri" pitchFamily="34" charset="-120"/>
              </a:rPr>
              <a:t>) from 'meanings' (spiritual and moral impact).</a:t>
            </a:r>
            <a:r>
              <a:rPr lang="en-US" sz="950" dirty="0">
                <a:solidFill>
                  <a:srgbClr val="222222"/>
                </a:solidFill>
                <a:ea typeface="Calibri" pitchFamily="34" charset="-122"/>
                <a:cs typeface="Calibri" pitchFamily="34" charset="-120"/>
              </a:rPr>
              <a:t> </a:t>
            </a:r>
            <a:r>
              <a:rPr lang="en-US" sz="1000" dirty="0"/>
              <a:t>If a tool just makes perfect audio but removes the human act of worship, it’s missing the real purpose. Technology should help people in their worship, not replace it.</a:t>
            </a:r>
            <a:endParaRPr lang="en-US" sz="950" dirty="0"/>
          </a:p>
        </p:txBody>
      </p:sp>
      <p:sp>
        <p:nvSpPr>
          <p:cNvPr id="23" name="Shape 21"/>
          <p:cNvSpPr/>
          <p:nvPr/>
        </p:nvSpPr>
        <p:spPr>
          <a:xfrm>
            <a:off x="365760" y="3931920"/>
            <a:ext cx="8321040" cy="566928"/>
          </a:xfrm>
          <a:prstGeom prst="rect">
            <a:avLst/>
          </a:prstGeom>
          <a:solidFill>
            <a:srgbClr val="E8F5EE"/>
          </a:solidFill>
          <a:ln/>
        </p:spPr>
      </p:sp>
      <p:sp>
        <p:nvSpPr>
          <p:cNvPr id="24" name="Shape 22"/>
          <p:cNvSpPr/>
          <p:nvPr/>
        </p:nvSpPr>
        <p:spPr>
          <a:xfrm>
            <a:off x="365760" y="3931920"/>
            <a:ext cx="54864" cy="566928"/>
          </a:xfrm>
          <a:prstGeom prst="rect">
            <a:avLst/>
          </a:prstGeom>
          <a:solidFill>
            <a:srgbClr val="1E6B47"/>
          </a:solidFill>
          <a:ln/>
        </p:spPr>
      </p:sp>
      <p:sp>
        <p:nvSpPr>
          <p:cNvPr id="25" name="Text 23"/>
          <p:cNvSpPr/>
          <p:nvPr/>
        </p:nvSpPr>
        <p:spPr>
          <a:xfrm>
            <a:off x="502920" y="3968496"/>
            <a:ext cx="8046720" cy="475488"/>
          </a:xfrm>
          <a:prstGeom prst="rect">
            <a:avLst/>
          </a:prstGeom>
          <a:noFill/>
          <a:ln/>
        </p:spPr>
        <p:txBody>
          <a:bodyPr wrap="square" rtlCol="0" anchor="ctr"/>
          <a:lstStyle/>
          <a:p>
            <a:pPr marL="0" indent="0">
              <a:buNone/>
            </a:pPr>
            <a:r>
              <a:rPr lang="en-US" sz="900" b="1" dirty="0">
                <a:solidFill>
                  <a:srgbClr val="1E6B47"/>
                </a:solidFill>
                <a:latin typeface="Calibri" pitchFamily="34" charset="0"/>
                <a:ea typeface="Calibri" pitchFamily="34" charset="-122"/>
                <a:cs typeface="Calibri" pitchFamily="34" charset="-120"/>
              </a:rPr>
              <a:t>Islamic Link: Provides the theological framework for why functional accuracy is insufficient — Quranic recitation carries 'meanings' beyond phonetics that only a conscious human worshipper can provide. Directly reinforces all five jurisprudential arguments (Niyyah, Aql, Sanad, Hurmah, Tahreef).</a:t>
            </a:r>
            <a:endParaRPr lang="en-US" sz="900" dirty="0"/>
          </a:p>
        </p:txBody>
      </p:sp>
      <p:sp>
        <p:nvSpPr>
          <p:cNvPr id="26" name="Shape 24"/>
          <p:cNvSpPr/>
          <p:nvPr/>
        </p:nvSpPr>
        <p:spPr>
          <a:xfrm>
            <a:off x="228600" y="4681728"/>
            <a:ext cx="8686800" cy="384048"/>
          </a:xfrm>
          <a:prstGeom prst="rect">
            <a:avLst/>
          </a:prstGeom>
          <a:solidFill>
            <a:srgbClr val="0A1628"/>
          </a:solidFill>
          <a:ln/>
        </p:spPr>
      </p:sp>
      <p:sp>
        <p:nvSpPr>
          <p:cNvPr id="27" name="Text 25"/>
          <p:cNvSpPr/>
          <p:nvPr/>
        </p:nvSpPr>
        <p:spPr>
          <a:xfrm>
            <a:off x="365760" y="4718304"/>
            <a:ext cx="8412480" cy="310896"/>
          </a:xfrm>
          <a:prstGeom prst="rect">
            <a:avLst/>
          </a:prstGeom>
          <a:noFill/>
          <a:ln/>
        </p:spPr>
        <p:txBody>
          <a:bodyPr wrap="square" rtlCol="0" anchor="ctr"/>
          <a:lstStyle/>
          <a:p>
            <a:pPr marL="0" indent="0" algn="ctr">
              <a:buNone/>
            </a:pPr>
            <a:r>
              <a:rPr lang="en-US" sz="950" b="1" dirty="0">
                <a:solidFill>
                  <a:srgbClr val="E8C97A"/>
                </a:solidFill>
                <a:latin typeface="Calibri" pitchFamily="34" charset="0"/>
                <a:ea typeface="Calibri" pitchFamily="34" charset="-122"/>
                <a:cs typeface="Calibri" pitchFamily="34" charset="-120"/>
              </a:rPr>
              <a:t>Evidence Chain: Papers 1–3 (technical limitations) + Papers 4–5 (Islamic scholarly requirements) = AI synthesis cannot fulfil the conditions for authentic Quranic recitation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8EE"/>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A4731"/>
          </a:solidFill>
          <a:ln/>
        </p:spPr>
      </p:sp>
      <p:sp>
        <p:nvSpPr>
          <p:cNvPr id="3" name="Shape 1"/>
          <p:cNvSpPr/>
          <p:nvPr/>
        </p:nvSpPr>
        <p:spPr>
          <a:xfrm>
            <a:off x="0" y="804672"/>
            <a:ext cx="9144000" cy="54864"/>
          </a:xfrm>
          <a:prstGeom prst="rect">
            <a:avLst/>
          </a:prstGeom>
          <a:solidFill>
            <a:srgbClr val="C9A84C"/>
          </a:solidFill>
          <a:ln/>
        </p:spPr>
      </p:sp>
      <p:sp>
        <p:nvSpPr>
          <p:cNvPr id="4" name="Text 2"/>
          <p:cNvSpPr/>
          <p:nvPr/>
        </p:nvSpPr>
        <p:spPr>
          <a:xfrm>
            <a:off x="320040" y="91440"/>
            <a:ext cx="8503920" cy="621792"/>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Quranic Foundation</a:t>
            </a:r>
            <a:endParaRPr lang="en-US" sz="2800" dirty="0"/>
          </a:p>
        </p:txBody>
      </p:sp>
      <p:sp>
        <p:nvSpPr>
          <p:cNvPr id="5" name="Shape 3"/>
          <p:cNvSpPr/>
          <p:nvPr/>
        </p:nvSpPr>
        <p:spPr>
          <a:xfrm>
            <a:off x="228600" y="987552"/>
            <a:ext cx="8686800" cy="1234440"/>
          </a:xfrm>
          <a:prstGeom prst="rect">
            <a:avLst/>
          </a:prstGeom>
          <a:solidFill>
            <a:srgbClr val="FFFFFF"/>
          </a:solidFill>
          <a:ln/>
          <a:effectLst>
            <a:outerShdw blurRad="76200" dist="25400" dir="8100000" algn="bl" rotWithShape="0">
              <a:srgbClr val="000000">
                <a:alpha val="14000"/>
              </a:srgbClr>
            </a:outerShdw>
          </a:effectLst>
        </p:spPr>
      </p:sp>
      <p:sp>
        <p:nvSpPr>
          <p:cNvPr id="6" name="Shape 4"/>
          <p:cNvSpPr/>
          <p:nvPr/>
        </p:nvSpPr>
        <p:spPr>
          <a:xfrm>
            <a:off x="228600" y="987552"/>
            <a:ext cx="73152" cy="1234440"/>
          </a:xfrm>
          <a:prstGeom prst="rect">
            <a:avLst/>
          </a:prstGeom>
          <a:solidFill>
            <a:srgbClr val="C9A84C"/>
          </a:solidFill>
          <a:ln/>
        </p:spPr>
      </p:sp>
      <p:sp>
        <p:nvSpPr>
          <p:cNvPr id="7" name="Text 5"/>
          <p:cNvSpPr/>
          <p:nvPr/>
        </p:nvSpPr>
        <p:spPr>
          <a:xfrm>
            <a:off x="384048" y="1042416"/>
            <a:ext cx="8229600" cy="237744"/>
          </a:xfrm>
          <a:prstGeom prst="rect">
            <a:avLst/>
          </a:prstGeom>
          <a:noFill/>
          <a:ln/>
        </p:spPr>
        <p:txBody>
          <a:bodyPr wrap="square" rtlCol="0" anchor="ctr"/>
          <a:lstStyle/>
          <a:p>
            <a:pPr marL="0" indent="0">
              <a:buNone/>
            </a:pPr>
            <a:r>
              <a:rPr lang="en-US" sz="1050" b="1" dirty="0">
                <a:solidFill>
                  <a:srgbClr val="C9A84C"/>
                </a:solidFill>
                <a:latin typeface="Calibri" pitchFamily="34" charset="0"/>
                <a:ea typeface="Calibri" pitchFamily="34" charset="-122"/>
                <a:cs typeface="Calibri" pitchFamily="34" charset="-120"/>
              </a:rPr>
              <a:t>Quran 73:4 — Al-Muzzammil</a:t>
            </a:r>
            <a:endParaRPr lang="en-US" sz="1050" dirty="0"/>
          </a:p>
        </p:txBody>
      </p:sp>
      <p:sp>
        <p:nvSpPr>
          <p:cNvPr id="8" name="Text 6"/>
          <p:cNvSpPr/>
          <p:nvPr/>
        </p:nvSpPr>
        <p:spPr>
          <a:xfrm>
            <a:off x="384048" y="1261872"/>
            <a:ext cx="8229600" cy="256032"/>
          </a:xfrm>
          <a:prstGeom prst="rect">
            <a:avLst/>
          </a:prstGeom>
          <a:noFill/>
          <a:ln/>
        </p:spPr>
        <p:txBody>
          <a:bodyPr wrap="square" rtlCol="0" anchor="ctr"/>
          <a:lstStyle/>
          <a:p>
            <a:pPr marL="0" indent="0" algn="r">
              <a:buNone/>
            </a:pPr>
            <a:r>
              <a:rPr lang="en-US" sz="1300" dirty="0">
                <a:solidFill>
                  <a:srgbClr val="0A1628"/>
                </a:solidFill>
                <a:latin typeface="Calibri" pitchFamily="34" charset="0"/>
                <a:ea typeface="Calibri" pitchFamily="34" charset="-122"/>
                <a:cs typeface="Calibri" pitchFamily="34" charset="-120"/>
              </a:rPr>
              <a:t>وَرَتِّلِ الْقُرْآنَ تَرْتِيلًا</a:t>
            </a:r>
            <a:endParaRPr lang="en-US" sz="1300" dirty="0"/>
          </a:p>
        </p:txBody>
      </p:sp>
      <p:sp>
        <p:nvSpPr>
          <p:cNvPr id="9" name="Text 7"/>
          <p:cNvSpPr/>
          <p:nvPr/>
        </p:nvSpPr>
        <p:spPr>
          <a:xfrm>
            <a:off x="384048" y="1517904"/>
            <a:ext cx="8229600" cy="274320"/>
          </a:xfrm>
          <a:prstGeom prst="rect">
            <a:avLst/>
          </a:prstGeom>
          <a:noFill/>
          <a:ln/>
        </p:spPr>
        <p:txBody>
          <a:bodyPr wrap="square" rtlCol="0" anchor="ctr"/>
          <a:lstStyle/>
          <a:p>
            <a:pPr marL="0" indent="0">
              <a:buNone/>
            </a:pPr>
            <a:r>
              <a:rPr lang="en-US" sz="1100" i="1" dirty="0">
                <a:solidFill>
                  <a:srgbClr val="0A1628"/>
                </a:solidFill>
                <a:latin typeface="Georgia" pitchFamily="34" charset="0"/>
                <a:ea typeface="Georgia" pitchFamily="34" charset="-122"/>
                <a:cs typeface="Georgia" pitchFamily="34" charset="-120"/>
              </a:rPr>
              <a:t>"And recite the Quran with measured, precise recitation."</a:t>
            </a:r>
            <a:endParaRPr lang="en-US" sz="1100" dirty="0"/>
          </a:p>
        </p:txBody>
      </p:sp>
      <p:sp>
        <p:nvSpPr>
          <p:cNvPr id="10" name="Text 8"/>
          <p:cNvSpPr/>
          <p:nvPr/>
        </p:nvSpPr>
        <p:spPr>
          <a:xfrm>
            <a:off x="384048" y="1810512"/>
            <a:ext cx="8229600" cy="384048"/>
          </a:xfrm>
          <a:prstGeom prst="rect">
            <a:avLst/>
          </a:prstGeom>
          <a:noFill/>
          <a:ln/>
        </p:spPr>
        <p:txBody>
          <a:bodyPr wrap="square" rtlCol="0" anchor="ctr"/>
          <a:lstStyle/>
          <a:p>
            <a:pPr marL="0" indent="0">
              <a:buNone/>
            </a:pPr>
            <a:r>
              <a:rPr lang="en-US" sz="950" dirty="0">
                <a:solidFill>
                  <a:srgbClr val="444444"/>
                </a:solidFill>
                <a:latin typeface="Calibri" pitchFamily="34" charset="0"/>
                <a:ea typeface="Calibri" pitchFamily="34" charset="-122"/>
                <a:cs typeface="Calibri" pitchFamily="34" charset="-120"/>
              </a:rPr>
              <a:t>Tarteel = tajweedul huruf wa ma'rifatul wuquf (Ali ibn Abi Talib RA). A machine statistically processes letters — it cannot "beautify" them. It predicts stops — it cannot "know" them.</a:t>
            </a:r>
            <a:endParaRPr lang="en-US" sz="950" dirty="0"/>
          </a:p>
        </p:txBody>
      </p:sp>
      <p:sp>
        <p:nvSpPr>
          <p:cNvPr id="11" name="Shape 9"/>
          <p:cNvSpPr/>
          <p:nvPr/>
        </p:nvSpPr>
        <p:spPr>
          <a:xfrm>
            <a:off x="228600" y="2340864"/>
            <a:ext cx="8686800" cy="1234440"/>
          </a:xfrm>
          <a:prstGeom prst="rect">
            <a:avLst/>
          </a:prstGeom>
          <a:solidFill>
            <a:srgbClr val="FFFFFF"/>
          </a:solidFill>
          <a:ln/>
          <a:effectLst>
            <a:outerShdw blurRad="76200" dist="25400" dir="8100000" algn="bl" rotWithShape="0">
              <a:srgbClr val="000000">
                <a:alpha val="14000"/>
              </a:srgbClr>
            </a:outerShdw>
          </a:effectLst>
        </p:spPr>
      </p:sp>
      <p:sp>
        <p:nvSpPr>
          <p:cNvPr id="12" name="Shape 10"/>
          <p:cNvSpPr/>
          <p:nvPr/>
        </p:nvSpPr>
        <p:spPr>
          <a:xfrm>
            <a:off x="228600" y="2340864"/>
            <a:ext cx="73152" cy="1234440"/>
          </a:xfrm>
          <a:prstGeom prst="rect">
            <a:avLst/>
          </a:prstGeom>
          <a:solidFill>
            <a:srgbClr val="2D9B6A"/>
          </a:solidFill>
          <a:ln/>
        </p:spPr>
      </p:sp>
      <p:sp>
        <p:nvSpPr>
          <p:cNvPr id="13" name="Text 11"/>
          <p:cNvSpPr/>
          <p:nvPr/>
        </p:nvSpPr>
        <p:spPr>
          <a:xfrm>
            <a:off x="384048" y="2395728"/>
            <a:ext cx="8229600" cy="237744"/>
          </a:xfrm>
          <a:prstGeom prst="rect">
            <a:avLst/>
          </a:prstGeom>
          <a:noFill/>
          <a:ln/>
        </p:spPr>
        <p:txBody>
          <a:bodyPr wrap="square" rtlCol="0" anchor="ctr"/>
          <a:lstStyle/>
          <a:p>
            <a:pPr marL="0" indent="0">
              <a:buNone/>
            </a:pPr>
            <a:r>
              <a:rPr lang="en-US" sz="1050" b="1" dirty="0">
                <a:solidFill>
                  <a:srgbClr val="2D9B6A"/>
                </a:solidFill>
                <a:latin typeface="Calibri" pitchFamily="34" charset="0"/>
                <a:ea typeface="Calibri" pitchFamily="34" charset="-122"/>
                <a:cs typeface="Calibri" pitchFamily="34" charset="-120"/>
              </a:rPr>
              <a:t>Quran 15:9 — Al-Hijr</a:t>
            </a:r>
            <a:endParaRPr lang="en-US" sz="1050" dirty="0"/>
          </a:p>
        </p:txBody>
      </p:sp>
      <p:sp>
        <p:nvSpPr>
          <p:cNvPr id="14" name="Text 12"/>
          <p:cNvSpPr/>
          <p:nvPr/>
        </p:nvSpPr>
        <p:spPr>
          <a:xfrm>
            <a:off x="384048" y="2615184"/>
            <a:ext cx="8229600" cy="256032"/>
          </a:xfrm>
          <a:prstGeom prst="rect">
            <a:avLst/>
          </a:prstGeom>
          <a:noFill/>
          <a:ln/>
        </p:spPr>
        <p:txBody>
          <a:bodyPr wrap="square" rtlCol="0" anchor="ctr"/>
          <a:lstStyle/>
          <a:p>
            <a:pPr marL="0" indent="0" algn="r">
              <a:buNone/>
            </a:pPr>
            <a:r>
              <a:rPr lang="en-US" sz="1300" dirty="0">
                <a:solidFill>
                  <a:srgbClr val="0A1628"/>
                </a:solidFill>
                <a:latin typeface="Calibri" pitchFamily="34" charset="0"/>
                <a:ea typeface="Calibri" pitchFamily="34" charset="-122"/>
                <a:cs typeface="Calibri" pitchFamily="34" charset="-120"/>
              </a:rPr>
              <a:t>إِنَّا نَحْنُ نَزَّلْنَا الذِّكْرَ وَإِنَّا لَهُ لَحَافِظُونَ</a:t>
            </a:r>
            <a:endParaRPr lang="en-US" sz="1300" dirty="0"/>
          </a:p>
        </p:txBody>
      </p:sp>
      <p:sp>
        <p:nvSpPr>
          <p:cNvPr id="15" name="Text 13"/>
          <p:cNvSpPr/>
          <p:nvPr/>
        </p:nvSpPr>
        <p:spPr>
          <a:xfrm>
            <a:off x="384048" y="2871216"/>
            <a:ext cx="8229600" cy="274320"/>
          </a:xfrm>
          <a:prstGeom prst="rect">
            <a:avLst/>
          </a:prstGeom>
          <a:noFill/>
          <a:ln/>
        </p:spPr>
        <p:txBody>
          <a:bodyPr wrap="square" rtlCol="0" anchor="ctr"/>
          <a:lstStyle/>
          <a:p>
            <a:pPr marL="0" indent="0">
              <a:buNone/>
            </a:pPr>
            <a:r>
              <a:rPr lang="en-US" sz="1100" i="1" dirty="0">
                <a:solidFill>
                  <a:srgbClr val="0A1628"/>
                </a:solidFill>
                <a:latin typeface="Georgia" pitchFamily="34" charset="0"/>
                <a:ea typeface="Georgia" pitchFamily="34" charset="-122"/>
                <a:cs typeface="Georgia" pitchFamily="34" charset="-120"/>
              </a:rPr>
              <a:t>"Indeed, it is We who sent down the Reminder, and indeed, We will be its Guardian."</a:t>
            </a:r>
            <a:endParaRPr lang="en-US" sz="1100" dirty="0"/>
          </a:p>
        </p:txBody>
      </p:sp>
      <p:sp>
        <p:nvSpPr>
          <p:cNvPr id="16" name="Text 14"/>
          <p:cNvSpPr/>
          <p:nvPr/>
        </p:nvSpPr>
        <p:spPr>
          <a:xfrm>
            <a:off x="384048" y="3163824"/>
            <a:ext cx="8229600" cy="384048"/>
          </a:xfrm>
          <a:prstGeom prst="rect">
            <a:avLst/>
          </a:prstGeom>
          <a:noFill/>
          <a:ln/>
        </p:spPr>
        <p:txBody>
          <a:bodyPr wrap="square" rtlCol="0" anchor="ctr"/>
          <a:lstStyle/>
          <a:p>
            <a:pPr marL="0" indent="0">
              <a:buNone/>
            </a:pPr>
            <a:r>
              <a:rPr lang="en-US" sz="950" dirty="0">
                <a:solidFill>
                  <a:srgbClr val="444444"/>
                </a:solidFill>
                <a:latin typeface="Calibri" pitchFamily="34" charset="0"/>
                <a:ea typeface="Calibri" pitchFamily="34" charset="-122"/>
                <a:cs typeface="Calibri" pitchFamily="34" charset="-120"/>
              </a:rPr>
              <a:t>Al-Suyuti (Al-Itqan) &amp; Ibn al-Jazari (Al-Nashr): preservation includes both written rasm AND recited ada'. The Talaqqi chain IS this mechanism — AI has no place in it.</a:t>
            </a:r>
            <a:endParaRPr lang="en-US" sz="950" dirty="0"/>
          </a:p>
        </p:txBody>
      </p:sp>
      <p:sp>
        <p:nvSpPr>
          <p:cNvPr id="17" name="Shape 15"/>
          <p:cNvSpPr/>
          <p:nvPr/>
        </p:nvSpPr>
        <p:spPr>
          <a:xfrm>
            <a:off x="228600" y="3694176"/>
            <a:ext cx="8686800" cy="1234440"/>
          </a:xfrm>
          <a:prstGeom prst="rect">
            <a:avLst/>
          </a:prstGeom>
          <a:solidFill>
            <a:srgbClr val="FFFFFF"/>
          </a:solidFill>
          <a:ln/>
          <a:effectLst>
            <a:outerShdw blurRad="76200" dist="25400" dir="8100000" algn="bl" rotWithShape="0">
              <a:srgbClr val="000000">
                <a:alpha val="14000"/>
              </a:srgbClr>
            </a:outerShdw>
          </a:effectLst>
        </p:spPr>
      </p:sp>
      <p:sp>
        <p:nvSpPr>
          <p:cNvPr id="18" name="Shape 16"/>
          <p:cNvSpPr/>
          <p:nvPr/>
        </p:nvSpPr>
        <p:spPr>
          <a:xfrm>
            <a:off x="228600" y="3694176"/>
            <a:ext cx="73152" cy="1234440"/>
          </a:xfrm>
          <a:prstGeom prst="rect">
            <a:avLst/>
          </a:prstGeom>
          <a:solidFill>
            <a:srgbClr val="C4622D"/>
          </a:solidFill>
          <a:ln/>
        </p:spPr>
      </p:sp>
      <p:sp>
        <p:nvSpPr>
          <p:cNvPr id="19" name="Text 17"/>
          <p:cNvSpPr/>
          <p:nvPr/>
        </p:nvSpPr>
        <p:spPr>
          <a:xfrm>
            <a:off x="384048" y="3749040"/>
            <a:ext cx="8229600" cy="237744"/>
          </a:xfrm>
          <a:prstGeom prst="rect">
            <a:avLst/>
          </a:prstGeom>
          <a:noFill/>
          <a:ln/>
        </p:spPr>
        <p:txBody>
          <a:bodyPr wrap="square" rtlCol="0" anchor="ctr"/>
          <a:lstStyle/>
          <a:p>
            <a:pPr marL="0" indent="0">
              <a:buNone/>
            </a:pPr>
            <a:r>
              <a:rPr lang="en-US" sz="1050" b="1" dirty="0">
                <a:solidFill>
                  <a:srgbClr val="C4622D"/>
                </a:solidFill>
                <a:latin typeface="Calibri" pitchFamily="34" charset="0"/>
                <a:ea typeface="Calibri" pitchFamily="34" charset="-122"/>
                <a:cs typeface="Calibri" pitchFamily="34" charset="-120"/>
              </a:rPr>
              <a:t>Hadith — Jami al-Tirmidhi No. 2910 (Ibn Masud RA, Hasan Sahih)</a:t>
            </a:r>
            <a:endParaRPr lang="en-US" sz="1050" dirty="0"/>
          </a:p>
        </p:txBody>
      </p:sp>
      <p:sp>
        <p:nvSpPr>
          <p:cNvPr id="20" name="Text 18"/>
          <p:cNvSpPr/>
          <p:nvPr/>
        </p:nvSpPr>
        <p:spPr>
          <a:xfrm>
            <a:off x="384048" y="3968496"/>
            <a:ext cx="8229600" cy="274320"/>
          </a:xfrm>
          <a:prstGeom prst="rect">
            <a:avLst/>
          </a:prstGeom>
          <a:noFill/>
          <a:ln/>
        </p:spPr>
        <p:txBody>
          <a:bodyPr wrap="square" rtlCol="0" anchor="ctr"/>
          <a:lstStyle/>
          <a:p>
            <a:pPr marL="0" indent="0">
              <a:buNone/>
            </a:pPr>
            <a:r>
              <a:rPr lang="en-US" sz="1100" i="1" dirty="0">
                <a:solidFill>
                  <a:srgbClr val="0A1628"/>
                </a:solidFill>
                <a:latin typeface="Georgia" pitchFamily="34" charset="0"/>
                <a:ea typeface="Georgia" pitchFamily="34" charset="-122"/>
                <a:cs typeface="Georgia" pitchFamily="34" charset="-120"/>
              </a:rPr>
              <a:t>"Whoever recites a letter from the Book of Allah will receive a good deed, and a good deed is multiplied by ten."</a:t>
            </a:r>
            <a:endParaRPr lang="en-US" sz="1100" dirty="0"/>
          </a:p>
        </p:txBody>
      </p:sp>
      <p:sp>
        <p:nvSpPr>
          <p:cNvPr id="21" name="Text 19"/>
          <p:cNvSpPr/>
          <p:nvPr/>
        </p:nvSpPr>
        <p:spPr>
          <a:xfrm>
            <a:off x="384048" y="4261104"/>
            <a:ext cx="8229600" cy="384048"/>
          </a:xfrm>
          <a:prstGeom prst="rect">
            <a:avLst/>
          </a:prstGeom>
          <a:noFill/>
          <a:ln/>
        </p:spPr>
        <p:txBody>
          <a:bodyPr wrap="square" rtlCol="0" anchor="ctr"/>
          <a:lstStyle/>
          <a:p>
            <a:pPr marL="0" indent="0">
              <a:buNone/>
            </a:pPr>
            <a:r>
              <a:rPr lang="en-US" sz="950" dirty="0">
                <a:solidFill>
                  <a:srgbClr val="444444"/>
                </a:solidFill>
                <a:latin typeface="Calibri" pitchFamily="34" charset="0"/>
                <a:ea typeface="Calibri" pitchFamily="34" charset="-122"/>
                <a:cs typeface="Calibri" pitchFamily="34" charset="-120"/>
              </a:rPr>
              <a:t>Reward is person-contingent. Presupposes a conscious, accountable agent. AI has no intention, no faith, no spiritual state. It falls entirely outside this reward framework.</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A4731"/>
          </a:solidFill>
          <a:ln/>
        </p:spPr>
      </p:sp>
      <p:sp>
        <p:nvSpPr>
          <p:cNvPr id="3" name="Shape 1"/>
          <p:cNvSpPr/>
          <p:nvPr/>
        </p:nvSpPr>
        <p:spPr>
          <a:xfrm>
            <a:off x="0" y="804672"/>
            <a:ext cx="9144000" cy="54864"/>
          </a:xfrm>
          <a:prstGeom prst="rect">
            <a:avLst/>
          </a:prstGeom>
          <a:solidFill>
            <a:srgbClr val="C9A84C"/>
          </a:solidFill>
          <a:ln/>
        </p:spPr>
      </p:sp>
      <p:sp>
        <p:nvSpPr>
          <p:cNvPr id="4" name="Text 2"/>
          <p:cNvSpPr/>
          <p:nvPr/>
        </p:nvSpPr>
        <p:spPr>
          <a:xfrm>
            <a:off x="320040" y="91440"/>
            <a:ext cx="8503920" cy="621792"/>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The Talaqqi-Musyafahah Doctrine</a:t>
            </a:r>
            <a:endParaRPr lang="en-US" sz="2800" dirty="0"/>
          </a:p>
        </p:txBody>
      </p:sp>
      <p:sp>
        <p:nvSpPr>
          <p:cNvPr id="5" name="Shape 3"/>
          <p:cNvSpPr/>
          <p:nvPr/>
        </p:nvSpPr>
        <p:spPr>
          <a:xfrm>
            <a:off x="256032" y="987552"/>
            <a:ext cx="1508760" cy="1417320"/>
          </a:xfrm>
          <a:prstGeom prst="rect">
            <a:avLst/>
          </a:prstGeom>
          <a:solidFill>
            <a:srgbClr val="C9A84C"/>
          </a:solidFill>
          <a:ln/>
          <a:effectLst>
            <a:outerShdw blurRad="76200" dist="25400" dir="8100000" algn="bl" rotWithShape="0">
              <a:srgbClr val="000000">
                <a:alpha val="14000"/>
              </a:srgbClr>
            </a:outerShdw>
          </a:effectLst>
        </p:spPr>
      </p:sp>
      <p:sp>
        <p:nvSpPr>
          <p:cNvPr id="6" name="Text 4"/>
          <p:cNvSpPr/>
          <p:nvPr/>
        </p:nvSpPr>
        <p:spPr>
          <a:xfrm>
            <a:off x="256032" y="1042416"/>
            <a:ext cx="1508760" cy="38404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Jibreel (AS)</a:t>
            </a:r>
            <a:endParaRPr lang="en-US" sz="1050" dirty="0"/>
          </a:p>
        </p:txBody>
      </p:sp>
      <p:sp>
        <p:nvSpPr>
          <p:cNvPr id="7" name="Text 5"/>
          <p:cNvSpPr/>
          <p:nvPr/>
        </p:nvSpPr>
        <p:spPr>
          <a:xfrm>
            <a:off x="256032" y="1426464"/>
            <a:ext cx="1508760" cy="868680"/>
          </a:xfrm>
          <a:prstGeom prst="rect">
            <a:avLst/>
          </a:prstGeom>
          <a:noFill/>
          <a:ln/>
        </p:spPr>
        <p:txBody>
          <a:bodyPr wrap="square" rtlCol="0" anchor="ctr"/>
          <a:lstStyle/>
          <a:p>
            <a:pPr marL="0" indent="0" algn="ctr">
              <a:buNone/>
            </a:pPr>
            <a:r>
              <a:rPr lang="en-US" sz="850" dirty="0">
                <a:solidFill>
                  <a:srgbClr val="DDDDDD"/>
                </a:solidFill>
                <a:latin typeface="Calibri" pitchFamily="34" charset="0"/>
                <a:ea typeface="Calibri" pitchFamily="34" charset="-122"/>
                <a:cs typeface="Calibri" pitchFamily="34" charset="-120"/>
              </a:rPr>
              <a:t>Revealed orally to the Prophet ﷺ</a:t>
            </a:r>
            <a:endParaRPr lang="en-US" sz="850" dirty="0"/>
          </a:p>
        </p:txBody>
      </p:sp>
      <p:sp>
        <p:nvSpPr>
          <p:cNvPr id="8" name="Shape 6"/>
          <p:cNvSpPr/>
          <p:nvPr/>
        </p:nvSpPr>
        <p:spPr>
          <a:xfrm>
            <a:off x="1764792" y="1700784"/>
            <a:ext cx="201168" cy="0"/>
          </a:xfrm>
          <a:prstGeom prst="line">
            <a:avLst/>
          </a:prstGeom>
          <a:noFill/>
          <a:ln w="31750">
            <a:solidFill>
              <a:srgbClr val="C9A84C"/>
            </a:solidFill>
            <a:prstDash val="solid"/>
          </a:ln>
        </p:spPr>
      </p:sp>
      <p:sp>
        <p:nvSpPr>
          <p:cNvPr id="9" name="Shape 7"/>
          <p:cNvSpPr/>
          <p:nvPr/>
        </p:nvSpPr>
        <p:spPr>
          <a:xfrm>
            <a:off x="1965960" y="987552"/>
            <a:ext cx="1508760" cy="1417320"/>
          </a:xfrm>
          <a:prstGeom prst="rect">
            <a:avLst/>
          </a:prstGeom>
          <a:solidFill>
            <a:srgbClr val="2D9B6A"/>
          </a:solidFill>
          <a:ln/>
          <a:effectLst>
            <a:outerShdw blurRad="76200" dist="25400" dir="8100000" algn="bl" rotWithShape="0">
              <a:srgbClr val="000000">
                <a:alpha val="14000"/>
              </a:srgbClr>
            </a:outerShdw>
          </a:effectLst>
        </p:spPr>
      </p:sp>
      <p:sp>
        <p:nvSpPr>
          <p:cNvPr id="10" name="Text 8"/>
          <p:cNvSpPr/>
          <p:nvPr/>
        </p:nvSpPr>
        <p:spPr>
          <a:xfrm>
            <a:off x="1965960" y="1042416"/>
            <a:ext cx="1508760" cy="38404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Prophet ﷺ</a:t>
            </a:r>
            <a:endParaRPr lang="en-US" sz="1050" dirty="0"/>
          </a:p>
        </p:txBody>
      </p:sp>
      <p:sp>
        <p:nvSpPr>
          <p:cNvPr id="11" name="Text 9"/>
          <p:cNvSpPr/>
          <p:nvPr/>
        </p:nvSpPr>
        <p:spPr>
          <a:xfrm>
            <a:off x="1965960" y="1426464"/>
            <a:ext cx="1508760" cy="868680"/>
          </a:xfrm>
          <a:prstGeom prst="rect">
            <a:avLst/>
          </a:prstGeom>
          <a:noFill/>
          <a:ln/>
        </p:spPr>
        <p:txBody>
          <a:bodyPr wrap="square" rtlCol="0" anchor="ctr"/>
          <a:lstStyle/>
          <a:p>
            <a:pPr marL="0" indent="0" algn="ctr">
              <a:buNone/>
            </a:pPr>
            <a:r>
              <a:rPr lang="en-US" sz="850" dirty="0">
                <a:solidFill>
                  <a:srgbClr val="DDDDDD"/>
                </a:solidFill>
                <a:latin typeface="Calibri" pitchFamily="34" charset="0"/>
                <a:ea typeface="Calibri" pitchFamily="34" charset="-122"/>
                <a:cs typeface="Calibri" pitchFamily="34" charset="-120"/>
              </a:rPr>
              <a:t>Reviewed annually with Jibreel every Ramadan (Bukhari 3554)</a:t>
            </a:r>
            <a:endParaRPr lang="en-US" sz="850" dirty="0"/>
          </a:p>
        </p:txBody>
      </p:sp>
      <p:sp>
        <p:nvSpPr>
          <p:cNvPr id="12" name="Shape 10"/>
          <p:cNvSpPr/>
          <p:nvPr/>
        </p:nvSpPr>
        <p:spPr>
          <a:xfrm>
            <a:off x="3474720" y="1700784"/>
            <a:ext cx="201168" cy="0"/>
          </a:xfrm>
          <a:prstGeom prst="line">
            <a:avLst/>
          </a:prstGeom>
          <a:noFill/>
          <a:ln w="31750">
            <a:solidFill>
              <a:srgbClr val="C9A84C"/>
            </a:solidFill>
            <a:prstDash val="solid"/>
          </a:ln>
        </p:spPr>
      </p:sp>
      <p:sp>
        <p:nvSpPr>
          <p:cNvPr id="13" name="Shape 11"/>
          <p:cNvSpPr/>
          <p:nvPr/>
        </p:nvSpPr>
        <p:spPr>
          <a:xfrm>
            <a:off x="3675888" y="987552"/>
            <a:ext cx="1508760" cy="1417320"/>
          </a:xfrm>
          <a:prstGeom prst="rect">
            <a:avLst/>
          </a:prstGeom>
          <a:solidFill>
            <a:srgbClr val="1E6B47"/>
          </a:solidFill>
          <a:ln/>
          <a:effectLst>
            <a:outerShdw blurRad="76200" dist="25400" dir="8100000" algn="bl" rotWithShape="0">
              <a:srgbClr val="000000">
                <a:alpha val="14000"/>
              </a:srgbClr>
            </a:outerShdw>
          </a:effectLst>
        </p:spPr>
      </p:sp>
      <p:sp>
        <p:nvSpPr>
          <p:cNvPr id="14" name="Text 12"/>
          <p:cNvSpPr/>
          <p:nvPr/>
        </p:nvSpPr>
        <p:spPr>
          <a:xfrm>
            <a:off x="3675888" y="1042416"/>
            <a:ext cx="1508760" cy="38404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Companions</a:t>
            </a:r>
            <a:endParaRPr lang="en-US" sz="1050" dirty="0"/>
          </a:p>
        </p:txBody>
      </p:sp>
      <p:sp>
        <p:nvSpPr>
          <p:cNvPr id="15" name="Text 13"/>
          <p:cNvSpPr/>
          <p:nvPr/>
        </p:nvSpPr>
        <p:spPr>
          <a:xfrm>
            <a:off x="3675888" y="1426464"/>
            <a:ext cx="1508760" cy="868680"/>
          </a:xfrm>
          <a:prstGeom prst="rect">
            <a:avLst/>
          </a:prstGeom>
          <a:noFill/>
          <a:ln/>
        </p:spPr>
        <p:txBody>
          <a:bodyPr wrap="square" rtlCol="0" anchor="ctr"/>
          <a:lstStyle/>
          <a:p>
            <a:pPr marL="0" indent="0" algn="ctr">
              <a:buNone/>
            </a:pPr>
            <a:r>
              <a:rPr lang="en-US" sz="850" dirty="0">
                <a:solidFill>
                  <a:srgbClr val="DDDDDD"/>
                </a:solidFill>
                <a:latin typeface="Calibri" pitchFamily="34" charset="0"/>
                <a:ea typeface="Calibri" pitchFamily="34" charset="-122"/>
                <a:cs typeface="Calibri" pitchFamily="34" charset="-120"/>
              </a:rPr>
              <a:t>Ibn Masud, Ubayy ibn Ka'b, Zayd ibn Thabit (RA)</a:t>
            </a:r>
            <a:endParaRPr lang="en-US" sz="850" dirty="0"/>
          </a:p>
        </p:txBody>
      </p:sp>
      <p:sp>
        <p:nvSpPr>
          <p:cNvPr id="16" name="Shape 14"/>
          <p:cNvSpPr/>
          <p:nvPr/>
        </p:nvSpPr>
        <p:spPr>
          <a:xfrm>
            <a:off x="5184648" y="1700784"/>
            <a:ext cx="201168" cy="0"/>
          </a:xfrm>
          <a:prstGeom prst="line">
            <a:avLst/>
          </a:prstGeom>
          <a:noFill/>
          <a:ln w="31750">
            <a:solidFill>
              <a:srgbClr val="C9A84C"/>
            </a:solidFill>
            <a:prstDash val="solid"/>
          </a:ln>
        </p:spPr>
      </p:sp>
      <p:sp>
        <p:nvSpPr>
          <p:cNvPr id="17" name="Shape 15"/>
          <p:cNvSpPr/>
          <p:nvPr/>
        </p:nvSpPr>
        <p:spPr>
          <a:xfrm>
            <a:off x="5385816" y="987552"/>
            <a:ext cx="1508760" cy="1417320"/>
          </a:xfrm>
          <a:prstGeom prst="rect">
            <a:avLst/>
          </a:prstGeom>
          <a:solidFill>
            <a:srgbClr val="1A4731"/>
          </a:solidFill>
          <a:ln/>
          <a:effectLst>
            <a:outerShdw blurRad="76200" dist="25400" dir="8100000" algn="bl" rotWithShape="0">
              <a:srgbClr val="000000">
                <a:alpha val="14000"/>
              </a:srgbClr>
            </a:outerShdw>
          </a:effectLst>
        </p:spPr>
      </p:sp>
      <p:sp>
        <p:nvSpPr>
          <p:cNvPr id="18" name="Text 16"/>
          <p:cNvSpPr/>
          <p:nvPr/>
        </p:nvSpPr>
        <p:spPr>
          <a:xfrm>
            <a:off x="5385816" y="1042416"/>
            <a:ext cx="1508760" cy="38404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Tabi'een</a:t>
            </a:r>
            <a:endParaRPr lang="en-US" sz="1050" dirty="0"/>
          </a:p>
        </p:txBody>
      </p:sp>
      <p:sp>
        <p:nvSpPr>
          <p:cNvPr id="19" name="Text 17"/>
          <p:cNvSpPr/>
          <p:nvPr/>
        </p:nvSpPr>
        <p:spPr>
          <a:xfrm>
            <a:off x="5385816" y="1426464"/>
            <a:ext cx="1508760" cy="868680"/>
          </a:xfrm>
          <a:prstGeom prst="rect">
            <a:avLst/>
          </a:prstGeom>
          <a:noFill/>
          <a:ln/>
        </p:spPr>
        <p:txBody>
          <a:bodyPr wrap="square" rtlCol="0" anchor="ctr"/>
          <a:lstStyle/>
          <a:p>
            <a:pPr marL="0" indent="0" algn="ctr">
              <a:buNone/>
            </a:pPr>
            <a:r>
              <a:rPr lang="en-US" sz="850" dirty="0">
                <a:solidFill>
                  <a:srgbClr val="DDDDDD"/>
                </a:solidFill>
                <a:latin typeface="Calibri" pitchFamily="34" charset="0"/>
                <a:ea typeface="Calibri" pitchFamily="34" charset="-122"/>
                <a:cs typeface="Calibri" pitchFamily="34" charset="-120"/>
              </a:rPr>
              <a:t>Imam Ibn al-Jazari (d.833AH) — Al-Nashr fil Qira'at</a:t>
            </a:r>
            <a:endParaRPr lang="en-US" sz="850" dirty="0"/>
          </a:p>
        </p:txBody>
      </p:sp>
      <p:sp>
        <p:nvSpPr>
          <p:cNvPr id="20" name="Shape 18"/>
          <p:cNvSpPr/>
          <p:nvPr/>
        </p:nvSpPr>
        <p:spPr>
          <a:xfrm>
            <a:off x="6894576" y="1700784"/>
            <a:ext cx="201168" cy="0"/>
          </a:xfrm>
          <a:prstGeom prst="line">
            <a:avLst/>
          </a:prstGeom>
          <a:noFill/>
          <a:ln w="31750">
            <a:solidFill>
              <a:srgbClr val="C9A84C"/>
            </a:solidFill>
            <a:prstDash val="solid"/>
          </a:ln>
        </p:spPr>
      </p:sp>
      <p:sp>
        <p:nvSpPr>
          <p:cNvPr id="21" name="Shape 19"/>
          <p:cNvSpPr/>
          <p:nvPr/>
        </p:nvSpPr>
        <p:spPr>
          <a:xfrm>
            <a:off x="7095744" y="987552"/>
            <a:ext cx="1508760" cy="1417320"/>
          </a:xfrm>
          <a:prstGeom prst="rect">
            <a:avLst/>
          </a:prstGeom>
          <a:solidFill>
            <a:srgbClr val="1A3D28"/>
          </a:solidFill>
          <a:ln/>
          <a:effectLst>
            <a:outerShdw blurRad="76200" dist="25400" dir="8100000" algn="bl" rotWithShape="0">
              <a:srgbClr val="000000">
                <a:alpha val="14000"/>
              </a:srgbClr>
            </a:outerShdw>
          </a:effectLst>
        </p:spPr>
      </p:sp>
      <p:sp>
        <p:nvSpPr>
          <p:cNvPr id="22" name="Text 20"/>
          <p:cNvSpPr/>
          <p:nvPr/>
        </p:nvSpPr>
        <p:spPr>
          <a:xfrm>
            <a:off x="7095744" y="1042416"/>
            <a:ext cx="1508760" cy="38404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Modern Qurra'</a:t>
            </a:r>
            <a:endParaRPr lang="en-US" sz="1050" dirty="0"/>
          </a:p>
        </p:txBody>
      </p:sp>
      <p:sp>
        <p:nvSpPr>
          <p:cNvPr id="23" name="Text 21"/>
          <p:cNvSpPr/>
          <p:nvPr/>
        </p:nvSpPr>
        <p:spPr>
          <a:xfrm>
            <a:off x="7095744" y="1426464"/>
            <a:ext cx="1508760" cy="868680"/>
          </a:xfrm>
          <a:prstGeom prst="rect">
            <a:avLst/>
          </a:prstGeom>
          <a:noFill/>
          <a:ln/>
        </p:spPr>
        <p:txBody>
          <a:bodyPr wrap="square" rtlCol="0" anchor="ctr"/>
          <a:lstStyle/>
          <a:p>
            <a:pPr marL="0" indent="0" algn="ctr">
              <a:buNone/>
            </a:pPr>
            <a:r>
              <a:rPr lang="en-US" sz="850" dirty="0">
                <a:solidFill>
                  <a:srgbClr val="DDDDDD"/>
                </a:solidFill>
                <a:latin typeface="Calibri" pitchFamily="34" charset="0"/>
                <a:ea typeface="Calibri" pitchFamily="34" charset="-122"/>
                <a:cs typeface="Calibri" pitchFamily="34" charset="-120"/>
              </a:rPr>
              <a:t>Ijazah chain traceable to Prophet ﷺ — Jamia Qiraat Pakistan</a:t>
            </a:r>
            <a:endParaRPr lang="en-US" sz="850" dirty="0"/>
          </a:p>
        </p:txBody>
      </p:sp>
      <p:sp>
        <p:nvSpPr>
          <p:cNvPr id="24" name="Text 22"/>
          <p:cNvSpPr/>
          <p:nvPr/>
        </p:nvSpPr>
        <p:spPr>
          <a:xfrm>
            <a:off x="256032" y="2560320"/>
            <a:ext cx="8595360" cy="329184"/>
          </a:xfrm>
          <a:prstGeom prst="rect">
            <a:avLst/>
          </a:prstGeom>
          <a:noFill/>
          <a:ln/>
        </p:spPr>
        <p:txBody>
          <a:bodyPr wrap="square" rtlCol="0" anchor="ctr"/>
          <a:lstStyle/>
          <a:p>
            <a:pPr marL="0" indent="0">
              <a:buNone/>
            </a:pPr>
            <a:r>
              <a:rPr lang="en-US" sz="1400" b="1" dirty="0">
                <a:solidFill>
                  <a:srgbClr val="E8C97A"/>
                </a:solidFill>
                <a:latin typeface="Georgia" pitchFamily="34" charset="0"/>
                <a:ea typeface="Georgia" pitchFamily="34" charset="-122"/>
                <a:cs typeface="Georgia" pitchFamily="34" charset="-120"/>
              </a:rPr>
              <a:t>AI Has NONE of the Four Pillars Required:</a:t>
            </a:r>
            <a:endParaRPr lang="en-US" sz="1400" dirty="0"/>
          </a:p>
        </p:txBody>
      </p:sp>
      <p:sp>
        <p:nvSpPr>
          <p:cNvPr id="25" name="Shape 23"/>
          <p:cNvSpPr/>
          <p:nvPr/>
        </p:nvSpPr>
        <p:spPr>
          <a:xfrm>
            <a:off x="256032" y="2980944"/>
            <a:ext cx="4251960" cy="804672"/>
          </a:xfrm>
          <a:prstGeom prst="rect">
            <a:avLst/>
          </a:prstGeom>
          <a:solidFill>
            <a:srgbClr val="1A0808"/>
          </a:solidFill>
          <a:ln/>
          <a:effectLst>
            <a:outerShdw blurRad="76200" dist="25400" dir="8100000" algn="bl" rotWithShape="0">
              <a:srgbClr val="000000">
                <a:alpha val="14000"/>
              </a:srgbClr>
            </a:outerShdw>
          </a:effectLst>
        </p:spPr>
        <p:txBody>
          <a:bodyPr/>
          <a:lstStyle/>
          <a:p>
            <a:endParaRPr lang="en-US" dirty="0"/>
          </a:p>
        </p:txBody>
      </p:sp>
      <p:sp>
        <p:nvSpPr>
          <p:cNvPr id="26" name="Shape 24"/>
          <p:cNvSpPr/>
          <p:nvPr/>
        </p:nvSpPr>
        <p:spPr>
          <a:xfrm>
            <a:off x="256032" y="2980944"/>
            <a:ext cx="73152" cy="804672"/>
          </a:xfrm>
          <a:prstGeom prst="rect">
            <a:avLst/>
          </a:prstGeom>
          <a:solidFill>
            <a:srgbClr val="8B2222"/>
          </a:solidFill>
          <a:ln/>
        </p:spPr>
      </p:sp>
      <p:sp>
        <p:nvSpPr>
          <p:cNvPr id="27" name="Text 25"/>
          <p:cNvSpPr/>
          <p:nvPr/>
        </p:nvSpPr>
        <p:spPr>
          <a:xfrm>
            <a:off x="420624" y="3035808"/>
            <a:ext cx="3977640" cy="274320"/>
          </a:xfrm>
          <a:prstGeom prst="rect">
            <a:avLst/>
          </a:prstGeom>
          <a:noFill/>
          <a:ln/>
        </p:spPr>
        <p:txBody>
          <a:bodyPr wrap="square" rtlCol="0" anchor="ctr"/>
          <a:lstStyle/>
          <a:p>
            <a:pPr marL="0" indent="0">
              <a:buNone/>
            </a:pPr>
            <a:r>
              <a:rPr lang="en-US" sz="1200" b="1" dirty="0">
                <a:solidFill>
                  <a:srgbClr val="FFFF00"/>
                </a:solidFill>
                <a:latin typeface="Calibri" pitchFamily="34" charset="0"/>
                <a:ea typeface="Calibri" pitchFamily="34" charset="-122"/>
                <a:cs typeface="Calibri" pitchFamily="34" charset="-120"/>
              </a:rPr>
              <a:t>No Sanad</a:t>
            </a:r>
            <a:endParaRPr lang="en-US" sz="1200" dirty="0">
              <a:solidFill>
                <a:srgbClr val="FFFF00"/>
              </a:solidFill>
            </a:endParaRPr>
          </a:p>
        </p:txBody>
      </p:sp>
      <p:sp>
        <p:nvSpPr>
          <p:cNvPr id="28" name="Text 26"/>
          <p:cNvSpPr/>
          <p:nvPr/>
        </p:nvSpPr>
        <p:spPr>
          <a:xfrm>
            <a:off x="420624" y="3328416"/>
            <a:ext cx="3977640" cy="384048"/>
          </a:xfrm>
          <a:prstGeom prst="rect">
            <a:avLst/>
          </a:prstGeom>
          <a:noFill/>
          <a:ln/>
        </p:spPr>
        <p:txBody>
          <a:bodyPr wrap="square" rtlCol="0" anchor="ctr"/>
          <a:lstStyle/>
          <a:p>
            <a:pPr marL="0" indent="0">
              <a:buNone/>
            </a:pPr>
            <a:r>
              <a:rPr lang="en-US" sz="1000" dirty="0">
                <a:solidFill>
                  <a:srgbClr val="CCBBBB"/>
                </a:solidFill>
                <a:latin typeface="Calibri" pitchFamily="34" charset="0"/>
                <a:ea typeface="Calibri" pitchFamily="34" charset="-122"/>
                <a:cs typeface="Calibri" pitchFamily="34" charset="-120"/>
              </a:rPr>
              <a:t>Trained on data — not transmitted through a human pedagogical chain</a:t>
            </a:r>
            <a:endParaRPr lang="en-US" sz="1000" dirty="0"/>
          </a:p>
        </p:txBody>
      </p:sp>
      <p:sp>
        <p:nvSpPr>
          <p:cNvPr id="29" name="Shape 27"/>
          <p:cNvSpPr/>
          <p:nvPr/>
        </p:nvSpPr>
        <p:spPr>
          <a:xfrm>
            <a:off x="4709160" y="2980944"/>
            <a:ext cx="4251960" cy="804672"/>
          </a:xfrm>
          <a:prstGeom prst="rect">
            <a:avLst/>
          </a:prstGeom>
          <a:solidFill>
            <a:srgbClr val="1A0808"/>
          </a:solidFill>
          <a:ln/>
          <a:effectLst>
            <a:outerShdw blurRad="76200" dist="25400" dir="8100000" algn="bl" rotWithShape="0">
              <a:srgbClr val="000000">
                <a:alpha val="14000"/>
              </a:srgbClr>
            </a:outerShdw>
          </a:effectLst>
        </p:spPr>
      </p:sp>
      <p:sp>
        <p:nvSpPr>
          <p:cNvPr id="30" name="Shape 28"/>
          <p:cNvSpPr/>
          <p:nvPr/>
        </p:nvSpPr>
        <p:spPr>
          <a:xfrm>
            <a:off x="4709160" y="2980944"/>
            <a:ext cx="73152" cy="804672"/>
          </a:xfrm>
          <a:prstGeom prst="rect">
            <a:avLst/>
          </a:prstGeom>
          <a:solidFill>
            <a:srgbClr val="8B2222"/>
          </a:solidFill>
          <a:ln/>
        </p:spPr>
      </p:sp>
      <p:sp>
        <p:nvSpPr>
          <p:cNvPr id="31" name="Text 29"/>
          <p:cNvSpPr/>
          <p:nvPr/>
        </p:nvSpPr>
        <p:spPr>
          <a:xfrm>
            <a:off x="4873752" y="3035808"/>
            <a:ext cx="3977640" cy="274320"/>
          </a:xfrm>
          <a:prstGeom prst="rect">
            <a:avLst/>
          </a:prstGeom>
          <a:noFill/>
          <a:ln/>
        </p:spPr>
        <p:txBody>
          <a:bodyPr wrap="square" rtlCol="0" anchor="ctr"/>
          <a:lstStyle/>
          <a:p>
            <a:pPr marL="0" indent="0">
              <a:buNone/>
            </a:pPr>
            <a:r>
              <a:rPr lang="en-US" sz="1200" b="1" dirty="0">
                <a:solidFill>
                  <a:srgbClr val="FFFF00"/>
                </a:solidFill>
                <a:latin typeface="Calibri" pitchFamily="34" charset="0"/>
                <a:ea typeface="Calibri" pitchFamily="34" charset="-122"/>
                <a:cs typeface="Calibri" pitchFamily="34" charset="-120"/>
              </a:rPr>
              <a:t>No Ijazah</a:t>
            </a:r>
            <a:endParaRPr lang="en-US" sz="1200" dirty="0">
              <a:solidFill>
                <a:srgbClr val="FFFF00"/>
              </a:solidFill>
            </a:endParaRPr>
          </a:p>
        </p:txBody>
      </p:sp>
      <p:sp>
        <p:nvSpPr>
          <p:cNvPr id="32" name="Text 30"/>
          <p:cNvSpPr/>
          <p:nvPr/>
        </p:nvSpPr>
        <p:spPr>
          <a:xfrm>
            <a:off x="4873752" y="3328416"/>
            <a:ext cx="3977640" cy="384048"/>
          </a:xfrm>
          <a:prstGeom prst="rect">
            <a:avLst/>
          </a:prstGeom>
          <a:noFill/>
          <a:ln/>
        </p:spPr>
        <p:txBody>
          <a:bodyPr wrap="square" rtlCol="0" anchor="ctr"/>
          <a:lstStyle/>
          <a:p>
            <a:pPr marL="0" indent="0">
              <a:buNone/>
            </a:pPr>
            <a:r>
              <a:rPr lang="en-US" sz="1000" dirty="0">
                <a:solidFill>
                  <a:srgbClr val="CCBBBB"/>
                </a:solidFill>
                <a:latin typeface="Calibri" pitchFamily="34" charset="0"/>
                <a:ea typeface="Calibri" pitchFamily="34" charset="-122"/>
                <a:cs typeface="Calibri" pitchFamily="34" charset="-120"/>
              </a:rPr>
              <a:t>Holds no scholarly licence; never assessed by a qualified Qari</a:t>
            </a:r>
            <a:endParaRPr lang="en-US" sz="1000" dirty="0"/>
          </a:p>
        </p:txBody>
      </p:sp>
      <p:sp>
        <p:nvSpPr>
          <p:cNvPr id="33" name="Shape 31"/>
          <p:cNvSpPr/>
          <p:nvPr/>
        </p:nvSpPr>
        <p:spPr>
          <a:xfrm>
            <a:off x="256032" y="3913632"/>
            <a:ext cx="4251960" cy="804672"/>
          </a:xfrm>
          <a:prstGeom prst="rect">
            <a:avLst/>
          </a:prstGeom>
          <a:solidFill>
            <a:srgbClr val="1A0808"/>
          </a:solidFill>
          <a:ln/>
          <a:effectLst>
            <a:outerShdw blurRad="76200" dist="25400" dir="8100000" algn="bl" rotWithShape="0">
              <a:srgbClr val="000000">
                <a:alpha val="14000"/>
              </a:srgbClr>
            </a:outerShdw>
          </a:effectLst>
        </p:spPr>
      </p:sp>
      <p:sp>
        <p:nvSpPr>
          <p:cNvPr id="34" name="Shape 32"/>
          <p:cNvSpPr/>
          <p:nvPr/>
        </p:nvSpPr>
        <p:spPr>
          <a:xfrm>
            <a:off x="256032" y="3913632"/>
            <a:ext cx="73152" cy="804672"/>
          </a:xfrm>
          <a:prstGeom prst="rect">
            <a:avLst/>
          </a:prstGeom>
          <a:solidFill>
            <a:srgbClr val="8B2222"/>
          </a:solidFill>
          <a:ln/>
        </p:spPr>
      </p:sp>
      <p:sp>
        <p:nvSpPr>
          <p:cNvPr id="35" name="Text 33"/>
          <p:cNvSpPr/>
          <p:nvPr/>
        </p:nvSpPr>
        <p:spPr>
          <a:xfrm>
            <a:off x="420624" y="3968496"/>
            <a:ext cx="3977640" cy="274320"/>
          </a:xfrm>
          <a:prstGeom prst="rect">
            <a:avLst/>
          </a:prstGeom>
          <a:noFill/>
          <a:ln/>
        </p:spPr>
        <p:txBody>
          <a:bodyPr wrap="square" rtlCol="0" anchor="ctr"/>
          <a:lstStyle/>
          <a:p>
            <a:pPr marL="0" indent="0">
              <a:buNone/>
            </a:pPr>
            <a:r>
              <a:rPr lang="en-US" sz="1200" b="1" dirty="0">
                <a:solidFill>
                  <a:srgbClr val="FFFF00"/>
                </a:solidFill>
                <a:latin typeface="Calibri" pitchFamily="34" charset="0"/>
                <a:ea typeface="Calibri" pitchFamily="34" charset="-122"/>
                <a:cs typeface="Calibri" pitchFamily="34" charset="-120"/>
              </a:rPr>
              <a:t>No Niyyah</a:t>
            </a:r>
            <a:endParaRPr lang="en-US" sz="1200" dirty="0">
              <a:solidFill>
                <a:srgbClr val="FFFF00"/>
              </a:solidFill>
            </a:endParaRPr>
          </a:p>
        </p:txBody>
      </p:sp>
      <p:sp>
        <p:nvSpPr>
          <p:cNvPr id="36" name="Text 34"/>
          <p:cNvSpPr/>
          <p:nvPr/>
        </p:nvSpPr>
        <p:spPr>
          <a:xfrm>
            <a:off x="420624" y="4261104"/>
            <a:ext cx="3977640" cy="384048"/>
          </a:xfrm>
          <a:prstGeom prst="rect">
            <a:avLst/>
          </a:prstGeom>
          <a:noFill/>
          <a:ln/>
        </p:spPr>
        <p:txBody>
          <a:bodyPr wrap="square" rtlCol="0" anchor="ctr"/>
          <a:lstStyle/>
          <a:p>
            <a:pPr marL="0" indent="0">
              <a:buNone/>
            </a:pPr>
            <a:r>
              <a:rPr lang="en-US" sz="1000" dirty="0">
                <a:solidFill>
                  <a:srgbClr val="CCBBBB"/>
                </a:solidFill>
                <a:latin typeface="Calibri" pitchFamily="34" charset="0"/>
                <a:ea typeface="Calibri" pitchFamily="34" charset="-122"/>
                <a:cs typeface="Calibri" pitchFamily="34" charset="-120"/>
              </a:rPr>
              <a:t>Has zero conscious intention — recitation is an act of worship; AI cannot worship</a:t>
            </a:r>
            <a:endParaRPr lang="en-US" sz="1000" dirty="0"/>
          </a:p>
        </p:txBody>
      </p:sp>
      <p:sp>
        <p:nvSpPr>
          <p:cNvPr id="37" name="Shape 35"/>
          <p:cNvSpPr/>
          <p:nvPr/>
        </p:nvSpPr>
        <p:spPr>
          <a:xfrm>
            <a:off x="4709160" y="3913632"/>
            <a:ext cx="4251960" cy="804672"/>
          </a:xfrm>
          <a:prstGeom prst="rect">
            <a:avLst/>
          </a:prstGeom>
          <a:solidFill>
            <a:srgbClr val="1A0808"/>
          </a:solidFill>
          <a:ln/>
          <a:effectLst>
            <a:outerShdw blurRad="76200" dist="25400" dir="8100000" algn="bl" rotWithShape="0">
              <a:srgbClr val="000000">
                <a:alpha val="14000"/>
              </a:srgbClr>
            </a:outerShdw>
          </a:effectLst>
        </p:spPr>
      </p:sp>
      <p:sp>
        <p:nvSpPr>
          <p:cNvPr id="38" name="Shape 36"/>
          <p:cNvSpPr/>
          <p:nvPr/>
        </p:nvSpPr>
        <p:spPr>
          <a:xfrm>
            <a:off x="4709160" y="3913632"/>
            <a:ext cx="73152" cy="804672"/>
          </a:xfrm>
          <a:prstGeom prst="rect">
            <a:avLst/>
          </a:prstGeom>
          <a:solidFill>
            <a:srgbClr val="8B2222"/>
          </a:solidFill>
          <a:ln/>
        </p:spPr>
      </p:sp>
      <p:sp>
        <p:nvSpPr>
          <p:cNvPr id="39" name="Text 37"/>
          <p:cNvSpPr/>
          <p:nvPr/>
        </p:nvSpPr>
        <p:spPr>
          <a:xfrm>
            <a:off x="4873752" y="3968496"/>
            <a:ext cx="3977640" cy="274320"/>
          </a:xfrm>
          <a:prstGeom prst="rect">
            <a:avLst/>
          </a:prstGeom>
          <a:noFill/>
          <a:ln/>
        </p:spPr>
        <p:txBody>
          <a:bodyPr wrap="square" rtlCol="0" anchor="ctr"/>
          <a:lstStyle/>
          <a:p>
            <a:pPr marL="0" indent="0">
              <a:buNone/>
            </a:pPr>
            <a:r>
              <a:rPr lang="en-US" sz="1200" b="1" dirty="0">
                <a:solidFill>
                  <a:srgbClr val="FFFF00"/>
                </a:solidFill>
                <a:latin typeface="Calibri" pitchFamily="34" charset="0"/>
                <a:ea typeface="Calibri" pitchFamily="34" charset="-122"/>
                <a:cs typeface="Calibri" pitchFamily="34" charset="-120"/>
              </a:rPr>
              <a:t>No Mutaaba'ah</a:t>
            </a:r>
            <a:endParaRPr lang="en-US" sz="1200" dirty="0">
              <a:solidFill>
                <a:srgbClr val="FFFF00"/>
              </a:solidFill>
            </a:endParaRPr>
          </a:p>
        </p:txBody>
      </p:sp>
      <p:sp>
        <p:nvSpPr>
          <p:cNvPr id="40" name="Text 38"/>
          <p:cNvSpPr/>
          <p:nvPr/>
        </p:nvSpPr>
        <p:spPr>
          <a:xfrm>
            <a:off x="4873752" y="4261104"/>
            <a:ext cx="3977640" cy="384048"/>
          </a:xfrm>
          <a:prstGeom prst="rect">
            <a:avLst/>
          </a:prstGeom>
          <a:noFill/>
          <a:ln/>
        </p:spPr>
        <p:txBody>
          <a:bodyPr wrap="square" rtlCol="0" anchor="ctr"/>
          <a:lstStyle/>
          <a:p>
            <a:pPr marL="0" indent="0">
              <a:buNone/>
            </a:pPr>
            <a:r>
              <a:rPr lang="en-US" sz="1000" dirty="0">
                <a:solidFill>
                  <a:srgbClr val="CCBBBB"/>
                </a:solidFill>
                <a:latin typeface="Calibri" pitchFamily="34" charset="0"/>
                <a:ea typeface="Calibri" pitchFamily="34" charset="-122"/>
                <a:cs typeface="Calibri" pitchFamily="34" charset="-120"/>
              </a:rPr>
              <a:t>Static post-training; cannot replicate the Prophet's annual Jibreel review</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8EE"/>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A4731"/>
          </a:solidFill>
          <a:ln/>
        </p:spPr>
      </p:sp>
      <p:sp>
        <p:nvSpPr>
          <p:cNvPr id="3" name="Shape 1"/>
          <p:cNvSpPr/>
          <p:nvPr/>
        </p:nvSpPr>
        <p:spPr>
          <a:xfrm>
            <a:off x="0" y="804672"/>
            <a:ext cx="9144000" cy="54864"/>
          </a:xfrm>
          <a:prstGeom prst="rect">
            <a:avLst/>
          </a:prstGeom>
          <a:solidFill>
            <a:srgbClr val="C9A84C"/>
          </a:solidFill>
          <a:ln/>
        </p:spPr>
      </p:sp>
      <p:sp>
        <p:nvSpPr>
          <p:cNvPr id="4" name="Text 2"/>
          <p:cNvSpPr/>
          <p:nvPr/>
        </p:nvSpPr>
        <p:spPr>
          <a:xfrm>
            <a:off x="320040" y="91440"/>
            <a:ext cx="8503920" cy="621792"/>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Global Scholarly Positions</a:t>
            </a:r>
            <a:endParaRPr lang="en-US" sz="2800" dirty="0"/>
          </a:p>
        </p:txBody>
      </p:sp>
      <p:pic>
        <p:nvPicPr>
          <p:cNvPr id="5" name="Image 0" descr="preencoded.png"/>
          <p:cNvPicPr>
            <a:picLocks noChangeAspect="1"/>
          </p:cNvPicPr>
          <p:nvPr/>
        </p:nvPicPr>
        <p:blipFill>
          <a:blip r:embed="rId3"/>
          <a:stretch>
            <a:fillRect/>
          </a:stretch>
        </p:blipFill>
        <p:spPr>
          <a:xfrm>
            <a:off x="8229600" y="91440"/>
            <a:ext cx="685800" cy="685800"/>
          </a:xfrm>
          <a:prstGeom prst="rect">
            <a:avLst/>
          </a:prstGeom>
        </p:spPr>
      </p:pic>
      <p:sp>
        <p:nvSpPr>
          <p:cNvPr id="13" name="Shape 10"/>
          <p:cNvSpPr/>
          <p:nvPr/>
        </p:nvSpPr>
        <p:spPr>
          <a:xfrm>
            <a:off x="4709160" y="987552"/>
            <a:ext cx="4251960" cy="1874520"/>
          </a:xfrm>
          <a:prstGeom prst="rect">
            <a:avLst/>
          </a:prstGeom>
          <a:solidFill>
            <a:srgbClr val="FFFFFF"/>
          </a:solidFill>
          <a:ln/>
          <a:effectLst>
            <a:outerShdw blurRad="76200" dist="25400" dir="8100000" algn="bl" rotWithShape="0">
              <a:srgbClr val="000000">
                <a:alpha val="14000"/>
              </a:srgbClr>
            </a:outerShdw>
          </a:effectLst>
        </p:spPr>
      </p:sp>
      <p:sp>
        <p:nvSpPr>
          <p:cNvPr id="14" name="Shape 11"/>
          <p:cNvSpPr/>
          <p:nvPr/>
        </p:nvSpPr>
        <p:spPr>
          <a:xfrm>
            <a:off x="4709160" y="987552"/>
            <a:ext cx="73152" cy="1874520"/>
          </a:xfrm>
          <a:prstGeom prst="rect">
            <a:avLst/>
          </a:prstGeom>
          <a:solidFill>
            <a:srgbClr val="1E6B47"/>
          </a:solidFill>
          <a:ln/>
        </p:spPr>
      </p:sp>
      <p:sp>
        <p:nvSpPr>
          <p:cNvPr id="15" name="Text 12"/>
          <p:cNvSpPr/>
          <p:nvPr/>
        </p:nvSpPr>
        <p:spPr>
          <a:xfrm>
            <a:off x="4873752" y="1042416"/>
            <a:ext cx="3977640" cy="320040"/>
          </a:xfrm>
          <a:prstGeom prst="rect">
            <a:avLst/>
          </a:prstGeom>
          <a:noFill/>
          <a:ln/>
        </p:spPr>
        <p:txBody>
          <a:bodyPr wrap="square" rtlCol="0" anchor="ctr"/>
          <a:lstStyle/>
          <a:p>
            <a:pPr marL="0" indent="0">
              <a:buNone/>
            </a:pPr>
            <a:r>
              <a:rPr lang="en-US" sz="1100" b="1" dirty="0">
                <a:solidFill>
                  <a:srgbClr val="1E6B47"/>
                </a:solidFill>
                <a:latin typeface="Calibri" pitchFamily="34" charset="0"/>
                <a:ea typeface="Calibri" pitchFamily="34" charset="-122"/>
                <a:cs typeface="Calibri" pitchFamily="34" charset="-120"/>
              </a:rPr>
              <a:t>Jamia </a:t>
            </a:r>
            <a:r>
              <a:rPr lang="en-US" sz="1100" b="1" dirty="0" err="1">
                <a:solidFill>
                  <a:srgbClr val="1E6B47"/>
                </a:solidFill>
                <a:latin typeface="Calibri" pitchFamily="34" charset="0"/>
                <a:ea typeface="Calibri" pitchFamily="34" charset="-122"/>
                <a:cs typeface="Calibri" pitchFamily="34" charset="-120"/>
              </a:rPr>
              <a:t>Binoria</a:t>
            </a:r>
            <a:r>
              <a:rPr lang="en-US" sz="1100" b="1" dirty="0">
                <a:solidFill>
                  <a:srgbClr val="1E6B47"/>
                </a:solidFill>
                <a:latin typeface="Calibri" pitchFamily="34" charset="0"/>
                <a:ea typeface="Calibri" pitchFamily="34" charset="-122"/>
                <a:cs typeface="Calibri" pitchFamily="34" charset="-120"/>
              </a:rPr>
              <a:t> International, Karachi</a:t>
            </a:r>
            <a:endParaRPr lang="en-US" sz="1100" dirty="0"/>
          </a:p>
        </p:txBody>
      </p:sp>
      <p:sp>
        <p:nvSpPr>
          <p:cNvPr id="16" name="Text 13"/>
          <p:cNvSpPr/>
          <p:nvPr/>
        </p:nvSpPr>
        <p:spPr>
          <a:xfrm>
            <a:off x="4873752" y="1371600"/>
            <a:ext cx="3977640" cy="274320"/>
          </a:xfrm>
          <a:prstGeom prst="rect">
            <a:avLst/>
          </a:prstGeom>
          <a:noFill/>
          <a:ln/>
        </p:spPr>
        <p:txBody>
          <a:bodyPr wrap="square" rtlCol="0" anchor="ctr"/>
          <a:lstStyle/>
          <a:p>
            <a:pPr marL="0" indent="0">
              <a:buNone/>
            </a:pPr>
            <a:r>
              <a:rPr lang="en-US" sz="850" i="1" dirty="0">
                <a:solidFill>
                  <a:srgbClr val="8A9BA8"/>
                </a:solidFill>
                <a:latin typeface="Calibri" pitchFamily="34" charset="0"/>
                <a:ea typeface="Calibri" pitchFamily="34" charset="-122"/>
                <a:cs typeface="Calibri" pitchFamily="34" charset="-120"/>
              </a:rPr>
              <a:t>Site Area, Karachi · One of Pakistan's largest Deobandi institutions · onlinefatawa.com</a:t>
            </a:r>
            <a:endParaRPr lang="en-US" sz="850" dirty="0"/>
          </a:p>
        </p:txBody>
      </p:sp>
      <p:sp>
        <p:nvSpPr>
          <p:cNvPr id="17" name="Shape 14"/>
          <p:cNvSpPr/>
          <p:nvPr/>
        </p:nvSpPr>
        <p:spPr>
          <a:xfrm>
            <a:off x="4873752" y="1682496"/>
            <a:ext cx="3977640" cy="256032"/>
          </a:xfrm>
          <a:prstGeom prst="rect">
            <a:avLst/>
          </a:prstGeom>
          <a:solidFill>
            <a:srgbClr val="FFF0EE"/>
          </a:solidFill>
          <a:ln/>
        </p:spPr>
      </p:sp>
      <p:sp>
        <p:nvSpPr>
          <p:cNvPr id="18" name="Text 15"/>
          <p:cNvSpPr/>
          <p:nvPr/>
        </p:nvSpPr>
        <p:spPr>
          <a:xfrm>
            <a:off x="4910328" y="1700784"/>
            <a:ext cx="3904488" cy="219456"/>
          </a:xfrm>
          <a:prstGeom prst="rect">
            <a:avLst/>
          </a:prstGeom>
          <a:noFill/>
          <a:ln/>
        </p:spPr>
        <p:txBody>
          <a:bodyPr wrap="square" rtlCol="0" anchor="ctr"/>
          <a:lstStyle/>
          <a:p>
            <a:pPr marL="0" indent="0">
              <a:buNone/>
            </a:pPr>
            <a:r>
              <a:rPr lang="en-US" sz="950" b="1" dirty="0">
                <a:solidFill>
                  <a:srgbClr val="8B2222"/>
                </a:solidFill>
                <a:latin typeface="Calibri" pitchFamily="34" charset="0"/>
                <a:ea typeface="Calibri" pitchFamily="34" charset="-122"/>
                <a:cs typeface="Calibri" pitchFamily="34" charset="-120"/>
              </a:rPr>
              <a:t>Ruling: AI not a qualified reciter; Shurut (conditions) of recitation not met</a:t>
            </a:r>
            <a:endParaRPr lang="en-US" sz="950" dirty="0"/>
          </a:p>
        </p:txBody>
      </p:sp>
      <p:sp>
        <p:nvSpPr>
          <p:cNvPr id="19" name="Text 16"/>
          <p:cNvSpPr/>
          <p:nvPr/>
        </p:nvSpPr>
        <p:spPr>
          <a:xfrm>
            <a:off x="4873752" y="1993392"/>
            <a:ext cx="3977640" cy="804672"/>
          </a:xfrm>
          <a:prstGeom prst="rect">
            <a:avLst/>
          </a:prstGeom>
          <a:noFill/>
          <a:ln/>
        </p:spPr>
        <p:txBody>
          <a:bodyPr wrap="square" rtlCol="0" anchor="ctr"/>
          <a:lstStyle/>
          <a:p>
            <a:pPr marL="0" indent="0">
              <a:buNone/>
            </a:pPr>
            <a:r>
              <a:rPr lang="en-US" sz="950" dirty="0">
                <a:solidFill>
                  <a:srgbClr val="333333"/>
                </a:solidFill>
                <a:latin typeface="Calibri" pitchFamily="34" charset="0"/>
                <a:ea typeface="Calibri" pitchFamily="34" charset="-122"/>
                <a:cs typeface="Calibri" pitchFamily="34" charset="-120"/>
              </a:rPr>
              <a:t>Deobandi Hanafi methodology: essential conditions of worship (Niyyah, Tahara, human voice, Sanad) must be fulfilled. AI fulfils none.</a:t>
            </a:r>
            <a:endParaRPr lang="en-US" sz="950" dirty="0"/>
          </a:p>
        </p:txBody>
      </p:sp>
      <p:sp>
        <p:nvSpPr>
          <p:cNvPr id="20" name="Shape 17"/>
          <p:cNvSpPr/>
          <p:nvPr/>
        </p:nvSpPr>
        <p:spPr>
          <a:xfrm>
            <a:off x="228600" y="2999232"/>
            <a:ext cx="4251960" cy="1874520"/>
          </a:xfrm>
          <a:prstGeom prst="rect">
            <a:avLst/>
          </a:prstGeom>
          <a:solidFill>
            <a:srgbClr val="FFFFFF"/>
          </a:solidFill>
          <a:ln/>
          <a:effectLst>
            <a:outerShdw blurRad="76200" dist="25400" dir="8100000" algn="bl" rotWithShape="0">
              <a:srgbClr val="000000">
                <a:alpha val="14000"/>
              </a:srgbClr>
            </a:outerShdw>
          </a:effectLst>
        </p:spPr>
      </p:sp>
      <p:sp>
        <p:nvSpPr>
          <p:cNvPr id="21" name="Shape 18"/>
          <p:cNvSpPr/>
          <p:nvPr/>
        </p:nvSpPr>
        <p:spPr>
          <a:xfrm>
            <a:off x="228600" y="2999232"/>
            <a:ext cx="73152" cy="1874520"/>
          </a:xfrm>
          <a:prstGeom prst="rect">
            <a:avLst/>
          </a:prstGeom>
          <a:solidFill>
            <a:srgbClr val="2D9B6A"/>
          </a:solidFill>
          <a:ln/>
        </p:spPr>
      </p:sp>
      <p:sp>
        <p:nvSpPr>
          <p:cNvPr id="22" name="Text 19"/>
          <p:cNvSpPr/>
          <p:nvPr/>
        </p:nvSpPr>
        <p:spPr>
          <a:xfrm>
            <a:off x="393192" y="3054096"/>
            <a:ext cx="3977640" cy="320040"/>
          </a:xfrm>
          <a:prstGeom prst="rect">
            <a:avLst/>
          </a:prstGeom>
          <a:noFill/>
          <a:ln/>
        </p:spPr>
        <p:txBody>
          <a:bodyPr wrap="square" rtlCol="0" anchor="ctr"/>
          <a:lstStyle/>
          <a:p>
            <a:pPr marL="0" indent="0">
              <a:buNone/>
            </a:pPr>
            <a:r>
              <a:rPr lang="en-US" sz="1100" b="1" dirty="0">
                <a:solidFill>
                  <a:srgbClr val="2D9B6A"/>
                </a:solidFill>
                <a:latin typeface="Calibri" pitchFamily="34" charset="0"/>
                <a:ea typeface="Calibri" pitchFamily="34" charset="-122"/>
                <a:cs typeface="Calibri" pitchFamily="34" charset="-120"/>
              </a:rPr>
              <a:t>Darul Fiqh UK (Fatwa, January 2024)</a:t>
            </a:r>
            <a:endParaRPr lang="en-US" sz="1100" dirty="0"/>
          </a:p>
        </p:txBody>
      </p:sp>
      <p:sp>
        <p:nvSpPr>
          <p:cNvPr id="23" name="Text 20"/>
          <p:cNvSpPr/>
          <p:nvPr/>
        </p:nvSpPr>
        <p:spPr>
          <a:xfrm>
            <a:off x="393192" y="3383280"/>
            <a:ext cx="3977640" cy="274320"/>
          </a:xfrm>
          <a:prstGeom prst="rect">
            <a:avLst/>
          </a:prstGeom>
          <a:noFill/>
          <a:ln/>
        </p:spPr>
        <p:txBody>
          <a:bodyPr wrap="square" rtlCol="0" anchor="ctr"/>
          <a:lstStyle/>
          <a:p>
            <a:pPr marL="0" indent="0">
              <a:buNone/>
            </a:pPr>
            <a:r>
              <a:rPr lang="en-US" sz="850" i="1" dirty="0">
                <a:solidFill>
                  <a:srgbClr val="8A9BA8"/>
                </a:solidFill>
                <a:latin typeface="Calibri" pitchFamily="34" charset="0"/>
                <a:ea typeface="Calibri" pitchFamily="34" charset="-122"/>
                <a:cs typeface="Calibri" pitchFamily="34" charset="-120"/>
              </a:rPr>
              <a:t>United Kingdom · Hanafi · Serving Pakistani/South Asian diaspora · darulfiqh.com</a:t>
            </a:r>
            <a:endParaRPr lang="en-US" sz="850" dirty="0"/>
          </a:p>
        </p:txBody>
      </p:sp>
      <p:sp>
        <p:nvSpPr>
          <p:cNvPr id="24" name="Shape 21"/>
          <p:cNvSpPr/>
          <p:nvPr/>
        </p:nvSpPr>
        <p:spPr>
          <a:xfrm>
            <a:off x="393192" y="3694176"/>
            <a:ext cx="3977640" cy="256032"/>
          </a:xfrm>
          <a:prstGeom prst="rect">
            <a:avLst/>
          </a:prstGeom>
          <a:solidFill>
            <a:srgbClr val="FFF0EE"/>
          </a:solidFill>
          <a:ln/>
        </p:spPr>
      </p:sp>
      <p:sp>
        <p:nvSpPr>
          <p:cNvPr id="25" name="Text 22"/>
          <p:cNvSpPr/>
          <p:nvPr/>
        </p:nvSpPr>
        <p:spPr>
          <a:xfrm>
            <a:off x="429768" y="3712464"/>
            <a:ext cx="3904488" cy="219456"/>
          </a:xfrm>
          <a:prstGeom prst="rect">
            <a:avLst/>
          </a:prstGeom>
          <a:noFill/>
          <a:ln/>
        </p:spPr>
        <p:txBody>
          <a:bodyPr wrap="square" rtlCol="0" anchor="ctr"/>
          <a:lstStyle/>
          <a:p>
            <a:pPr marL="0" indent="0">
              <a:buNone/>
            </a:pPr>
            <a:r>
              <a:rPr lang="en-US" sz="950" b="1" dirty="0">
                <a:solidFill>
                  <a:srgbClr val="8B2222"/>
                </a:solidFill>
                <a:latin typeface="Calibri" pitchFamily="34" charset="0"/>
                <a:ea typeface="Calibri" pitchFamily="34" charset="-122"/>
                <a:cs typeface="Calibri" pitchFamily="34" charset="-120"/>
              </a:rPr>
              <a:t>Ruling: AI voiceover is NOT kalam and NOT tilawah</a:t>
            </a:r>
            <a:endParaRPr lang="en-US" sz="950" dirty="0"/>
          </a:p>
        </p:txBody>
      </p:sp>
      <p:sp>
        <p:nvSpPr>
          <p:cNvPr id="26" name="Text 23"/>
          <p:cNvSpPr/>
          <p:nvPr/>
        </p:nvSpPr>
        <p:spPr>
          <a:xfrm>
            <a:off x="393192" y="4005072"/>
            <a:ext cx="3977640" cy="804672"/>
          </a:xfrm>
          <a:prstGeom prst="rect">
            <a:avLst/>
          </a:prstGeom>
          <a:noFill/>
          <a:ln/>
        </p:spPr>
        <p:txBody>
          <a:bodyPr wrap="square" rtlCol="0" anchor="ctr"/>
          <a:lstStyle/>
          <a:p>
            <a:r>
              <a:rPr lang="en-US" sz="950" dirty="0">
                <a:solidFill>
                  <a:srgbClr val="333333"/>
                </a:solidFill>
                <a:latin typeface="Calibri" pitchFamily="34" charset="0"/>
                <a:ea typeface="Calibri" pitchFamily="34" charset="-122"/>
                <a:cs typeface="Calibri" pitchFamily="34" charset="-120"/>
              </a:rPr>
              <a:t>Speech requires Surah (sounds &amp; letters used to make words) + Ma'na from an </a:t>
            </a:r>
            <a:r>
              <a:rPr lang="en-US" sz="950" dirty="0" err="1">
                <a:solidFill>
                  <a:srgbClr val="333333"/>
                </a:solidFill>
                <a:latin typeface="Calibri" pitchFamily="34" charset="0"/>
                <a:ea typeface="Calibri" pitchFamily="34" charset="-122"/>
                <a:cs typeface="Calibri" pitchFamily="34" charset="-120"/>
              </a:rPr>
              <a:t>Aql</a:t>
            </a:r>
            <a:r>
              <a:rPr lang="en-US" sz="950" dirty="0">
                <a:solidFill>
                  <a:srgbClr val="333333"/>
                </a:solidFill>
                <a:latin typeface="Calibri" pitchFamily="34" charset="0"/>
                <a:ea typeface="Calibri" pitchFamily="34" charset="-122"/>
                <a:cs typeface="Calibri" pitchFamily="34" charset="-120"/>
              </a:rPr>
              <a:t> (understanding) source. </a:t>
            </a:r>
          </a:p>
          <a:p>
            <a:endParaRPr lang="en-US" sz="950" dirty="0">
              <a:solidFill>
                <a:srgbClr val="333333"/>
              </a:solidFill>
              <a:latin typeface="Calibri" pitchFamily="34" charset="0"/>
              <a:ea typeface="Calibri" pitchFamily="34" charset="-122"/>
              <a:cs typeface="Calibri" pitchFamily="34" charset="-120"/>
            </a:endParaRPr>
          </a:p>
          <a:p>
            <a:r>
              <a:rPr lang="en-US" sz="950" dirty="0">
                <a:solidFill>
                  <a:srgbClr val="333333"/>
                </a:solidFill>
                <a:latin typeface="Calibri" pitchFamily="34" charset="0"/>
                <a:ea typeface="Calibri" pitchFamily="34" charset="-122"/>
                <a:cs typeface="Calibri" pitchFamily="34" charset="-120"/>
              </a:rPr>
              <a:t>‘</a:t>
            </a:r>
            <a:r>
              <a:rPr lang="en-US" sz="900" dirty="0"/>
              <a:t>Maulana </a:t>
            </a:r>
            <a:r>
              <a:rPr lang="en-US" sz="900" dirty="0" err="1"/>
              <a:t>Inaamul</a:t>
            </a:r>
            <a:r>
              <a:rPr lang="en-US" sz="900" dirty="0"/>
              <a:t> Hasan Chothia</a:t>
            </a:r>
            <a:r>
              <a:rPr lang="en-US" sz="950" dirty="0">
                <a:solidFill>
                  <a:srgbClr val="333333"/>
                </a:solidFill>
                <a:latin typeface="Calibri" pitchFamily="34" charset="0"/>
                <a:ea typeface="Calibri" pitchFamily="34" charset="-122"/>
                <a:cs typeface="Calibri" pitchFamily="34" charset="-120"/>
              </a:rPr>
              <a: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A4731"/>
          </a:solidFill>
          <a:ln/>
        </p:spPr>
      </p:sp>
      <p:sp>
        <p:nvSpPr>
          <p:cNvPr id="3" name="Shape 1"/>
          <p:cNvSpPr/>
          <p:nvPr/>
        </p:nvSpPr>
        <p:spPr>
          <a:xfrm>
            <a:off x="0" y="804672"/>
            <a:ext cx="9144000" cy="54864"/>
          </a:xfrm>
          <a:prstGeom prst="rect">
            <a:avLst/>
          </a:prstGeom>
          <a:solidFill>
            <a:srgbClr val="C9A84C"/>
          </a:solidFill>
          <a:ln/>
        </p:spPr>
      </p:sp>
      <p:sp>
        <p:nvSpPr>
          <p:cNvPr id="4" name="Text 2"/>
          <p:cNvSpPr/>
          <p:nvPr/>
        </p:nvSpPr>
        <p:spPr>
          <a:xfrm>
            <a:off x="320040" y="91440"/>
            <a:ext cx="8503920" cy="621792"/>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Global Scholarly Positions</a:t>
            </a:r>
            <a:endParaRPr lang="en-US" sz="2800" dirty="0"/>
          </a:p>
        </p:txBody>
      </p:sp>
      <p:pic>
        <p:nvPicPr>
          <p:cNvPr id="5" name="Image 0" descr="preencoded.png"/>
          <p:cNvPicPr>
            <a:picLocks noChangeAspect="1"/>
          </p:cNvPicPr>
          <p:nvPr/>
        </p:nvPicPr>
        <p:blipFill>
          <a:blip r:embed="rId3"/>
          <a:stretch>
            <a:fillRect/>
          </a:stretch>
        </p:blipFill>
        <p:spPr>
          <a:xfrm>
            <a:off x="8229600" y="91440"/>
            <a:ext cx="685800" cy="685800"/>
          </a:xfrm>
          <a:prstGeom prst="rect">
            <a:avLst/>
          </a:prstGeom>
        </p:spPr>
      </p:pic>
      <p:sp>
        <p:nvSpPr>
          <p:cNvPr id="6" name="Shape 3"/>
          <p:cNvSpPr/>
          <p:nvPr/>
        </p:nvSpPr>
        <p:spPr>
          <a:xfrm>
            <a:off x="228600" y="987552"/>
            <a:ext cx="2788920" cy="1847088"/>
          </a:xfrm>
          <a:prstGeom prst="rect">
            <a:avLst/>
          </a:prstGeom>
          <a:solidFill>
            <a:srgbClr val="0D2137"/>
          </a:solidFill>
          <a:ln/>
          <a:effectLst>
            <a:outerShdw blurRad="76200" dist="25400" dir="8100000" algn="bl" rotWithShape="0">
              <a:srgbClr val="000000">
                <a:alpha val="14000"/>
              </a:srgbClr>
            </a:outerShdw>
          </a:effectLst>
        </p:spPr>
      </p:sp>
      <p:sp>
        <p:nvSpPr>
          <p:cNvPr id="7" name="Shape 4"/>
          <p:cNvSpPr/>
          <p:nvPr/>
        </p:nvSpPr>
        <p:spPr>
          <a:xfrm>
            <a:off x="228600" y="987552"/>
            <a:ext cx="2788920" cy="73152"/>
          </a:xfrm>
          <a:prstGeom prst="rect">
            <a:avLst/>
          </a:prstGeom>
          <a:solidFill>
            <a:srgbClr val="8B2222"/>
          </a:solidFill>
          <a:ln/>
        </p:spPr>
      </p:sp>
      <p:sp>
        <p:nvSpPr>
          <p:cNvPr id="8" name="Text 5"/>
          <p:cNvSpPr/>
          <p:nvPr/>
        </p:nvSpPr>
        <p:spPr>
          <a:xfrm>
            <a:off x="320040" y="1115568"/>
            <a:ext cx="2606040" cy="292608"/>
          </a:xfrm>
          <a:prstGeom prst="rect">
            <a:avLst/>
          </a:prstGeom>
          <a:noFill/>
          <a:ln/>
        </p:spPr>
        <p:txBody>
          <a:bodyPr wrap="square" rtlCol="0" anchor="ctr"/>
          <a:lstStyle/>
          <a:p>
            <a:pPr marL="0" indent="0">
              <a:buNone/>
            </a:pPr>
            <a:r>
              <a:rPr lang="en-US" sz="950" b="1" dirty="0">
                <a:solidFill>
                  <a:srgbClr val="FFFF00"/>
                </a:solidFill>
                <a:latin typeface="Calibri" pitchFamily="34" charset="0"/>
                <a:ea typeface="Calibri" pitchFamily="34" charset="-122"/>
                <a:cs typeface="Calibri" pitchFamily="34" charset="-120"/>
              </a:rPr>
              <a:t>Shaykh Ibn Uthaymin (IslamQA #391117)</a:t>
            </a:r>
            <a:endParaRPr lang="en-US" sz="950" dirty="0">
              <a:solidFill>
                <a:srgbClr val="FFFF00"/>
              </a:solidFill>
            </a:endParaRPr>
          </a:p>
        </p:txBody>
      </p:sp>
      <p:sp>
        <p:nvSpPr>
          <p:cNvPr id="9" name="Text 6"/>
          <p:cNvSpPr/>
          <p:nvPr/>
        </p:nvSpPr>
        <p:spPr>
          <a:xfrm>
            <a:off x="320040" y="1408176"/>
            <a:ext cx="2606040" cy="219456"/>
          </a:xfrm>
          <a:prstGeom prst="rect">
            <a:avLst/>
          </a:prstGeom>
          <a:noFill/>
          <a:ln/>
        </p:spPr>
        <p:txBody>
          <a:bodyPr wrap="square" rtlCol="0" anchor="ctr"/>
          <a:lstStyle/>
          <a:p>
            <a:pPr marL="0" indent="0">
              <a:buNone/>
            </a:pPr>
            <a:r>
              <a:rPr lang="en-US" sz="800" i="1" dirty="0">
                <a:solidFill>
                  <a:srgbClr val="8A9BA8"/>
                </a:solidFill>
                <a:latin typeface="Calibri" pitchFamily="34" charset="0"/>
                <a:ea typeface="Calibri" pitchFamily="34" charset="-122"/>
                <a:cs typeface="Calibri" pitchFamily="34" charset="-120"/>
              </a:rPr>
              <a:t>Saudi Arabia · Hanbali · Student of Shaykh Ibn Sa'di</a:t>
            </a:r>
            <a:endParaRPr lang="en-US" sz="800" dirty="0"/>
          </a:p>
        </p:txBody>
      </p:sp>
      <p:sp>
        <p:nvSpPr>
          <p:cNvPr id="10" name="Text 7"/>
          <p:cNvSpPr/>
          <p:nvPr/>
        </p:nvSpPr>
        <p:spPr>
          <a:xfrm>
            <a:off x="320040" y="1645920"/>
            <a:ext cx="2606040" cy="274320"/>
          </a:xfrm>
          <a:prstGeom prst="rect">
            <a:avLst/>
          </a:prstGeom>
          <a:noFill/>
          <a:ln/>
        </p:spPr>
        <p:txBody>
          <a:bodyPr wrap="square" rtlCol="0" anchor="ctr"/>
          <a:lstStyle/>
          <a:p>
            <a:pPr marL="0" indent="0">
              <a:buNone/>
            </a:pPr>
            <a:r>
              <a:rPr lang="en-US" sz="900" b="1" dirty="0">
                <a:solidFill>
                  <a:srgbClr val="E8C97A"/>
                </a:solidFill>
                <a:latin typeface="Calibri" pitchFamily="34" charset="0"/>
                <a:ea typeface="Calibri" pitchFamily="34" charset="-122"/>
                <a:cs typeface="Calibri" pitchFamily="34" charset="-120"/>
              </a:rPr>
              <a:t>Ruling: Digital distortion of Quran is HARAM</a:t>
            </a:r>
            <a:endParaRPr lang="en-US" sz="900" dirty="0"/>
          </a:p>
        </p:txBody>
      </p:sp>
      <p:sp>
        <p:nvSpPr>
          <p:cNvPr id="11" name="Text 8"/>
          <p:cNvSpPr/>
          <p:nvPr/>
        </p:nvSpPr>
        <p:spPr>
          <a:xfrm>
            <a:off x="320040" y="1938528"/>
            <a:ext cx="2606040" cy="804672"/>
          </a:xfrm>
          <a:prstGeom prst="rect">
            <a:avLst/>
          </a:prstGeom>
          <a:noFill/>
          <a:ln/>
        </p:spPr>
        <p:txBody>
          <a:bodyPr wrap="square" rtlCol="0" anchor="ctr"/>
          <a:lstStyle/>
          <a:p>
            <a:pPr marL="0" indent="0">
              <a:buNone/>
            </a:pPr>
            <a:r>
              <a:rPr lang="en-US" sz="850" dirty="0">
                <a:solidFill>
                  <a:srgbClr val="AABBCC"/>
                </a:solidFill>
                <a:latin typeface="Calibri" pitchFamily="34" charset="0"/>
                <a:ea typeface="Calibri" pitchFamily="34" charset="-122"/>
                <a:cs typeface="Calibri" pitchFamily="34" charset="-120"/>
              </a:rPr>
              <a:t>Adding to/omitting from Words of Allah via vocal processing is prohibited. Auto-tune fatwa is direct precedent for AI synthesis.</a:t>
            </a:r>
            <a:endParaRPr lang="en-US" sz="850" dirty="0"/>
          </a:p>
        </p:txBody>
      </p:sp>
      <p:sp>
        <p:nvSpPr>
          <p:cNvPr id="12" name="Shape 9"/>
          <p:cNvSpPr/>
          <p:nvPr/>
        </p:nvSpPr>
        <p:spPr>
          <a:xfrm>
            <a:off x="3172968" y="2057400"/>
            <a:ext cx="2788920" cy="1847088"/>
          </a:xfrm>
          <a:prstGeom prst="rect">
            <a:avLst/>
          </a:prstGeom>
          <a:solidFill>
            <a:srgbClr val="0D2137"/>
          </a:solidFill>
          <a:ln/>
          <a:effectLst>
            <a:outerShdw blurRad="76200" dist="25400" dir="8100000" algn="bl" rotWithShape="0">
              <a:srgbClr val="000000">
                <a:alpha val="14000"/>
              </a:srgbClr>
            </a:outerShdw>
          </a:effectLst>
        </p:spPr>
      </p:sp>
      <p:sp>
        <p:nvSpPr>
          <p:cNvPr id="13" name="Shape 10"/>
          <p:cNvSpPr/>
          <p:nvPr/>
        </p:nvSpPr>
        <p:spPr>
          <a:xfrm>
            <a:off x="3172968" y="2075307"/>
            <a:ext cx="2788920" cy="73152"/>
          </a:xfrm>
          <a:prstGeom prst="rect">
            <a:avLst/>
          </a:prstGeom>
          <a:solidFill>
            <a:srgbClr val="C4622D"/>
          </a:solidFill>
          <a:ln/>
        </p:spPr>
      </p:sp>
      <p:sp>
        <p:nvSpPr>
          <p:cNvPr id="14" name="Text 11"/>
          <p:cNvSpPr/>
          <p:nvPr/>
        </p:nvSpPr>
        <p:spPr>
          <a:xfrm>
            <a:off x="3264408" y="2236089"/>
            <a:ext cx="2606040" cy="292608"/>
          </a:xfrm>
          <a:prstGeom prst="rect">
            <a:avLst/>
          </a:prstGeom>
          <a:noFill/>
          <a:ln/>
        </p:spPr>
        <p:txBody>
          <a:bodyPr wrap="square" rtlCol="0" anchor="ctr"/>
          <a:lstStyle/>
          <a:p>
            <a:pPr marL="0" indent="0">
              <a:buNone/>
            </a:pPr>
            <a:r>
              <a:rPr lang="en-US" sz="950" b="1" dirty="0">
                <a:solidFill>
                  <a:srgbClr val="FFFF00"/>
                </a:solidFill>
                <a:latin typeface="Calibri" pitchFamily="34" charset="0"/>
                <a:ea typeface="Calibri" pitchFamily="34" charset="-122"/>
                <a:cs typeface="Calibri" pitchFamily="34" charset="-120"/>
              </a:rPr>
              <a:t>Shaykh al-Munajjid (IslamQA #512399, 2024)</a:t>
            </a:r>
            <a:endParaRPr lang="en-US" sz="950" dirty="0">
              <a:solidFill>
                <a:srgbClr val="FFFF00"/>
              </a:solidFill>
            </a:endParaRPr>
          </a:p>
        </p:txBody>
      </p:sp>
      <p:sp>
        <p:nvSpPr>
          <p:cNvPr id="15" name="Text 12"/>
          <p:cNvSpPr/>
          <p:nvPr/>
        </p:nvSpPr>
        <p:spPr>
          <a:xfrm>
            <a:off x="3264408" y="2528697"/>
            <a:ext cx="2606040" cy="219456"/>
          </a:xfrm>
          <a:prstGeom prst="rect">
            <a:avLst/>
          </a:prstGeom>
          <a:noFill/>
          <a:ln/>
        </p:spPr>
        <p:txBody>
          <a:bodyPr wrap="square" rtlCol="0" anchor="ctr"/>
          <a:lstStyle/>
          <a:p>
            <a:pPr marL="0" indent="0">
              <a:buNone/>
            </a:pPr>
            <a:r>
              <a:rPr lang="en-US" sz="800" i="1" dirty="0">
                <a:solidFill>
                  <a:srgbClr val="8A9BA8"/>
                </a:solidFill>
                <a:latin typeface="Calibri" pitchFamily="34" charset="0"/>
                <a:ea typeface="Calibri" pitchFamily="34" charset="-122"/>
                <a:cs typeface="Calibri" pitchFamily="34" charset="-120"/>
              </a:rPr>
              <a:t>Saudi Arabia · IslamQA (islamqa.info) — global reach 100M+ users</a:t>
            </a:r>
            <a:endParaRPr lang="en-US" sz="800" dirty="0"/>
          </a:p>
        </p:txBody>
      </p:sp>
      <p:sp>
        <p:nvSpPr>
          <p:cNvPr id="16" name="Text 13"/>
          <p:cNvSpPr/>
          <p:nvPr/>
        </p:nvSpPr>
        <p:spPr>
          <a:xfrm>
            <a:off x="3264408" y="2843784"/>
            <a:ext cx="2606040" cy="274320"/>
          </a:xfrm>
          <a:prstGeom prst="rect">
            <a:avLst/>
          </a:prstGeom>
          <a:noFill/>
          <a:ln/>
        </p:spPr>
        <p:txBody>
          <a:bodyPr wrap="square" rtlCol="0" anchor="ctr"/>
          <a:lstStyle/>
          <a:p>
            <a:pPr marL="0" indent="0">
              <a:buNone/>
            </a:pPr>
            <a:r>
              <a:rPr lang="en-US" sz="900" b="1" dirty="0">
                <a:solidFill>
                  <a:srgbClr val="E8C97A"/>
                </a:solidFill>
                <a:latin typeface="Calibri" pitchFamily="34" charset="0"/>
                <a:ea typeface="Calibri" pitchFamily="34" charset="-122"/>
                <a:cs typeface="Calibri" pitchFamily="34" charset="-120"/>
              </a:rPr>
              <a:t>Ruling: Conditional: consent required; no thawab for AI output</a:t>
            </a:r>
            <a:endParaRPr lang="en-US" sz="900" dirty="0"/>
          </a:p>
        </p:txBody>
      </p:sp>
      <p:sp>
        <p:nvSpPr>
          <p:cNvPr id="17" name="Text 14"/>
          <p:cNvSpPr/>
          <p:nvPr/>
        </p:nvSpPr>
        <p:spPr>
          <a:xfrm>
            <a:off x="3264408" y="3099816"/>
            <a:ext cx="2606040" cy="804672"/>
          </a:xfrm>
          <a:prstGeom prst="rect">
            <a:avLst/>
          </a:prstGeom>
          <a:noFill/>
          <a:ln/>
        </p:spPr>
        <p:txBody>
          <a:bodyPr wrap="square" rtlCol="0" anchor="ctr"/>
          <a:lstStyle/>
          <a:p>
            <a:pPr marL="0" indent="0">
              <a:buNone/>
            </a:pPr>
            <a:r>
              <a:rPr lang="en-US" sz="850" dirty="0">
                <a:solidFill>
                  <a:srgbClr val="AABBCC"/>
                </a:solidFill>
                <a:latin typeface="Calibri" pitchFamily="34" charset="0"/>
                <a:ea typeface="Calibri" pitchFamily="34" charset="-122"/>
                <a:cs typeface="Calibri" pitchFamily="34" charset="-120"/>
              </a:rPr>
              <a:t>AI voice of a Qari requires his permission. The Qari receives NO spiritual reward for AI output — reward requires Niyyah + physical performance.</a:t>
            </a:r>
            <a:endParaRPr lang="en-US" sz="850" dirty="0"/>
          </a:p>
        </p:txBody>
      </p:sp>
      <p:sp>
        <p:nvSpPr>
          <p:cNvPr id="18" name="Shape 15"/>
          <p:cNvSpPr/>
          <p:nvPr/>
        </p:nvSpPr>
        <p:spPr>
          <a:xfrm>
            <a:off x="6117336" y="987552"/>
            <a:ext cx="2788920" cy="1847088"/>
          </a:xfrm>
          <a:prstGeom prst="rect">
            <a:avLst/>
          </a:prstGeom>
          <a:solidFill>
            <a:srgbClr val="0D2137"/>
          </a:solidFill>
          <a:ln/>
          <a:effectLst>
            <a:outerShdw blurRad="76200" dist="25400" dir="8100000" algn="bl" rotWithShape="0">
              <a:srgbClr val="000000">
                <a:alpha val="14000"/>
              </a:srgbClr>
            </a:outerShdw>
          </a:effectLst>
        </p:spPr>
      </p:sp>
      <p:sp>
        <p:nvSpPr>
          <p:cNvPr id="19" name="Shape 16"/>
          <p:cNvSpPr/>
          <p:nvPr/>
        </p:nvSpPr>
        <p:spPr>
          <a:xfrm>
            <a:off x="6117336" y="987552"/>
            <a:ext cx="2788920" cy="73152"/>
          </a:xfrm>
          <a:prstGeom prst="rect">
            <a:avLst/>
          </a:prstGeom>
          <a:solidFill>
            <a:srgbClr val="B8760C"/>
          </a:solidFill>
          <a:ln/>
        </p:spPr>
      </p:sp>
      <p:sp>
        <p:nvSpPr>
          <p:cNvPr id="20" name="Text 17"/>
          <p:cNvSpPr/>
          <p:nvPr/>
        </p:nvSpPr>
        <p:spPr>
          <a:xfrm>
            <a:off x="6208776" y="1115568"/>
            <a:ext cx="2606040" cy="292608"/>
          </a:xfrm>
          <a:prstGeom prst="rect">
            <a:avLst/>
          </a:prstGeom>
          <a:noFill/>
          <a:ln/>
        </p:spPr>
        <p:txBody>
          <a:bodyPr wrap="square" rtlCol="0" anchor="ctr"/>
          <a:lstStyle/>
          <a:p>
            <a:pPr marL="0" indent="0">
              <a:buNone/>
            </a:pPr>
            <a:r>
              <a:rPr lang="en-US" sz="950" b="1" dirty="0">
                <a:solidFill>
                  <a:srgbClr val="FFFF00"/>
                </a:solidFill>
                <a:latin typeface="Calibri" pitchFamily="34" charset="0"/>
                <a:ea typeface="Calibri" pitchFamily="34" charset="-122"/>
                <a:cs typeface="Calibri" pitchFamily="34" charset="-120"/>
              </a:rPr>
              <a:t>IslamWeb Fatwa #510187 (2025)</a:t>
            </a:r>
            <a:endParaRPr lang="en-US" sz="950" dirty="0">
              <a:solidFill>
                <a:srgbClr val="FFFF00"/>
              </a:solidFill>
            </a:endParaRPr>
          </a:p>
        </p:txBody>
      </p:sp>
      <p:sp>
        <p:nvSpPr>
          <p:cNvPr id="21" name="Text 18"/>
          <p:cNvSpPr/>
          <p:nvPr/>
        </p:nvSpPr>
        <p:spPr>
          <a:xfrm>
            <a:off x="6208776" y="1408176"/>
            <a:ext cx="2606040" cy="219456"/>
          </a:xfrm>
          <a:prstGeom prst="rect">
            <a:avLst/>
          </a:prstGeom>
          <a:noFill/>
          <a:ln/>
        </p:spPr>
        <p:txBody>
          <a:bodyPr wrap="square" rtlCol="0" anchor="ctr"/>
          <a:lstStyle/>
          <a:p>
            <a:pPr marL="0" indent="0">
              <a:buNone/>
            </a:pPr>
            <a:r>
              <a:rPr lang="en-US" sz="800" i="1" dirty="0">
                <a:solidFill>
                  <a:srgbClr val="8A9BA8"/>
                </a:solidFill>
                <a:latin typeface="Calibri" pitchFamily="34" charset="0"/>
                <a:ea typeface="Calibri" pitchFamily="34" charset="-122"/>
                <a:cs typeface="Calibri" pitchFamily="34" charset="-120"/>
              </a:rPr>
              <a:t>Qatar · Multi-Madhab · islamweb.net</a:t>
            </a:r>
            <a:endParaRPr lang="en-US" sz="800" dirty="0"/>
          </a:p>
        </p:txBody>
      </p:sp>
      <p:sp>
        <p:nvSpPr>
          <p:cNvPr id="22" name="Text 19"/>
          <p:cNvSpPr/>
          <p:nvPr/>
        </p:nvSpPr>
        <p:spPr>
          <a:xfrm>
            <a:off x="6208776" y="1645920"/>
            <a:ext cx="2606040" cy="274320"/>
          </a:xfrm>
          <a:prstGeom prst="rect">
            <a:avLst/>
          </a:prstGeom>
          <a:noFill/>
          <a:ln/>
        </p:spPr>
        <p:txBody>
          <a:bodyPr wrap="square" rtlCol="0" anchor="ctr"/>
          <a:lstStyle/>
          <a:p>
            <a:pPr marL="0" indent="0">
              <a:buNone/>
            </a:pPr>
            <a:r>
              <a:rPr lang="en-US" sz="900" b="1" dirty="0">
                <a:solidFill>
                  <a:srgbClr val="E8C97A"/>
                </a:solidFill>
                <a:latin typeface="Calibri" pitchFamily="34" charset="0"/>
                <a:ea typeface="Calibri" pitchFamily="34" charset="-122"/>
                <a:cs typeface="Calibri" pitchFamily="34" charset="-120"/>
              </a:rPr>
              <a:t>Ruling: Permitted only if certified error-free by Tajweed scholars</a:t>
            </a:r>
            <a:endParaRPr lang="en-US" sz="900" dirty="0"/>
          </a:p>
        </p:txBody>
      </p:sp>
      <p:sp>
        <p:nvSpPr>
          <p:cNvPr id="23" name="Text 20"/>
          <p:cNvSpPr/>
          <p:nvPr/>
        </p:nvSpPr>
        <p:spPr>
          <a:xfrm>
            <a:off x="6208776" y="1938528"/>
            <a:ext cx="2606040" cy="804672"/>
          </a:xfrm>
          <a:prstGeom prst="rect">
            <a:avLst/>
          </a:prstGeom>
          <a:noFill/>
          <a:ln/>
        </p:spPr>
        <p:txBody>
          <a:bodyPr wrap="square" rtlCol="0" anchor="ctr"/>
          <a:lstStyle/>
          <a:p>
            <a:pPr marL="0" indent="0">
              <a:buNone/>
            </a:pPr>
            <a:r>
              <a:rPr lang="en-US" sz="850" dirty="0">
                <a:solidFill>
                  <a:srgbClr val="AABBCC"/>
                </a:solidFill>
                <a:latin typeface="Calibri" pitchFamily="34" charset="0"/>
                <a:ea typeface="Calibri" pitchFamily="34" charset="-122"/>
                <a:cs typeface="Calibri" pitchFamily="34" charset="-120"/>
              </a:rPr>
              <a:t>Qiyas: if Quran cannot be learned from an erring human, more so from an erring machine. No AI tool has passed scholarly certification.</a:t>
            </a:r>
            <a:endParaRPr lang="en-US" sz="850" dirty="0"/>
          </a:p>
        </p:txBody>
      </p:sp>
      <p:sp>
        <p:nvSpPr>
          <p:cNvPr id="24" name="Shape 21"/>
          <p:cNvSpPr/>
          <p:nvPr/>
        </p:nvSpPr>
        <p:spPr>
          <a:xfrm>
            <a:off x="228600" y="2980944"/>
            <a:ext cx="2788920" cy="1847088"/>
          </a:xfrm>
          <a:prstGeom prst="rect">
            <a:avLst/>
          </a:prstGeom>
          <a:solidFill>
            <a:srgbClr val="0D2137"/>
          </a:solidFill>
          <a:ln/>
          <a:effectLst>
            <a:outerShdw blurRad="76200" dist="25400" dir="8100000" algn="bl" rotWithShape="0">
              <a:srgbClr val="000000">
                <a:alpha val="14000"/>
              </a:srgbClr>
            </a:outerShdw>
          </a:effectLst>
        </p:spPr>
      </p:sp>
      <p:sp>
        <p:nvSpPr>
          <p:cNvPr id="25" name="Shape 22"/>
          <p:cNvSpPr/>
          <p:nvPr/>
        </p:nvSpPr>
        <p:spPr>
          <a:xfrm>
            <a:off x="228600" y="2980944"/>
            <a:ext cx="2788920" cy="73152"/>
          </a:xfrm>
          <a:prstGeom prst="rect">
            <a:avLst/>
          </a:prstGeom>
          <a:solidFill>
            <a:srgbClr val="2D9B6A"/>
          </a:solidFill>
          <a:ln/>
        </p:spPr>
      </p:sp>
      <p:sp>
        <p:nvSpPr>
          <p:cNvPr id="26" name="Text 23"/>
          <p:cNvSpPr/>
          <p:nvPr/>
        </p:nvSpPr>
        <p:spPr>
          <a:xfrm>
            <a:off x="320040" y="3108960"/>
            <a:ext cx="2606040" cy="292608"/>
          </a:xfrm>
          <a:prstGeom prst="rect">
            <a:avLst/>
          </a:prstGeom>
          <a:noFill/>
          <a:ln/>
        </p:spPr>
        <p:txBody>
          <a:bodyPr wrap="square" rtlCol="0" anchor="ctr"/>
          <a:lstStyle/>
          <a:p>
            <a:pPr marL="0" indent="0">
              <a:buNone/>
            </a:pPr>
            <a:r>
              <a:rPr lang="en-US" sz="950" b="1" dirty="0">
                <a:solidFill>
                  <a:srgbClr val="FFFF00"/>
                </a:solidFill>
                <a:latin typeface="Calibri" pitchFamily="34" charset="0"/>
                <a:ea typeface="Calibri" pitchFamily="34" charset="-122"/>
                <a:cs typeface="Calibri" pitchFamily="34" charset="-120"/>
              </a:rPr>
              <a:t>Dar al-Ifta al-Misriyyah</a:t>
            </a:r>
            <a:endParaRPr lang="en-US" sz="950" dirty="0">
              <a:solidFill>
                <a:srgbClr val="FFFF00"/>
              </a:solidFill>
            </a:endParaRPr>
          </a:p>
        </p:txBody>
      </p:sp>
      <p:sp>
        <p:nvSpPr>
          <p:cNvPr id="27" name="Text 24"/>
          <p:cNvSpPr/>
          <p:nvPr/>
        </p:nvSpPr>
        <p:spPr>
          <a:xfrm>
            <a:off x="320040" y="3401568"/>
            <a:ext cx="2606040" cy="219456"/>
          </a:xfrm>
          <a:prstGeom prst="rect">
            <a:avLst/>
          </a:prstGeom>
          <a:noFill/>
          <a:ln/>
        </p:spPr>
        <p:txBody>
          <a:bodyPr wrap="square" rtlCol="0" anchor="ctr"/>
          <a:lstStyle/>
          <a:p>
            <a:pPr marL="0" indent="0">
              <a:buNone/>
            </a:pPr>
            <a:r>
              <a:rPr lang="en-US" sz="800" i="1" dirty="0">
                <a:solidFill>
                  <a:srgbClr val="8A9BA8"/>
                </a:solidFill>
                <a:latin typeface="Calibri" pitchFamily="34" charset="0"/>
                <a:ea typeface="Calibri" pitchFamily="34" charset="-122"/>
                <a:cs typeface="Calibri" pitchFamily="34" charset="-120"/>
              </a:rPr>
              <a:t>Egypt · Founded 1895 · Linked to Al-Azhar</a:t>
            </a:r>
            <a:endParaRPr lang="en-US" sz="800" dirty="0"/>
          </a:p>
        </p:txBody>
      </p:sp>
      <p:sp>
        <p:nvSpPr>
          <p:cNvPr id="28" name="Text 25"/>
          <p:cNvSpPr/>
          <p:nvPr/>
        </p:nvSpPr>
        <p:spPr>
          <a:xfrm>
            <a:off x="320040" y="3639312"/>
            <a:ext cx="2606040" cy="274320"/>
          </a:xfrm>
          <a:prstGeom prst="rect">
            <a:avLst/>
          </a:prstGeom>
          <a:noFill/>
          <a:ln/>
        </p:spPr>
        <p:txBody>
          <a:bodyPr wrap="square" rtlCol="0" anchor="ctr"/>
          <a:lstStyle/>
          <a:p>
            <a:pPr marL="0" indent="0">
              <a:buNone/>
            </a:pPr>
            <a:r>
              <a:rPr lang="en-US" sz="900" b="1" dirty="0">
                <a:solidFill>
                  <a:srgbClr val="E8C97A"/>
                </a:solidFill>
                <a:latin typeface="Calibri" pitchFamily="34" charset="0"/>
                <a:ea typeface="Calibri" pitchFamily="34" charset="-122"/>
                <a:cs typeface="Calibri" pitchFamily="34" charset="-120"/>
              </a:rPr>
              <a:t>Ruling: AI lacks qualifications for acts of worship</a:t>
            </a:r>
            <a:endParaRPr lang="en-US" sz="900" dirty="0"/>
          </a:p>
        </p:txBody>
      </p:sp>
      <p:sp>
        <p:nvSpPr>
          <p:cNvPr id="29" name="Text 26"/>
          <p:cNvSpPr/>
          <p:nvPr/>
        </p:nvSpPr>
        <p:spPr>
          <a:xfrm>
            <a:off x="320040" y="3931920"/>
            <a:ext cx="2606040" cy="804672"/>
          </a:xfrm>
          <a:prstGeom prst="rect">
            <a:avLst/>
          </a:prstGeom>
          <a:noFill/>
          <a:ln/>
        </p:spPr>
        <p:txBody>
          <a:bodyPr wrap="square" rtlCol="0" anchor="ctr"/>
          <a:lstStyle/>
          <a:p>
            <a:pPr marL="0" indent="0">
              <a:buNone/>
            </a:pPr>
            <a:r>
              <a:rPr lang="en-US" sz="850" dirty="0">
                <a:solidFill>
                  <a:srgbClr val="AABBCC"/>
                </a:solidFill>
                <a:latin typeface="Calibri" pitchFamily="34" charset="0"/>
                <a:ea typeface="Calibri" pitchFamily="34" charset="-122"/>
                <a:cs typeface="Calibri" pitchFamily="34" charset="-120"/>
              </a:rPr>
              <a:t>AI cannot replace the human jurist or worshipper — lacks ijtihad, taqwa, and moral integrity required for authentic Islamic acts.</a:t>
            </a:r>
            <a:endParaRPr lang="en-US" sz="850" dirty="0"/>
          </a:p>
        </p:txBody>
      </p:sp>
      <p:sp>
        <p:nvSpPr>
          <p:cNvPr id="36" name="Shape 33"/>
          <p:cNvSpPr/>
          <p:nvPr/>
        </p:nvSpPr>
        <p:spPr>
          <a:xfrm>
            <a:off x="6117336" y="2980944"/>
            <a:ext cx="2788920" cy="1847088"/>
          </a:xfrm>
          <a:prstGeom prst="rect">
            <a:avLst/>
          </a:prstGeom>
          <a:solidFill>
            <a:srgbClr val="0D2137"/>
          </a:solidFill>
          <a:ln/>
          <a:effectLst>
            <a:outerShdw blurRad="76200" dist="25400" dir="8100000" algn="bl" rotWithShape="0">
              <a:srgbClr val="000000">
                <a:alpha val="14000"/>
              </a:srgbClr>
            </a:outerShdw>
          </a:effectLst>
        </p:spPr>
      </p:sp>
      <p:sp>
        <p:nvSpPr>
          <p:cNvPr id="37" name="Shape 34"/>
          <p:cNvSpPr/>
          <p:nvPr/>
        </p:nvSpPr>
        <p:spPr>
          <a:xfrm>
            <a:off x="6117336" y="2980944"/>
            <a:ext cx="2788920" cy="73152"/>
          </a:xfrm>
          <a:prstGeom prst="rect">
            <a:avLst/>
          </a:prstGeom>
          <a:solidFill>
            <a:srgbClr val="1A4731"/>
          </a:solidFill>
          <a:ln/>
        </p:spPr>
      </p:sp>
      <p:sp>
        <p:nvSpPr>
          <p:cNvPr id="38" name="Text 35"/>
          <p:cNvSpPr/>
          <p:nvPr/>
        </p:nvSpPr>
        <p:spPr>
          <a:xfrm>
            <a:off x="6208776" y="3108960"/>
            <a:ext cx="2606040" cy="292608"/>
          </a:xfrm>
          <a:prstGeom prst="rect">
            <a:avLst/>
          </a:prstGeom>
          <a:noFill/>
          <a:ln/>
        </p:spPr>
        <p:txBody>
          <a:bodyPr wrap="square" rtlCol="0" anchor="ctr"/>
          <a:lstStyle/>
          <a:p>
            <a:pPr marL="0" indent="0">
              <a:buNone/>
            </a:pPr>
            <a:r>
              <a:rPr lang="en-US" sz="950" b="1" dirty="0">
                <a:solidFill>
                  <a:srgbClr val="FFFF00"/>
                </a:solidFill>
                <a:latin typeface="Calibri" pitchFamily="34" charset="0"/>
                <a:ea typeface="Calibri" pitchFamily="34" charset="-122"/>
                <a:cs typeface="Calibri" pitchFamily="34" charset="-120"/>
              </a:rPr>
              <a:t>AMJA — 2026 Annual Conference</a:t>
            </a:r>
            <a:endParaRPr lang="en-US" sz="950" dirty="0">
              <a:solidFill>
                <a:srgbClr val="FFFF00"/>
              </a:solidFill>
            </a:endParaRPr>
          </a:p>
        </p:txBody>
      </p:sp>
      <p:sp>
        <p:nvSpPr>
          <p:cNvPr id="39" name="Text 36"/>
          <p:cNvSpPr/>
          <p:nvPr/>
        </p:nvSpPr>
        <p:spPr>
          <a:xfrm>
            <a:off x="6208776" y="3401568"/>
            <a:ext cx="2606040" cy="219456"/>
          </a:xfrm>
          <a:prstGeom prst="rect">
            <a:avLst/>
          </a:prstGeom>
          <a:noFill/>
          <a:ln/>
        </p:spPr>
        <p:txBody>
          <a:bodyPr wrap="square" rtlCol="0" anchor="ctr"/>
          <a:lstStyle/>
          <a:p>
            <a:pPr marL="0" indent="0">
              <a:buNone/>
            </a:pPr>
            <a:r>
              <a:rPr lang="en-US" sz="800" i="1" dirty="0">
                <a:solidFill>
                  <a:srgbClr val="8A9BA8"/>
                </a:solidFill>
                <a:latin typeface="Calibri" pitchFamily="34" charset="0"/>
                <a:ea typeface="Calibri" pitchFamily="34" charset="-122"/>
                <a:cs typeface="Calibri" pitchFamily="34" charset="-120"/>
              </a:rPr>
              <a:t>USA · Multi-Madhab · Serving Western Muslim communities</a:t>
            </a:r>
            <a:endParaRPr lang="en-US" sz="800" dirty="0"/>
          </a:p>
        </p:txBody>
      </p:sp>
      <p:sp>
        <p:nvSpPr>
          <p:cNvPr id="40" name="Text 37"/>
          <p:cNvSpPr/>
          <p:nvPr/>
        </p:nvSpPr>
        <p:spPr>
          <a:xfrm>
            <a:off x="6208776" y="3639312"/>
            <a:ext cx="2606040" cy="274320"/>
          </a:xfrm>
          <a:prstGeom prst="rect">
            <a:avLst/>
          </a:prstGeom>
          <a:noFill/>
          <a:ln/>
        </p:spPr>
        <p:txBody>
          <a:bodyPr wrap="square" rtlCol="0" anchor="ctr"/>
          <a:lstStyle/>
          <a:p>
            <a:pPr marL="0" indent="0">
              <a:buNone/>
            </a:pPr>
            <a:r>
              <a:rPr lang="en-US" sz="900" b="1" dirty="0">
                <a:solidFill>
                  <a:srgbClr val="E8C97A"/>
                </a:solidFill>
                <a:latin typeface="Calibri" pitchFamily="34" charset="0"/>
                <a:ea typeface="Calibri" pitchFamily="34" charset="-122"/>
                <a:cs typeface="Calibri" pitchFamily="34" charset="-120"/>
              </a:rPr>
              <a:t>Ruling: AI cannot perform ibadah; oversight mandatory</a:t>
            </a:r>
            <a:endParaRPr lang="en-US" sz="900" dirty="0"/>
          </a:p>
        </p:txBody>
      </p:sp>
      <p:sp>
        <p:nvSpPr>
          <p:cNvPr id="41" name="Text 38"/>
          <p:cNvSpPr/>
          <p:nvPr/>
        </p:nvSpPr>
        <p:spPr>
          <a:xfrm>
            <a:off x="6208776" y="3931920"/>
            <a:ext cx="2606040" cy="804672"/>
          </a:xfrm>
          <a:prstGeom prst="rect">
            <a:avLst/>
          </a:prstGeom>
          <a:noFill/>
          <a:ln/>
        </p:spPr>
        <p:txBody>
          <a:bodyPr wrap="square" rtlCol="0" anchor="ctr"/>
          <a:lstStyle/>
          <a:p>
            <a:pPr marL="0" indent="0">
              <a:buNone/>
            </a:pPr>
            <a:r>
              <a:rPr lang="en-US" sz="850" dirty="0">
                <a:solidFill>
                  <a:srgbClr val="AABBCC"/>
                </a:solidFill>
                <a:latin typeface="Calibri" pitchFamily="34" charset="0"/>
                <a:ea typeface="Calibri" pitchFamily="34" charset="-122"/>
                <a:cs typeface="Calibri" pitchFamily="34" charset="-120"/>
              </a:rPr>
              <a:t>2026 Annual Imam's Conference centred on AI in Islamic life. AI-generated Quranic audio flagged as requiring urgent scholarly guidance.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8EE"/>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A4731"/>
          </a:solidFill>
          <a:ln/>
        </p:spPr>
      </p:sp>
      <p:sp>
        <p:nvSpPr>
          <p:cNvPr id="3" name="Shape 1"/>
          <p:cNvSpPr/>
          <p:nvPr/>
        </p:nvSpPr>
        <p:spPr>
          <a:xfrm>
            <a:off x="0" y="804672"/>
            <a:ext cx="9144000" cy="54864"/>
          </a:xfrm>
          <a:prstGeom prst="rect">
            <a:avLst/>
          </a:prstGeom>
          <a:solidFill>
            <a:srgbClr val="C9A84C"/>
          </a:solidFill>
          <a:ln/>
        </p:spPr>
      </p:sp>
      <p:sp>
        <p:nvSpPr>
          <p:cNvPr id="4" name="Text 2"/>
          <p:cNvSpPr/>
          <p:nvPr/>
        </p:nvSpPr>
        <p:spPr>
          <a:xfrm>
            <a:off x="320040" y="91440"/>
            <a:ext cx="8503920" cy="621792"/>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Five Jurisprudential Arguments</a:t>
            </a:r>
            <a:endParaRPr lang="en-US" sz="2800" dirty="0"/>
          </a:p>
        </p:txBody>
      </p:sp>
      <p:sp>
        <p:nvSpPr>
          <p:cNvPr id="5" name="Shape 3"/>
          <p:cNvSpPr/>
          <p:nvPr/>
        </p:nvSpPr>
        <p:spPr>
          <a:xfrm>
            <a:off x="228600" y="987552"/>
            <a:ext cx="8686800" cy="713232"/>
          </a:xfrm>
          <a:prstGeom prst="rect">
            <a:avLst/>
          </a:prstGeom>
          <a:solidFill>
            <a:srgbClr val="FFFFFF"/>
          </a:solidFill>
          <a:ln/>
          <a:effectLst>
            <a:outerShdw blurRad="76200" dist="25400" dir="8100000" algn="bl" rotWithShape="0">
              <a:srgbClr val="000000">
                <a:alpha val="14000"/>
              </a:srgbClr>
            </a:outerShdw>
          </a:effectLst>
        </p:spPr>
      </p:sp>
      <p:sp>
        <p:nvSpPr>
          <p:cNvPr id="6" name="Shape 4"/>
          <p:cNvSpPr/>
          <p:nvPr/>
        </p:nvSpPr>
        <p:spPr>
          <a:xfrm>
            <a:off x="228600" y="987552"/>
            <a:ext cx="457200" cy="713232"/>
          </a:xfrm>
          <a:prstGeom prst="rect">
            <a:avLst/>
          </a:prstGeom>
          <a:solidFill>
            <a:srgbClr val="8B2222"/>
          </a:solidFill>
          <a:ln/>
        </p:spPr>
      </p:sp>
      <p:sp>
        <p:nvSpPr>
          <p:cNvPr id="7" name="Text 5"/>
          <p:cNvSpPr/>
          <p:nvPr/>
        </p:nvSpPr>
        <p:spPr>
          <a:xfrm>
            <a:off x="228600" y="1170432"/>
            <a:ext cx="457200" cy="347472"/>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804672" y="1042416"/>
            <a:ext cx="7863840" cy="274320"/>
          </a:xfrm>
          <a:prstGeom prst="rect">
            <a:avLst/>
          </a:prstGeom>
          <a:noFill/>
          <a:ln/>
        </p:spPr>
        <p:txBody>
          <a:bodyPr wrap="square" rtlCol="0" anchor="ctr"/>
          <a:lstStyle/>
          <a:p>
            <a:pPr marL="0" indent="0">
              <a:buNone/>
            </a:pPr>
            <a:r>
              <a:rPr lang="en-US" sz="1250" b="1" dirty="0">
                <a:solidFill>
                  <a:srgbClr val="8B2222"/>
                </a:solidFill>
                <a:latin typeface="Calibri" pitchFamily="34" charset="0"/>
                <a:ea typeface="Calibri" pitchFamily="34" charset="-122"/>
                <a:cs typeface="Calibri" pitchFamily="34" charset="-120"/>
              </a:rPr>
              <a:t>Niyyah (Intention)</a:t>
            </a:r>
            <a:endParaRPr lang="en-US" sz="1250" dirty="0"/>
          </a:p>
        </p:txBody>
      </p:sp>
      <p:sp>
        <p:nvSpPr>
          <p:cNvPr id="9" name="Text 7"/>
          <p:cNvSpPr/>
          <p:nvPr/>
        </p:nvSpPr>
        <p:spPr>
          <a:xfrm>
            <a:off x="804672" y="1335024"/>
            <a:ext cx="7863840" cy="329184"/>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Every act of Islamic worship requires conscious intention. Bukhari No. 1 (Umar RA): 'Deeds are by intentions.' AI has no intention — its output is signal processing, not worship. Invalid at the root.</a:t>
            </a:r>
            <a:endParaRPr lang="en-US" sz="1000" dirty="0"/>
          </a:p>
        </p:txBody>
      </p:sp>
      <p:sp>
        <p:nvSpPr>
          <p:cNvPr id="10" name="Shape 8"/>
          <p:cNvSpPr/>
          <p:nvPr/>
        </p:nvSpPr>
        <p:spPr>
          <a:xfrm>
            <a:off x="228600" y="1792224"/>
            <a:ext cx="8686800" cy="713232"/>
          </a:xfrm>
          <a:prstGeom prst="rect">
            <a:avLst/>
          </a:prstGeom>
          <a:solidFill>
            <a:srgbClr val="FFFFFF"/>
          </a:solidFill>
          <a:ln/>
          <a:effectLst>
            <a:outerShdw blurRad="76200" dist="25400" dir="8100000" algn="bl" rotWithShape="0">
              <a:srgbClr val="000000">
                <a:alpha val="14000"/>
              </a:srgbClr>
            </a:outerShdw>
          </a:effectLst>
        </p:spPr>
      </p:sp>
      <p:sp>
        <p:nvSpPr>
          <p:cNvPr id="11" name="Shape 9"/>
          <p:cNvSpPr/>
          <p:nvPr/>
        </p:nvSpPr>
        <p:spPr>
          <a:xfrm>
            <a:off x="228600" y="1792224"/>
            <a:ext cx="457200" cy="713232"/>
          </a:xfrm>
          <a:prstGeom prst="rect">
            <a:avLst/>
          </a:prstGeom>
          <a:solidFill>
            <a:srgbClr val="C4622D"/>
          </a:solidFill>
          <a:ln/>
        </p:spPr>
      </p:sp>
      <p:sp>
        <p:nvSpPr>
          <p:cNvPr id="12" name="Text 10"/>
          <p:cNvSpPr/>
          <p:nvPr/>
        </p:nvSpPr>
        <p:spPr>
          <a:xfrm>
            <a:off x="228600" y="1975104"/>
            <a:ext cx="457200" cy="347472"/>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3" name="Text 11"/>
          <p:cNvSpPr/>
          <p:nvPr/>
        </p:nvSpPr>
        <p:spPr>
          <a:xfrm>
            <a:off x="804672" y="1847088"/>
            <a:ext cx="7863840" cy="274320"/>
          </a:xfrm>
          <a:prstGeom prst="rect">
            <a:avLst/>
          </a:prstGeom>
          <a:noFill/>
          <a:ln/>
        </p:spPr>
        <p:txBody>
          <a:bodyPr wrap="square" rtlCol="0" anchor="ctr"/>
          <a:lstStyle/>
          <a:p>
            <a:pPr marL="0" indent="0">
              <a:buNone/>
            </a:pPr>
            <a:r>
              <a:rPr lang="en-US" sz="1250" b="1" dirty="0">
                <a:solidFill>
                  <a:srgbClr val="C4622D"/>
                </a:solidFill>
                <a:latin typeface="Calibri" pitchFamily="34" charset="0"/>
                <a:ea typeface="Calibri" pitchFamily="34" charset="-122"/>
                <a:cs typeface="Calibri" pitchFamily="34" charset="-120"/>
              </a:rPr>
              <a:t>Aql (Intellect)</a:t>
            </a:r>
            <a:endParaRPr lang="en-US" sz="1250" dirty="0"/>
          </a:p>
        </p:txBody>
      </p:sp>
      <p:sp>
        <p:nvSpPr>
          <p:cNvPr id="14" name="Text 12"/>
          <p:cNvSpPr/>
          <p:nvPr/>
        </p:nvSpPr>
        <p:spPr>
          <a:xfrm>
            <a:off x="804672" y="2139696"/>
            <a:ext cx="7863840" cy="329184"/>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Hanafi principle: kalam requires Aql. Darul Fiqh 2024 — Imam Al-Bukhari al-Hanafi (d.730AH): Bird reciting Sajdah verse creates no obligation. AI occupies the same legal category.</a:t>
            </a:r>
            <a:endParaRPr lang="en-US" sz="1000" dirty="0"/>
          </a:p>
        </p:txBody>
      </p:sp>
      <p:sp>
        <p:nvSpPr>
          <p:cNvPr id="15" name="Shape 13"/>
          <p:cNvSpPr/>
          <p:nvPr/>
        </p:nvSpPr>
        <p:spPr>
          <a:xfrm>
            <a:off x="228600" y="2596896"/>
            <a:ext cx="8686800" cy="713232"/>
          </a:xfrm>
          <a:prstGeom prst="rect">
            <a:avLst/>
          </a:prstGeom>
          <a:solidFill>
            <a:srgbClr val="FFFFFF"/>
          </a:solidFill>
          <a:ln/>
          <a:effectLst>
            <a:outerShdw blurRad="76200" dist="25400" dir="8100000" algn="bl" rotWithShape="0">
              <a:srgbClr val="000000">
                <a:alpha val="14000"/>
              </a:srgbClr>
            </a:outerShdw>
          </a:effectLst>
        </p:spPr>
      </p:sp>
      <p:sp>
        <p:nvSpPr>
          <p:cNvPr id="16" name="Shape 14"/>
          <p:cNvSpPr/>
          <p:nvPr/>
        </p:nvSpPr>
        <p:spPr>
          <a:xfrm>
            <a:off x="228600" y="2596896"/>
            <a:ext cx="457200" cy="713232"/>
          </a:xfrm>
          <a:prstGeom prst="rect">
            <a:avLst/>
          </a:prstGeom>
          <a:solidFill>
            <a:srgbClr val="B8760C"/>
          </a:solidFill>
          <a:ln/>
        </p:spPr>
      </p:sp>
      <p:sp>
        <p:nvSpPr>
          <p:cNvPr id="17" name="Text 15"/>
          <p:cNvSpPr/>
          <p:nvPr/>
        </p:nvSpPr>
        <p:spPr>
          <a:xfrm>
            <a:off x="228600" y="2779776"/>
            <a:ext cx="457200" cy="347472"/>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8" name="Text 16"/>
          <p:cNvSpPr/>
          <p:nvPr/>
        </p:nvSpPr>
        <p:spPr>
          <a:xfrm>
            <a:off x="804672" y="2651760"/>
            <a:ext cx="7863840" cy="274320"/>
          </a:xfrm>
          <a:prstGeom prst="rect">
            <a:avLst/>
          </a:prstGeom>
          <a:noFill/>
          <a:ln/>
        </p:spPr>
        <p:txBody>
          <a:bodyPr wrap="square" rtlCol="0" anchor="ctr"/>
          <a:lstStyle/>
          <a:p>
            <a:pPr marL="0" indent="0">
              <a:buNone/>
            </a:pPr>
            <a:r>
              <a:rPr lang="en-US" sz="1250" b="1" dirty="0">
                <a:solidFill>
                  <a:srgbClr val="B8760C"/>
                </a:solidFill>
                <a:latin typeface="Calibri" pitchFamily="34" charset="0"/>
                <a:ea typeface="Calibri" pitchFamily="34" charset="-122"/>
                <a:cs typeface="Calibri" pitchFamily="34" charset="-120"/>
              </a:rPr>
              <a:t>Tahreef al-Ma'na</a:t>
            </a:r>
            <a:endParaRPr lang="en-US" sz="1250" dirty="0"/>
          </a:p>
        </p:txBody>
      </p:sp>
      <p:sp>
        <p:nvSpPr>
          <p:cNvPr id="19" name="Text 17"/>
          <p:cNvSpPr/>
          <p:nvPr/>
        </p:nvSpPr>
        <p:spPr>
          <a:xfrm>
            <a:off x="804672" y="2944368"/>
            <a:ext cx="7863840" cy="329184"/>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One harakat can reverse Quranic grammar. AI synthesis produces measurable phoneme error rates. Each error risks distorting Words of Allah. Ibn Uthaymin: adding to/omitting from the Quran via processing is haram.</a:t>
            </a:r>
            <a:endParaRPr lang="en-US" sz="1000" dirty="0"/>
          </a:p>
        </p:txBody>
      </p:sp>
      <p:sp>
        <p:nvSpPr>
          <p:cNvPr id="20" name="Shape 18"/>
          <p:cNvSpPr/>
          <p:nvPr/>
        </p:nvSpPr>
        <p:spPr>
          <a:xfrm>
            <a:off x="228600" y="3401568"/>
            <a:ext cx="8686800" cy="713232"/>
          </a:xfrm>
          <a:prstGeom prst="rect">
            <a:avLst/>
          </a:prstGeom>
          <a:solidFill>
            <a:srgbClr val="FFFFFF"/>
          </a:solidFill>
          <a:ln/>
          <a:effectLst>
            <a:outerShdw blurRad="76200" dist="25400" dir="8100000" algn="bl" rotWithShape="0">
              <a:srgbClr val="000000">
                <a:alpha val="14000"/>
              </a:srgbClr>
            </a:outerShdw>
          </a:effectLst>
        </p:spPr>
      </p:sp>
      <p:sp>
        <p:nvSpPr>
          <p:cNvPr id="21" name="Shape 19"/>
          <p:cNvSpPr/>
          <p:nvPr/>
        </p:nvSpPr>
        <p:spPr>
          <a:xfrm>
            <a:off x="228600" y="3401568"/>
            <a:ext cx="457200" cy="713232"/>
          </a:xfrm>
          <a:prstGeom prst="rect">
            <a:avLst/>
          </a:prstGeom>
          <a:solidFill>
            <a:srgbClr val="2D9B6A"/>
          </a:solidFill>
          <a:ln/>
        </p:spPr>
      </p:sp>
      <p:sp>
        <p:nvSpPr>
          <p:cNvPr id="22" name="Text 20"/>
          <p:cNvSpPr/>
          <p:nvPr/>
        </p:nvSpPr>
        <p:spPr>
          <a:xfrm>
            <a:off x="228600" y="3584448"/>
            <a:ext cx="457200" cy="347472"/>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3" name="Text 21"/>
          <p:cNvSpPr/>
          <p:nvPr/>
        </p:nvSpPr>
        <p:spPr>
          <a:xfrm>
            <a:off x="804672" y="3456432"/>
            <a:ext cx="7863840" cy="274320"/>
          </a:xfrm>
          <a:prstGeom prst="rect">
            <a:avLst/>
          </a:prstGeom>
          <a:noFill/>
          <a:ln/>
        </p:spPr>
        <p:txBody>
          <a:bodyPr wrap="square" rtlCol="0" anchor="ctr"/>
          <a:lstStyle/>
          <a:p>
            <a:pPr marL="0" indent="0">
              <a:buNone/>
            </a:pPr>
            <a:r>
              <a:rPr lang="en-US" sz="1250" b="1" dirty="0">
                <a:solidFill>
                  <a:srgbClr val="2D9B6A"/>
                </a:solidFill>
                <a:latin typeface="Calibri" pitchFamily="34" charset="0"/>
                <a:ea typeface="Calibri" pitchFamily="34" charset="-122"/>
                <a:cs typeface="Calibri" pitchFamily="34" charset="-120"/>
              </a:rPr>
              <a:t>Sanad (Chain)</a:t>
            </a:r>
            <a:endParaRPr lang="en-US" sz="1250" dirty="0"/>
          </a:p>
        </p:txBody>
      </p:sp>
      <p:sp>
        <p:nvSpPr>
          <p:cNvPr id="24" name="Text 22"/>
          <p:cNvSpPr/>
          <p:nvPr/>
        </p:nvSpPr>
        <p:spPr>
          <a:xfrm>
            <a:off x="804672" y="3749040"/>
            <a:ext cx="7863840" cy="329184"/>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Surah Al-Hijr 15:9: preservation includes oral ada'. Ibn al-Jazari (Al-Nashr): direct human transmission required. AI training on recordings creates a statistical model — not a transmission.</a:t>
            </a:r>
            <a:endParaRPr lang="en-US" sz="1000" dirty="0"/>
          </a:p>
        </p:txBody>
      </p:sp>
      <p:sp>
        <p:nvSpPr>
          <p:cNvPr id="25" name="Shape 23"/>
          <p:cNvSpPr/>
          <p:nvPr/>
        </p:nvSpPr>
        <p:spPr>
          <a:xfrm>
            <a:off x="228600" y="4206240"/>
            <a:ext cx="8686800" cy="713232"/>
          </a:xfrm>
          <a:prstGeom prst="rect">
            <a:avLst/>
          </a:prstGeom>
          <a:solidFill>
            <a:srgbClr val="FFFFFF"/>
          </a:solidFill>
          <a:ln/>
          <a:effectLst>
            <a:outerShdw blurRad="76200" dist="25400" dir="8100000" algn="bl" rotWithShape="0">
              <a:srgbClr val="000000">
                <a:alpha val="14000"/>
              </a:srgbClr>
            </a:outerShdw>
          </a:effectLst>
        </p:spPr>
      </p:sp>
      <p:sp>
        <p:nvSpPr>
          <p:cNvPr id="26" name="Shape 24"/>
          <p:cNvSpPr/>
          <p:nvPr/>
        </p:nvSpPr>
        <p:spPr>
          <a:xfrm>
            <a:off x="228600" y="4206240"/>
            <a:ext cx="457200" cy="713232"/>
          </a:xfrm>
          <a:prstGeom prst="rect">
            <a:avLst/>
          </a:prstGeom>
          <a:solidFill>
            <a:srgbClr val="1A4731"/>
          </a:solidFill>
          <a:ln/>
        </p:spPr>
      </p:sp>
      <p:sp>
        <p:nvSpPr>
          <p:cNvPr id="27" name="Text 25"/>
          <p:cNvSpPr/>
          <p:nvPr/>
        </p:nvSpPr>
        <p:spPr>
          <a:xfrm>
            <a:off x="228600" y="4389120"/>
            <a:ext cx="457200" cy="347472"/>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28" name="Text 26"/>
          <p:cNvSpPr/>
          <p:nvPr/>
        </p:nvSpPr>
        <p:spPr>
          <a:xfrm>
            <a:off x="804672" y="4261104"/>
            <a:ext cx="7863840" cy="274320"/>
          </a:xfrm>
          <a:prstGeom prst="rect">
            <a:avLst/>
          </a:prstGeom>
          <a:noFill/>
          <a:ln/>
        </p:spPr>
        <p:txBody>
          <a:bodyPr wrap="square" rtlCol="0" anchor="ctr"/>
          <a:lstStyle/>
          <a:p>
            <a:pPr marL="0" indent="0">
              <a:buNone/>
            </a:pPr>
            <a:r>
              <a:rPr lang="en-US" sz="1250" b="1" dirty="0">
                <a:solidFill>
                  <a:srgbClr val="1A4731"/>
                </a:solidFill>
                <a:latin typeface="Calibri" pitchFamily="34" charset="0"/>
                <a:ea typeface="Calibri" pitchFamily="34" charset="-122"/>
                <a:cs typeface="Calibri" pitchFamily="34" charset="-120"/>
              </a:rPr>
              <a:t>Hurmah (Sanctity)</a:t>
            </a:r>
            <a:endParaRPr lang="en-US" sz="1250" dirty="0"/>
          </a:p>
        </p:txBody>
      </p:sp>
      <p:sp>
        <p:nvSpPr>
          <p:cNvPr id="29" name="Text 27"/>
          <p:cNvSpPr/>
          <p:nvPr/>
        </p:nvSpPr>
        <p:spPr>
          <a:xfrm>
            <a:off x="804672" y="4553712"/>
            <a:ext cx="7863840" cy="329184"/>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Quran 56:79: none shall touch it except the purified. Interaction with the Quran requires taharah, niyyah, reverence. AI exists outside the legal framework governing Quranic interaction entirely.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DF8EE"/>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A4731"/>
          </a:solidFill>
          <a:ln/>
        </p:spPr>
      </p:sp>
      <p:sp>
        <p:nvSpPr>
          <p:cNvPr id="3" name="Shape 1"/>
          <p:cNvSpPr/>
          <p:nvPr/>
        </p:nvSpPr>
        <p:spPr>
          <a:xfrm>
            <a:off x="0" y="804672"/>
            <a:ext cx="9144000" cy="54864"/>
          </a:xfrm>
          <a:prstGeom prst="rect">
            <a:avLst/>
          </a:prstGeom>
          <a:solidFill>
            <a:srgbClr val="C9A84C"/>
          </a:solidFill>
          <a:ln/>
        </p:spPr>
      </p:sp>
      <p:sp>
        <p:nvSpPr>
          <p:cNvPr id="4" name="Text 2"/>
          <p:cNvSpPr/>
          <p:nvPr/>
        </p:nvSpPr>
        <p:spPr>
          <a:xfrm>
            <a:off x="320040" y="91440"/>
            <a:ext cx="8503920" cy="621792"/>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Synthesis: All Scholarly Positions</a:t>
            </a:r>
            <a:endParaRPr lang="en-US" sz="2800" dirty="0"/>
          </a:p>
        </p:txBody>
      </p:sp>
      <p:sp>
        <p:nvSpPr>
          <p:cNvPr id="5" name="Shape 3"/>
          <p:cNvSpPr/>
          <p:nvPr/>
        </p:nvSpPr>
        <p:spPr>
          <a:xfrm>
            <a:off x="228600" y="960120"/>
            <a:ext cx="8686800" cy="402336"/>
          </a:xfrm>
          <a:prstGeom prst="rect">
            <a:avLst/>
          </a:prstGeom>
          <a:solidFill>
            <a:srgbClr val="1A4731"/>
          </a:solidFill>
          <a:ln/>
        </p:spPr>
      </p:sp>
      <p:sp>
        <p:nvSpPr>
          <p:cNvPr id="6" name="Text 4"/>
          <p:cNvSpPr/>
          <p:nvPr/>
        </p:nvSpPr>
        <p:spPr>
          <a:xfrm>
            <a:off x="283464" y="996696"/>
            <a:ext cx="2252791" cy="32918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Scholar / Institution</a:t>
            </a:r>
            <a:endParaRPr lang="en-US" sz="1000" dirty="0"/>
          </a:p>
        </p:txBody>
      </p:sp>
      <p:sp>
        <p:nvSpPr>
          <p:cNvPr id="7" name="Text 5"/>
          <p:cNvSpPr/>
          <p:nvPr/>
        </p:nvSpPr>
        <p:spPr>
          <a:xfrm>
            <a:off x="2645983" y="996696"/>
            <a:ext cx="1707594" cy="32918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Country / School</a:t>
            </a:r>
            <a:endParaRPr lang="en-US" sz="1000" dirty="0"/>
          </a:p>
        </p:txBody>
      </p:sp>
      <p:sp>
        <p:nvSpPr>
          <p:cNvPr id="8" name="Text 6"/>
          <p:cNvSpPr/>
          <p:nvPr/>
        </p:nvSpPr>
        <p:spPr>
          <a:xfrm>
            <a:off x="4463305" y="996696"/>
            <a:ext cx="1889326" cy="32918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Ruling</a:t>
            </a:r>
            <a:endParaRPr lang="en-US" sz="1000" dirty="0"/>
          </a:p>
        </p:txBody>
      </p:sp>
      <p:sp>
        <p:nvSpPr>
          <p:cNvPr id="9" name="Text 7"/>
          <p:cNvSpPr/>
          <p:nvPr/>
        </p:nvSpPr>
        <p:spPr>
          <a:xfrm>
            <a:off x="6462359" y="996696"/>
            <a:ext cx="2398177" cy="32918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Core Principle</a:t>
            </a:r>
            <a:endParaRPr lang="en-US" sz="1000" dirty="0"/>
          </a:p>
        </p:txBody>
      </p:sp>
      <p:sp>
        <p:nvSpPr>
          <p:cNvPr id="15" name="Shape 13"/>
          <p:cNvSpPr/>
          <p:nvPr/>
        </p:nvSpPr>
        <p:spPr>
          <a:xfrm>
            <a:off x="228600" y="1764792"/>
            <a:ext cx="8686800" cy="402336"/>
          </a:xfrm>
          <a:prstGeom prst="rect">
            <a:avLst/>
          </a:prstGeom>
          <a:solidFill>
            <a:srgbClr val="FFFFFF"/>
          </a:solidFill>
          <a:ln/>
        </p:spPr>
      </p:sp>
      <p:sp>
        <p:nvSpPr>
          <p:cNvPr id="16" name="Text 14"/>
          <p:cNvSpPr/>
          <p:nvPr/>
        </p:nvSpPr>
        <p:spPr>
          <a:xfrm>
            <a:off x="283464" y="1801368"/>
            <a:ext cx="2252791"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Jamia Binoria, Karachi</a:t>
            </a:r>
            <a:endParaRPr lang="en-US" sz="950" dirty="0"/>
          </a:p>
        </p:txBody>
      </p:sp>
      <p:sp>
        <p:nvSpPr>
          <p:cNvPr id="17" name="Text 15"/>
          <p:cNvSpPr/>
          <p:nvPr/>
        </p:nvSpPr>
        <p:spPr>
          <a:xfrm>
            <a:off x="2645983" y="1801368"/>
            <a:ext cx="1707594"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Pakistan — Deobandi</a:t>
            </a:r>
            <a:endParaRPr lang="en-US" sz="950" dirty="0"/>
          </a:p>
        </p:txBody>
      </p:sp>
      <p:sp>
        <p:nvSpPr>
          <p:cNvPr id="18" name="Text 16"/>
          <p:cNvSpPr/>
          <p:nvPr/>
        </p:nvSpPr>
        <p:spPr>
          <a:xfrm>
            <a:off x="4463305" y="1801368"/>
            <a:ext cx="1889326"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AI not qualified reciter</a:t>
            </a:r>
            <a:endParaRPr lang="en-US" sz="950" dirty="0"/>
          </a:p>
        </p:txBody>
      </p:sp>
      <p:sp>
        <p:nvSpPr>
          <p:cNvPr id="19" name="Text 17"/>
          <p:cNvSpPr/>
          <p:nvPr/>
        </p:nvSpPr>
        <p:spPr>
          <a:xfrm>
            <a:off x="6462359" y="1801368"/>
            <a:ext cx="2398177"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Shurut of recitation absent in AI</a:t>
            </a:r>
            <a:endParaRPr lang="en-US" sz="950" dirty="0"/>
          </a:p>
        </p:txBody>
      </p:sp>
      <p:sp>
        <p:nvSpPr>
          <p:cNvPr id="25" name="Shape 23"/>
          <p:cNvSpPr/>
          <p:nvPr/>
        </p:nvSpPr>
        <p:spPr>
          <a:xfrm>
            <a:off x="228600" y="2569464"/>
            <a:ext cx="8686800" cy="402336"/>
          </a:xfrm>
          <a:prstGeom prst="rect">
            <a:avLst/>
          </a:prstGeom>
          <a:solidFill>
            <a:srgbClr val="FFFFFF"/>
          </a:solidFill>
          <a:ln/>
        </p:spPr>
      </p:sp>
      <p:sp>
        <p:nvSpPr>
          <p:cNvPr id="26" name="Text 24"/>
          <p:cNvSpPr/>
          <p:nvPr/>
        </p:nvSpPr>
        <p:spPr>
          <a:xfrm>
            <a:off x="283464" y="2606040"/>
            <a:ext cx="2252791"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Darul Fiqh UK (2024)</a:t>
            </a:r>
            <a:endParaRPr lang="en-US" sz="950" dirty="0"/>
          </a:p>
        </p:txBody>
      </p:sp>
      <p:sp>
        <p:nvSpPr>
          <p:cNvPr id="27" name="Text 25"/>
          <p:cNvSpPr/>
          <p:nvPr/>
        </p:nvSpPr>
        <p:spPr>
          <a:xfrm>
            <a:off x="2645983" y="2606040"/>
            <a:ext cx="1707594"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UK — Hanafi (South Asian)</a:t>
            </a:r>
            <a:endParaRPr lang="en-US" sz="950" dirty="0"/>
          </a:p>
        </p:txBody>
      </p:sp>
      <p:sp>
        <p:nvSpPr>
          <p:cNvPr id="28" name="Text 26"/>
          <p:cNvSpPr/>
          <p:nvPr/>
        </p:nvSpPr>
        <p:spPr>
          <a:xfrm>
            <a:off x="4463305" y="2606040"/>
            <a:ext cx="1889326"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AI voiceover = NOT kalam</a:t>
            </a:r>
            <a:endParaRPr lang="en-US" sz="950" dirty="0"/>
          </a:p>
        </p:txBody>
      </p:sp>
      <p:sp>
        <p:nvSpPr>
          <p:cNvPr id="29" name="Text 27"/>
          <p:cNvSpPr/>
          <p:nvPr/>
        </p:nvSpPr>
        <p:spPr>
          <a:xfrm>
            <a:off x="6462359" y="2606040"/>
            <a:ext cx="2398177"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Al-Bukhari al-Hanafi bird analogy</a:t>
            </a:r>
            <a:endParaRPr lang="en-US" sz="950" dirty="0"/>
          </a:p>
        </p:txBody>
      </p:sp>
      <p:sp>
        <p:nvSpPr>
          <p:cNvPr id="30" name="Shape 28"/>
          <p:cNvSpPr/>
          <p:nvPr/>
        </p:nvSpPr>
        <p:spPr>
          <a:xfrm>
            <a:off x="228600" y="2971800"/>
            <a:ext cx="8686800" cy="402336"/>
          </a:xfrm>
          <a:prstGeom prst="rect">
            <a:avLst/>
          </a:prstGeom>
          <a:solidFill>
            <a:srgbClr val="F0F4F0"/>
          </a:solidFill>
          <a:ln/>
        </p:spPr>
      </p:sp>
      <p:sp>
        <p:nvSpPr>
          <p:cNvPr id="31" name="Text 29"/>
          <p:cNvSpPr/>
          <p:nvPr/>
        </p:nvSpPr>
        <p:spPr>
          <a:xfrm>
            <a:off x="283464" y="3008376"/>
            <a:ext cx="2252791"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Shaykh Ibn Uthaymin</a:t>
            </a:r>
            <a:endParaRPr lang="en-US" sz="950" dirty="0"/>
          </a:p>
        </p:txBody>
      </p:sp>
      <p:sp>
        <p:nvSpPr>
          <p:cNvPr id="32" name="Text 30"/>
          <p:cNvSpPr/>
          <p:nvPr/>
        </p:nvSpPr>
        <p:spPr>
          <a:xfrm>
            <a:off x="2645983" y="3008376"/>
            <a:ext cx="1707594"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Saudi — Hanbali</a:t>
            </a:r>
            <a:endParaRPr lang="en-US" sz="950" dirty="0"/>
          </a:p>
        </p:txBody>
      </p:sp>
      <p:sp>
        <p:nvSpPr>
          <p:cNvPr id="33" name="Text 31"/>
          <p:cNvSpPr/>
          <p:nvPr/>
        </p:nvSpPr>
        <p:spPr>
          <a:xfrm>
            <a:off x="4463305" y="3008376"/>
            <a:ext cx="1889326"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Digital distortion = HARAM</a:t>
            </a:r>
            <a:endParaRPr lang="en-US" sz="950" dirty="0"/>
          </a:p>
        </p:txBody>
      </p:sp>
      <p:sp>
        <p:nvSpPr>
          <p:cNvPr id="34" name="Text 32"/>
          <p:cNvSpPr/>
          <p:nvPr/>
        </p:nvSpPr>
        <p:spPr>
          <a:xfrm>
            <a:off x="6462359" y="3008376"/>
            <a:ext cx="2398177"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Tahreef al-Ma'na; adding to Words of Allah</a:t>
            </a:r>
            <a:endParaRPr lang="en-US" sz="950" dirty="0"/>
          </a:p>
        </p:txBody>
      </p:sp>
      <p:sp>
        <p:nvSpPr>
          <p:cNvPr id="35" name="Shape 33"/>
          <p:cNvSpPr/>
          <p:nvPr/>
        </p:nvSpPr>
        <p:spPr>
          <a:xfrm>
            <a:off x="228600" y="3374136"/>
            <a:ext cx="8686800" cy="402336"/>
          </a:xfrm>
          <a:prstGeom prst="rect">
            <a:avLst/>
          </a:prstGeom>
          <a:solidFill>
            <a:srgbClr val="FFFFFF"/>
          </a:solidFill>
          <a:ln/>
        </p:spPr>
      </p:sp>
      <p:sp>
        <p:nvSpPr>
          <p:cNvPr id="36" name="Text 34"/>
          <p:cNvSpPr/>
          <p:nvPr/>
        </p:nvSpPr>
        <p:spPr>
          <a:xfrm>
            <a:off x="283464" y="3410712"/>
            <a:ext cx="2252791"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Shaykh al-Munajjid (IslamQA 2024)</a:t>
            </a:r>
            <a:endParaRPr lang="en-US" sz="950" dirty="0"/>
          </a:p>
        </p:txBody>
      </p:sp>
      <p:sp>
        <p:nvSpPr>
          <p:cNvPr id="37" name="Text 35"/>
          <p:cNvSpPr/>
          <p:nvPr/>
        </p:nvSpPr>
        <p:spPr>
          <a:xfrm>
            <a:off x="2645983" y="3410712"/>
            <a:ext cx="1707594"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Saudi — Hanbali</a:t>
            </a:r>
            <a:endParaRPr lang="en-US" sz="950" dirty="0"/>
          </a:p>
        </p:txBody>
      </p:sp>
      <p:sp>
        <p:nvSpPr>
          <p:cNvPr id="38" name="Text 36"/>
          <p:cNvSpPr/>
          <p:nvPr/>
        </p:nvSpPr>
        <p:spPr>
          <a:xfrm>
            <a:off x="4463305" y="3410712"/>
            <a:ext cx="1889326"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Conditional; no thawab for AI</a:t>
            </a:r>
            <a:endParaRPr lang="en-US" sz="950" dirty="0"/>
          </a:p>
        </p:txBody>
      </p:sp>
      <p:sp>
        <p:nvSpPr>
          <p:cNvPr id="39" name="Text 37"/>
          <p:cNvSpPr/>
          <p:nvPr/>
        </p:nvSpPr>
        <p:spPr>
          <a:xfrm>
            <a:off x="6462359" y="3410712"/>
            <a:ext cx="2398177"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Niyyah required for reward</a:t>
            </a:r>
            <a:endParaRPr lang="en-US" sz="950" dirty="0"/>
          </a:p>
        </p:txBody>
      </p:sp>
      <p:sp>
        <p:nvSpPr>
          <p:cNvPr id="40" name="Shape 38"/>
          <p:cNvSpPr/>
          <p:nvPr/>
        </p:nvSpPr>
        <p:spPr>
          <a:xfrm>
            <a:off x="228600" y="3776472"/>
            <a:ext cx="8686800" cy="402336"/>
          </a:xfrm>
          <a:prstGeom prst="rect">
            <a:avLst/>
          </a:prstGeom>
          <a:solidFill>
            <a:srgbClr val="F0F4F0"/>
          </a:solidFill>
          <a:ln/>
        </p:spPr>
      </p:sp>
      <p:sp>
        <p:nvSpPr>
          <p:cNvPr id="41" name="Text 39"/>
          <p:cNvSpPr/>
          <p:nvPr/>
        </p:nvSpPr>
        <p:spPr>
          <a:xfrm>
            <a:off x="283464" y="3813048"/>
            <a:ext cx="2252791"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IslamWeb Fatwa #510187</a:t>
            </a:r>
            <a:endParaRPr lang="en-US" sz="950" dirty="0"/>
          </a:p>
        </p:txBody>
      </p:sp>
      <p:sp>
        <p:nvSpPr>
          <p:cNvPr id="42" name="Text 40"/>
          <p:cNvSpPr/>
          <p:nvPr/>
        </p:nvSpPr>
        <p:spPr>
          <a:xfrm>
            <a:off x="2645983" y="3813048"/>
            <a:ext cx="1707594"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Qatar — Multi-Madhab</a:t>
            </a:r>
            <a:endParaRPr lang="en-US" sz="950" dirty="0"/>
          </a:p>
        </p:txBody>
      </p:sp>
      <p:sp>
        <p:nvSpPr>
          <p:cNvPr id="43" name="Text 41"/>
          <p:cNvSpPr/>
          <p:nvPr/>
        </p:nvSpPr>
        <p:spPr>
          <a:xfrm>
            <a:off x="4463305" y="3813048"/>
            <a:ext cx="1889326"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Conditional if error-free (none are)</a:t>
            </a:r>
            <a:endParaRPr lang="en-US" sz="950" dirty="0"/>
          </a:p>
        </p:txBody>
      </p:sp>
      <p:sp>
        <p:nvSpPr>
          <p:cNvPr id="44" name="Text 42"/>
          <p:cNvSpPr/>
          <p:nvPr/>
        </p:nvSpPr>
        <p:spPr>
          <a:xfrm>
            <a:off x="6462359" y="3813048"/>
            <a:ext cx="2398177"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Qiyas from erring teacher prohibition</a:t>
            </a:r>
            <a:endParaRPr lang="en-US" sz="950" dirty="0"/>
          </a:p>
        </p:txBody>
      </p:sp>
      <p:sp>
        <p:nvSpPr>
          <p:cNvPr id="45" name="Shape 43"/>
          <p:cNvSpPr/>
          <p:nvPr/>
        </p:nvSpPr>
        <p:spPr>
          <a:xfrm>
            <a:off x="228600" y="2161032"/>
            <a:ext cx="8686800" cy="402336"/>
          </a:xfrm>
          <a:prstGeom prst="rect">
            <a:avLst/>
          </a:prstGeom>
          <a:solidFill>
            <a:srgbClr val="FFFFFF"/>
          </a:solidFill>
          <a:ln/>
        </p:spPr>
      </p:sp>
      <p:sp>
        <p:nvSpPr>
          <p:cNvPr id="46" name="Text 44"/>
          <p:cNvSpPr/>
          <p:nvPr/>
        </p:nvSpPr>
        <p:spPr>
          <a:xfrm>
            <a:off x="283463" y="2185416"/>
            <a:ext cx="2252791"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Dar al-Ifta Egypt</a:t>
            </a:r>
            <a:endParaRPr lang="en-US" sz="950" dirty="0"/>
          </a:p>
        </p:txBody>
      </p:sp>
      <p:sp>
        <p:nvSpPr>
          <p:cNvPr id="47" name="Text 45"/>
          <p:cNvSpPr/>
          <p:nvPr/>
        </p:nvSpPr>
        <p:spPr>
          <a:xfrm>
            <a:off x="2645983" y="2174367"/>
            <a:ext cx="1707594"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Egypt — Al-Azhar linked</a:t>
            </a:r>
            <a:endParaRPr lang="en-US" sz="950" dirty="0"/>
          </a:p>
        </p:txBody>
      </p:sp>
      <p:sp>
        <p:nvSpPr>
          <p:cNvPr id="48" name="Text 46"/>
          <p:cNvSpPr/>
          <p:nvPr/>
        </p:nvSpPr>
        <p:spPr>
          <a:xfrm>
            <a:off x="4463305" y="2197608"/>
            <a:ext cx="1889326"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AI lacks worship qualifications</a:t>
            </a:r>
            <a:endParaRPr lang="en-US" sz="950" dirty="0"/>
          </a:p>
        </p:txBody>
      </p:sp>
      <p:sp>
        <p:nvSpPr>
          <p:cNvPr id="49" name="Text 47"/>
          <p:cNvSpPr/>
          <p:nvPr/>
        </p:nvSpPr>
        <p:spPr>
          <a:xfrm>
            <a:off x="6462358" y="2167128"/>
            <a:ext cx="2398177"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Taqwa, ijtihad, moral accountability required</a:t>
            </a:r>
            <a:endParaRPr lang="en-US" sz="950" dirty="0"/>
          </a:p>
        </p:txBody>
      </p:sp>
      <p:sp>
        <p:nvSpPr>
          <p:cNvPr id="55" name="Shape 53"/>
          <p:cNvSpPr/>
          <p:nvPr/>
        </p:nvSpPr>
        <p:spPr>
          <a:xfrm>
            <a:off x="228600" y="4983480"/>
            <a:ext cx="8686800" cy="402336"/>
          </a:xfrm>
          <a:prstGeom prst="rect">
            <a:avLst/>
          </a:prstGeom>
          <a:solidFill>
            <a:srgbClr val="FFFFFF"/>
          </a:solidFill>
          <a:ln/>
        </p:spPr>
      </p:sp>
      <p:sp>
        <p:nvSpPr>
          <p:cNvPr id="56" name="Text 54"/>
          <p:cNvSpPr/>
          <p:nvPr/>
        </p:nvSpPr>
        <p:spPr>
          <a:xfrm>
            <a:off x="283464" y="5020056"/>
            <a:ext cx="2252791"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AMJA (2026 Conference)</a:t>
            </a:r>
            <a:endParaRPr lang="en-US" sz="950" dirty="0"/>
          </a:p>
        </p:txBody>
      </p:sp>
      <p:sp>
        <p:nvSpPr>
          <p:cNvPr id="57" name="Text 55"/>
          <p:cNvSpPr/>
          <p:nvPr/>
        </p:nvSpPr>
        <p:spPr>
          <a:xfrm>
            <a:off x="2645983" y="5020056"/>
            <a:ext cx="1707594"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USA — Multi-Madhab</a:t>
            </a:r>
            <a:endParaRPr lang="en-US" sz="950" dirty="0"/>
          </a:p>
        </p:txBody>
      </p:sp>
      <p:sp>
        <p:nvSpPr>
          <p:cNvPr id="58" name="Text 56"/>
          <p:cNvSpPr/>
          <p:nvPr/>
        </p:nvSpPr>
        <p:spPr>
          <a:xfrm>
            <a:off x="4463305" y="5020056"/>
            <a:ext cx="1889326"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AI cannot perform ibadah</a:t>
            </a:r>
            <a:endParaRPr lang="en-US" sz="950" dirty="0"/>
          </a:p>
        </p:txBody>
      </p:sp>
      <p:sp>
        <p:nvSpPr>
          <p:cNvPr id="59" name="Text 57"/>
          <p:cNvSpPr/>
          <p:nvPr/>
        </p:nvSpPr>
        <p:spPr>
          <a:xfrm>
            <a:off x="6462359" y="5020056"/>
            <a:ext cx="2398177" cy="329184"/>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Human oversight mandatory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A4731"/>
          </a:solidFill>
          <a:ln/>
        </p:spPr>
      </p:sp>
      <p:sp>
        <p:nvSpPr>
          <p:cNvPr id="3" name="Shape 1"/>
          <p:cNvSpPr/>
          <p:nvPr/>
        </p:nvSpPr>
        <p:spPr>
          <a:xfrm>
            <a:off x="0" y="804672"/>
            <a:ext cx="9144000" cy="54864"/>
          </a:xfrm>
          <a:prstGeom prst="rect">
            <a:avLst/>
          </a:prstGeom>
          <a:solidFill>
            <a:srgbClr val="C9A84C"/>
          </a:solidFill>
          <a:ln/>
        </p:spPr>
      </p:sp>
      <p:sp>
        <p:nvSpPr>
          <p:cNvPr id="4" name="Text 2"/>
          <p:cNvSpPr/>
          <p:nvPr/>
        </p:nvSpPr>
        <p:spPr>
          <a:xfrm>
            <a:off x="320040" y="91440"/>
            <a:ext cx="8503920" cy="621792"/>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Conclusion &amp; Probability Assessment</a:t>
            </a:r>
            <a:endParaRPr lang="en-US" sz="2800" dirty="0"/>
          </a:p>
        </p:txBody>
      </p:sp>
      <p:sp>
        <p:nvSpPr>
          <p:cNvPr id="5" name="Shape 3"/>
          <p:cNvSpPr/>
          <p:nvPr/>
        </p:nvSpPr>
        <p:spPr>
          <a:xfrm>
            <a:off x="228600" y="987552"/>
            <a:ext cx="2834640" cy="2377440"/>
          </a:xfrm>
          <a:prstGeom prst="rect">
            <a:avLst/>
          </a:prstGeom>
          <a:solidFill>
            <a:srgbClr val="0D2137"/>
          </a:solidFill>
          <a:ln/>
          <a:effectLst>
            <a:outerShdw blurRad="76200" dist="25400" dir="8100000" algn="bl" rotWithShape="0">
              <a:srgbClr val="000000">
                <a:alpha val="14000"/>
              </a:srgbClr>
            </a:outerShdw>
          </a:effectLst>
        </p:spPr>
      </p:sp>
      <p:sp>
        <p:nvSpPr>
          <p:cNvPr id="6" name="Shape 4"/>
          <p:cNvSpPr/>
          <p:nvPr/>
        </p:nvSpPr>
        <p:spPr>
          <a:xfrm>
            <a:off x="228600" y="987552"/>
            <a:ext cx="2834640" cy="91440"/>
          </a:xfrm>
          <a:prstGeom prst="rect">
            <a:avLst/>
          </a:prstGeom>
          <a:solidFill>
            <a:srgbClr val="8B2222"/>
          </a:solidFill>
          <a:ln/>
        </p:spPr>
      </p:sp>
      <p:sp>
        <p:nvSpPr>
          <p:cNvPr id="7" name="Text 5"/>
          <p:cNvSpPr/>
          <p:nvPr/>
        </p:nvSpPr>
        <p:spPr>
          <a:xfrm>
            <a:off x="228600" y="1133856"/>
            <a:ext cx="2834640" cy="749808"/>
          </a:xfrm>
          <a:prstGeom prst="rect">
            <a:avLst/>
          </a:prstGeom>
          <a:noFill/>
          <a:ln/>
        </p:spPr>
        <p:txBody>
          <a:bodyPr wrap="square" rtlCol="0" anchor="ctr"/>
          <a:lstStyle/>
          <a:p>
            <a:pPr marL="0" indent="0" algn="ctr">
              <a:buNone/>
            </a:pPr>
            <a:r>
              <a:rPr lang="en-US" sz="3800" b="1" dirty="0">
                <a:solidFill>
                  <a:srgbClr val="8B2222"/>
                </a:solidFill>
                <a:latin typeface="Georgia" pitchFamily="34" charset="0"/>
                <a:ea typeface="Georgia" pitchFamily="34" charset="-122"/>
                <a:cs typeface="Georgia" pitchFamily="34" charset="-120"/>
              </a:rPr>
              <a:t>~80%</a:t>
            </a:r>
            <a:endParaRPr lang="en-US" sz="3800" dirty="0"/>
          </a:p>
        </p:txBody>
      </p:sp>
      <p:sp>
        <p:nvSpPr>
          <p:cNvPr id="8" name="Text 6"/>
          <p:cNvSpPr/>
          <p:nvPr/>
        </p:nvSpPr>
        <p:spPr>
          <a:xfrm>
            <a:off x="320040" y="1901952"/>
            <a:ext cx="2651760" cy="65836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AI voice ≠ human recitation / NOT permissible as substitute</a:t>
            </a:r>
            <a:endParaRPr lang="en-US" sz="1050" dirty="0"/>
          </a:p>
        </p:txBody>
      </p:sp>
      <p:sp>
        <p:nvSpPr>
          <p:cNvPr id="9" name="Text 7"/>
          <p:cNvSpPr/>
          <p:nvPr/>
        </p:nvSpPr>
        <p:spPr>
          <a:xfrm>
            <a:off x="320040" y="2578608"/>
            <a:ext cx="2651760" cy="694944"/>
          </a:xfrm>
          <a:prstGeom prst="rect">
            <a:avLst/>
          </a:prstGeom>
          <a:noFill/>
          <a:ln/>
        </p:spPr>
        <p:txBody>
          <a:bodyPr wrap="square" rtlCol="0" anchor="ctr"/>
          <a:lstStyle/>
          <a:p>
            <a:pPr marL="0" indent="0" algn="ctr">
              <a:buNone/>
            </a:pPr>
            <a:r>
              <a:rPr lang="en-US" sz="850" i="1" dirty="0">
                <a:solidFill>
                  <a:srgbClr val="8A9BA8"/>
                </a:solidFill>
                <a:latin typeface="Calibri" pitchFamily="34" charset="0"/>
                <a:ea typeface="Calibri" pitchFamily="34" charset="-122"/>
                <a:cs typeface="Calibri" pitchFamily="34" charset="-120"/>
              </a:rPr>
              <a:t>Niyyah absent · Aql absent · Sanad absent · Tahreef risk · Unanimous across Hanafi, Hanbali, multi-Madhab bodies</a:t>
            </a:r>
            <a:endParaRPr lang="en-US" sz="850" dirty="0"/>
          </a:p>
        </p:txBody>
      </p:sp>
      <p:sp>
        <p:nvSpPr>
          <p:cNvPr id="10" name="Shape 8"/>
          <p:cNvSpPr/>
          <p:nvPr/>
        </p:nvSpPr>
        <p:spPr>
          <a:xfrm>
            <a:off x="3246120" y="987552"/>
            <a:ext cx="2834640" cy="2377440"/>
          </a:xfrm>
          <a:prstGeom prst="rect">
            <a:avLst/>
          </a:prstGeom>
          <a:solidFill>
            <a:srgbClr val="0D2137"/>
          </a:solidFill>
          <a:ln/>
          <a:effectLst>
            <a:outerShdw blurRad="76200" dist="25400" dir="8100000" algn="bl" rotWithShape="0">
              <a:srgbClr val="000000">
                <a:alpha val="14000"/>
              </a:srgbClr>
            </a:outerShdw>
          </a:effectLst>
        </p:spPr>
      </p:sp>
      <p:sp>
        <p:nvSpPr>
          <p:cNvPr id="11" name="Shape 9"/>
          <p:cNvSpPr/>
          <p:nvPr/>
        </p:nvSpPr>
        <p:spPr>
          <a:xfrm>
            <a:off x="3246120" y="987552"/>
            <a:ext cx="2834640" cy="91440"/>
          </a:xfrm>
          <a:prstGeom prst="rect">
            <a:avLst/>
          </a:prstGeom>
          <a:solidFill>
            <a:srgbClr val="C4622D"/>
          </a:solidFill>
          <a:ln/>
        </p:spPr>
      </p:sp>
      <p:sp>
        <p:nvSpPr>
          <p:cNvPr id="12" name="Text 10"/>
          <p:cNvSpPr/>
          <p:nvPr/>
        </p:nvSpPr>
        <p:spPr>
          <a:xfrm>
            <a:off x="3246120" y="1133856"/>
            <a:ext cx="2834640" cy="749808"/>
          </a:xfrm>
          <a:prstGeom prst="rect">
            <a:avLst/>
          </a:prstGeom>
          <a:noFill/>
          <a:ln/>
        </p:spPr>
        <p:txBody>
          <a:bodyPr wrap="square" rtlCol="0" anchor="ctr"/>
          <a:lstStyle/>
          <a:p>
            <a:pPr marL="0" indent="0" algn="ctr">
              <a:buNone/>
            </a:pPr>
            <a:r>
              <a:rPr lang="en-US" sz="3800" b="1" dirty="0">
                <a:solidFill>
                  <a:srgbClr val="C4622D"/>
                </a:solidFill>
                <a:latin typeface="Georgia" pitchFamily="34" charset="0"/>
                <a:ea typeface="Georgia" pitchFamily="34" charset="-122"/>
                <a:cs typeface="Georgia" pitchFamily="34" charset="-120"/>
              </a:rPr>
              <a:t>~20%</a:t>
            </a:r>
            <a:endParaRPr lang="en-US" sz="3800" dirty="0"/>
          </a:p>
        </p:txBody>
      </p:sp>
      <p:sp>
        <p:nvSpPr>
          <p:cNvPr id="13" name="Text 11"/>
          <p:cNvSpPr/>
          <p:nvPr/>
        </p:nvSpPr>
        <p:spPr>
          <a:xfrm>
            <a:off x="3337560" y="1901952"/>
            <a:ext cx="2651760" cy="65836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Conditionally permissible as assistive aid (Darura)</a:t>
            </a:r>
            <a:endParaRPr lang="en-US" sz="1050" dirty="0"/>
          </a:p>
        </p:txBody>
      </p:sp>
      <p:sp>
        <p:nvSpPr>
          <p:cNvPr id="14" name="Text 12"/>
          <p:cNvSpPr/>
          <p:nvPr/>
        </p:nvSpPr>
        <p:spPr>
          <a:xfrm>
            <a:off x="3337560" y="2578608"/>
            <a:ext cx="2651760" cy="694944"/>
          </a:xfrm>
          <a:prstGeom prst="rect">
            <a:avLst/>
          </a:prstGeom>
          <a:noFill/>
          <a:ln/>
        </p:spPr>
        <p:txBody>
          <a:bodyPr wrap="square" rtlCol="0" anchor="ctr"/>
          <a:lstStyle/>
          <a:p>
            <a:pPr marL="0" indent="0" algn="ctr">
              <a:buNone/>
            </a:pPr>
            <a:r>
              <a:rPr lang="en-US" sz="850" i="1" dirty="0">
                <a:solidFill>
                  <a:srgbClr val="8A9BA8"/>
                </a:solidFill>
                <a:latin typeface="Calibri" pitchFamily="34" charset="0"/>
                <a:ea typeface="Calibri" pitchFamily="34" charset="-122"/>
                <a:cs typeface="Calibri" pitchFamily="34" charset="-120"/>
              </a:rPr>
              <a:t>IslamWeb conditional + Darura principle — strict scholarly oversight required</a:t>
            </a:r>
            <a:endParaRPr lang="en-US" sz="850" dirty="0"/>
          </a:p>
        </p:txBody>
      </p:sp>
      <p:sp>
        <p:nvSpPr>
          <p:cNvPr id="15" name="Shape 13"/>
          <p:cNvSpPr/>
          <p:nvPr/>
        </p:nvSpPr>
        <p:spPr>
          <a:xfrm>
            <a:off x="6263640" y="987552"/>
            <a:ext cx="2834640" cy="2377440"/>
          </a:xfrm>
          <a:prstGeom prst="rect">
            <a:avLst/>
          </a:prstGeom>
          <a:solidFill>
            <a:srgbClr val="0D2137"/>
          </a:solidFill>
          <a:ln/>
          <a:effectLst>
            <a:outerShdw blurRad="76200" dist="25400" dir="8100000" algn="bl" rotWithShape="0">
              <a:srgbClr val="000000">
                <a:alpha val="14000"/>
              </a:srgbClr>
            </a:outerShdw>
          </a:effectLst>
        </p:spPr>
      </p:sp>
      <p:sp>
        <p:nvSpPr>
          <p:cNvPr id="16" name="Shape 14"/>
          <p:cNvSpPr/>
          <p:nvPr/>
        </p:nvSpPr>
        <p:spPr>
          <a:xfrm>
            <a:off x="6263640" y="987552"/>
            <a:ext cx="2834640" cy="91440"/>
          </a:xfrm>
          <a:prstGeom prst="rect">
            <a:avLst/>
          </a:prstGeom>
          <a:solidFill>
            <a:srgbClr val="8A9BA8"/>
          </a:solidFill>
          <a:ln/>
        </p:spPr>
      </p:sp>
      <p:sp>
        <p:nvSpPr>
          <p:cNvPr id="17" name="Text 15"/>
          <p:cNvSpPr/>
          <p:nvPr/>
        </p:nvSpPr>
        <p:spPr>
          <a:xfrm>
            <a:off x="6263640" y="1133856"/>
            <a:ext cx="2834640" cy="749808"/>
          </a:xfrm>
          <a:prstGeom prst="rect">
            <a:avLst/>
          </a:prstGeom>
          <a:noFill/>
          <a:ln/>
        </p:spPr>
        <p:txBody>
          <a:bodyPr wrap="square" rtlCol="0" anchor="ctr"/>
          <a:lstStyle/>
          <a:p>
            <a:pPr marL="0" indent="0" algn="ctr">
              <a:buNone/>
            </a:pPr>
            <a:r>
              <a:rPr lang="en-US" sz="3800" b="1" dirty="0">
                <a:solidFill>
                  <a:srgbClr val="8A9BA8"/>
                </a:solidFill>
                <a:latin typeface="Georgia" pitchFamily="34" charset="0"/>
                <a:ea typeface="Georgia" pitchFamily="34" charset="-122"/>
                <a:cs typeface="Georgia" pitchFamily="34" charset="-120"/>
              </a:rPr>
              <a:t>~0%</a:t>
            </a:r>
            <a:endParaRPr lang="en-US" sz="3800" dirty="0"/>
          </a:p>
        </p:txBody>
      </p:sp>
      <p:sp>
        <p:nvSpPr>
          <p:cNvPr id="18" name="Text 16"/>
          <p:cNvSpPr/>
          <p:nvPr/>
        </p:nvSpPr>
        <p:spPr>
          <a:xfrm>
            <a:off x="6355080" y="1901952"/>
            <a:ext cx="2651760" cy="65836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Fully permissible without conditions</a:t>
            </a:r>
            <a:endParaRPr lang="en-US" sz="1050" dirty="0"/>
          </a:p>
        </p:txBody>
      </p:sp>
      <p:sp>
        <p:nvSpPr>
          <p:cNvPr id="19" name="Text 17"/>
          <p:cNvSpPr/>
          <p:nvPr/>
        </p:nvSpPr>
        <p:spPr>
          <a:xfrm>
            <a:off x="6355080" y="2578608"/>
            <a:ext cx="2651760" cy="694944"/>
          </a:xfrm>
          <a:prstGeom prst="rect">
            <a:avLst/>
          </a:prstGeom>
          <a:noFill/>
          <a:ln/>
        </p:spPr>
        <p:txBody>
          <a:bodyPr wrap="square" rtlCol="0" anchor="ctr"/>
          <a:lstStyle/>
          <a:p>
            <a:pPr marL="0" indent="0" algn="ctr">
              <a:buNone/>
            </a:pPr>
            <a:r>
              <a:rPr lang="en-US" sz="850" i="1" dirty="0">
                <a:solidFill>
                  <a:srgbClr val="8A9BA8"/>
                </a:solidFill>
                <a:latin typeface="Calibri" pitchFamily="34" charset="0"/>
                <a:ea typeface="Calibri" pitchFamily="34" charset="-122"/>
                <a:cs typeface="Calibri" pitchFamily="34" charset="-120"/>
              </a:rPr>
              <a:t>No named scholar or institution supports this position in reviewed literature</a:t>
            </a:r>
            <a:endParaRPr lang="en-US" sz="850" dirty="0"/>
          </a:p>
        </p:txBody>
      </p:sp>
      <p:sp>
        <p:nvSpPr>
          <p:cNvPr id="20" name="Shape 18"/>
          <p:cNvSpPr/>
          <p:nvPr/>
        </p:nvSpPr>
        <p:spPr>
          <a:xfrm>
            <a:off x="228600" y="3493008"/>
            <a:ext cx="8686800" cy="1463040"/>
          </a:xfrm>
          <a:prstGeom prst="rect">
            <a:avLst/>
          </a:prstGeom>
          <a:solidFill>
            <a:srgbClr val="1A4731"/>
          </a:solidFill>
          <a:ln/>
        </p:spPr>
      </p:sp>
      <p:pic>
        <p:nvPicPr>
          <p:cNvPr id="21" name="Image 0" descr="preencoded.png"/>
          <p:cNvPicPr>
            <a:picLocks noChangeAspect="1"/>
          </p:cNvPicPr>
          <p:nvPr/>
        </p:nvPicPr>
        <p:blipFill>
          <a:blip r:embed="rId3"/>
          <a:stretch>
            <a:fillRect/>
          </a:stretch>
        </p:blipFill>
        <p:spPr>
          <a:xfrm>
            <a:off x="384048" y="3639312"/>
            <a:ext cx="457200" cy="457200"/>
          </a:xfrm>
          <a:prstGeom prst="rect">
            <a:avLst/>
          </a:prstGeom>
        </p:spPr>
      </p:pic>
      <p:sp>
        <p:nvSpPr>
          <p:cNvPr id="22" name="Text 19"/>
          <p:cNvSpPr/>
          <p:nvPr/>
        </p:nvSpPr>
        <p:spPr>
          <a:xfrm>
            <a:off x="960120" y="3566160"/>
            <a:ext cx="7772400" cy="292608"/>
          </a:xfrm>
          <a:prstGeom prst="rect">
            <a:avLst/>
          </a:prstGeom>
          <a:noFill/>
          <a:ln/>
        </p:spPr>
        <p:txBody>
          <a:bodyPr wrap="square" rtlCol="0" anchor="ctr"/>
          <a:lstStyle/>
          <a:p>
            <a:pPr marL="0" indent="0">
              <a:buNone/>
            </a:pPr>
            <a:r>
              <a:rPr lang="en-US" sz="1200" b="1" dirty="0">
                <a:solidFill>
                  <a:srgbClr val="E8C97A"/>
                </a:solidFill>
                <a:latin typeface="Calibri" pitchFamily="34" charset="0"/>
                <a:ea typeface="Calibri" pitchFamily="34" charset="-122"/>
                <a:cs typeface="Calibri" pitchFamily="34" charset="-120"/>
              </a:rPr>
              <a:t>Why This Is NOT a Close Question:</a:t>
            </a:r>
            <a:endParaRPr lang="en-US" sz="1200" dirty="0"/>
          </a:p>
        </p:txBody>
      </p:sp>
      <p:sp>
        <p:nvSpPr>
          <p:cNvPr id="23" name="Text 20"/>
          <p:cNvSpPr/>
          <p:nvPr/>
        </p:nvSpPr>
        <p:spPr>
          <a:xfrm>
            <a:off x="960120" y="3877056"/>
            <a:ext cx="7772400" cy="1005840"/>
          </a:xfrm>
          <a:prstGeom prst="rect">
            <a:avLst/>
          </a:prstGeom>
          <a:noFill/>
          <a:ln/>
        </p:spPr>
        <p:txBody>
          <a:bodyPr wrap="square" rtlCol="0" anchor="ctr"/>
          <a:lstStyle/>
          <a:p>
            <a:pPr marL="0" indent="0">
              <a:buNone/>
            </a:pPr>
            <a:r>
              <a:rPr lang="en-US" sz="1000" dirty="0">
                <a:solidFill>
                  <a:srgbClr val="DDEECC"/>
                </a:solidFill>
                <a:latin typeface="Calibri" pitchFamily="34" charset="0"/>
                <a:ea typeface="Calibri" pitchFamily="34" charset="-122"/>
                <a:cs typeface="Calibri" pitchFamily="34" charset="-120"/>
              </a:rPr>
              <a:t>AI voice synthesis is the first technology that eliminates the human act of worship entirely — not merely the medium. Every previous technology (microphone, recording, TV broadcast) preserved a live human reciting. AI synthesis produces Quranic audio with no human present. This is an ontological category change, not a technical upgrade. Across Hanafi (Pakistan), Hanbali (Saudi Arabia), and multi-Madhab global bodies — the conclusion is unanimous.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DF8EE"/>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A4731"/>
          </a:solidFill>
          <a:ln/>
        </p:spPr>
      </p:sp>
      <p:sp>
        <p:nvSpPr>
          <p:cNvPr id="3" name="Shape 1"/>
          <p:cNvSpPr/>
          <p:nvPr/>
        </p:nvSpPr>
        <p:spPr>
          <a:xfrm>
            <a:off x="0" y="804672"/>
            <a:ext cx="9144000" cy="54864"/>
          </a:xfrm>
          <a:prstGeom prst="rect">
            <a:avLst/>
          </a:prstGeom>
          <a:solidFill>
            <a:srgbClr val="C9A84C"/>
          </a:solidFill>
          <a:ln/>
        </p:spPr>
      </p:sp>
      <p:sp>
        <p:nvSpPr>
          <p:cNvPr id="4" name="Text 2"/>
          <p:cNvSpPr/>
          <p:nvPr/>
        </p:nvSpPr>
        <p:spPr>
          <a:xfrm>
            <a:off x="320040" y="91440"/>
            <a:ext cx="8503920" cy="621792"/>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Practical Guidance &amp; Key References</a:t>
            </a:r>
            <a:endParaRPr lang="en-US" sz="2800" dirty="0"/>
          </a:p>
        </p:txBody>
      </p:sp>
      <p:pic>
        <p:nvPicPr>
          <p:cNvPr id="5" name="Image 0" descr="preencoded.png"/>
          <p:cNvPicPr>
            <a:picLocks noChangeAspect="1"/>
          </p:cNvPicPr>
          <p:nvPr/>
        </p:nvPicPr>
        <p:blipFill>
          <a:blip r:embed="rId3"/>
          <a:stretch>
            <a:fillRect/>
          </a:stretch>
        </p:blipFill>
        <p:spPr>
          <a:xfrm>
            <a:off x="256032" y="969264"/>
            <a:ext cx="384048" cy="384048"/>
          </a:xfrm>
          <a:prstGeom prst="rect">
            <a:avLst/>
          </a:prstGeom>
        </p:spPr>
      </p:pic>
      <p:sp>
        <p:nvSpPr>
          <p:cNvPr id="6" name="Text 3"/>
          <p:cNvSpPr/>
          <p:nvPr/>
        </p:nvSpPr>
        <p:spPr>
          <a:xfrm>
            <a:off x="713232" y="969264"/>
            <a:ext cx="914400" cy="384048"/>
          </a:xfrm>
          <a:prstGeom prst="rect">
            <a:avLst/>
          </a:prstGeom>
          <a:noFill/>
          <a:ln/>
        </p:spPr>
        <p:txBody>
          <a:bodyPr wrap="square" rtlCol="0" anchor="ctr"/>
          <a:lstStyle/>
          <a:p>
            <a:pPr marL="0" indent="0">
              <a:buNone/>
            </a:pPr>
            <a:r>
              <a:rPr lang="en-US" sz="1600" b="1" dirty="0">
                <a:solidFill>
                  <a:srgbClr val="2D9B6A"/>
                </a:solidFill>
                <a:latin typeface="Georgia" pitchFamily="34" charset="0"/>
                <a:ea typeface="Georgia" pitchFamily="34" charset="-122"/>
                <a:cs typeface="Georgia" pitchFamily="34" charset="-120"/>
              </a:rPr>
              <a:t>DO</a:t>
            </a:r>
            <a:endParaRPr lang="en-US" sz="1600" dirty="0"/>
          </a:p>
        </p:txBody>
      </p:sp>
      <p:sp>
        <p:nvSpPr>
          <p:cNvPr id="7" name="Shape 4"/>
          <p:cNvSpPr/>
          <p:nvPr/>
        </p:nvSpPr>
        <p:spPr>
          <a:xfrm>
            <a:off x="256032" y="1426464"/>
            <a:ext cx="4114800" cy="475488"/>
          </a:xfrm>
          <a:prstGeom prst="rect">
            <a:avLst/>
          </a:prstGeom>
          <a:solidFill>
            <a:srgbClr val="E8F5EE"/>
          </a:solidFill>
          <a:ln/>
          <a:effectLst>
            <a:outerShdw blurRad="76200" dist="25400" dir="8100000" algn="bl" rotWithShape="0">
              <a:srgbClr val="000000">
                <a:alpha val="14000"/>
              </a:srgbClr>
            </a:outerShdw>
          </a:effectLst>
        </p:spPr>
      </p:sp>
      <p:sp>
        <p:nvSpPr>
          <p:cNvPr id="8" name="Shape 5"/>
          <p:cNvSpPr/>
          <p:nvPr/>
        </p:nvSpPr>
        <p:spPr>
          <a:xfrm>
            <a:off x="256032" y="1426464"/>
            <a:ext cx="54864" cy="475488"/>
          </a:xfrm>
          <a:prstGeom prst="rect">
            <a:avLst/>
          </a:prstGeom>
          <a:solidFill>
            <a:srgbClr val="2D9B6A"/>
          </a:solidFill>
          <a:ln/>
        </p:spPr>
      </p:sp>
      <p:sp>
        <p:nvSpPr>
          <p:cNvPr id="9" name="Text 6"/>
          <p:cNvSpPr/>
          <p:nvPr/>
        </p:nvSpPr>
        <p:spPr>
          <a:xfrm>
            <a:off x="384048" y="1481328"/>
            <a:ext cx="3895344" cy="365760"/>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Seek a Qari with a documented Ijazah chain — Jamia Qiraat Pakistan (Lahore), Jamia Naeemia, Darul Uloom Karachi, Jamia Binoria, Jamia Ashrafia</a:t>
            </a:r>
            <a:endParaRPr lang="en-US" sz="950" dirty="0"/>
          </a:p>
        </p:txBody>
      </p:sp>
      <p:sp>
        <p:nvSpPr>
          <p:cNvPr id="10" name="Shape 7"/>
          <p:cNvSpPr/>
          <p:nvPr/>
        </p:nvSpPr>
        <p:spPr>
          <a:xfrm>
            <a:off x="256032" y="1993392"/>
            <a:ext cx="4114800" cy="475488"/>
          </a:xfrm>
          <a:prstGeom prst="rect">
            <a:avLst/>
          </a:prstGeom>
          <a:solidFill>
            <a:srgbClr val="E8F5EE"/>
          </a:solidFill>
          <a:ln/>
          <a:effectLst>
            <a:outerShdw blurRad="76200" dist="25400" dir="8100000" algn="bl" rotWithShape="0">
              <a:srgbClr val="000000">
                <a:alpha val="14000"/>
              </a:srgbClr>
            </a:outerShdw>
          </a:effectLst>
        </p:spPr>
      </p:sp>
      <p:sp>
        <p:nvSpPr>
          <p:cNvPr id="11" name="Shape 8"/>
          <p:cNvSpPr/>
          <p:nvPr/>
        </p:nvSpPr>
        <p:spPr>
          <a:xfrm>
            <a:off x="256032" y="1993392"/>
            <a:ext cx="54864" cy="475488"/>
          </a:xfrm>
          <a:prstGeom prst="rect">
            <a:avLst/>
          </a:prstGeom>
          <a:solidFill>
            <a:srgbClr val="2D9B6A"/>
          </a:solidFill>
          <a:ln/>
        </p:spPr>
      </p:sp>
      <p:sp>
        <p:nvSpPr>
          <p:cNvPr id="12" name="Text 9"/>
          <p:cNvSpPr/>
          <p:nvPr/>
        </p:nvSpPr>
        <p:spPr>
          <a:xfrm>
            <a:off x="384048" y="2048256"/>
            <a:ext cx="3895344" cy="365760"/>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Consult Wifaq ul Madaris scholars / Darul Uloom Karachi Darul Ifta for tool-specific validation</a:t>
            </a:r>
            <a:endParaRPr lang="en-US" sz="950" dirty="0"/>
          </a:p>
        </p:txBody>
      </p:sp>
      <p:sp>
        <p:nvSpPr>
          <p:cNvPr id="13" name="Shape 10"/>
          <p:cNvSpPr/>
          <p:nvPr/>
        </p:nvSpPr>
        <p:spPr>
          <a:xfrm>
            <a:off x="256032" y="2560320"/>
            <a:ext cx="4114800" cy="475488"/>
          </a:xfrm>
          <a:prstGeom prst="rect">
            <a:avLst/>
          </a:prstGeom>
          <a:solidFill>
            <a:srgbClr val="E8F5EE"/>
          </a:solidFill>
          <a:ln/>
          <a:effectLst>
            <a:outerShdw blurRad="76200" dist="25400" dir="8100000" algn="bl" rotWithShape="0">
              <a:srgbClr val="000000">
                <a:alpha val="14000"/>
              </a:srgbClr>
            </a:outerShdw>
          </a:effectLst>
        </p:spPr>
      </p:sp>
      <p:sp>
        <p:nvSpPr>
          <p:cNvPr id="14" name="Shape 11"/>
          <p:cNvSpPr/>
          <p:nvPr/>
        </p:nvSpPr>
        <p:spPr>
          <a:xfrm>
            <a:off x="256032" y="2560320"/>
            <a:ext cx="54864" cy="475488"/>
          </a:xfrm>
          <a:prstGeom prst="rect">
            <a:avLst/>
          </a:prstGeom>
          <a:solidFill>
            <a:srgbClr val="2D9B6A"/>
          </a:solidFill>
          <a:ln/>
        </p:spPr>
      </p:sp>
      <p:sp>
        <p:nvSpPr>
          <p:cNvPr id="15" name="Text 12"/>
          <p:cNvSpPr/>
          <p:nvPr/>
        </p:nvSpPr>
        <p:spPr>
          <a:xfrm>
            <a:off x="384048" y="2615184"/>
            <a:ext cx="3895344" cy="365760"/>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Use Tarteel AI only as a secondary self-check between sessions with a qualified human teacher</a:t>
            </a:r>
            <a:endParaRPr lang="en-US" sz="950" dirty="0"/>
          </a:p>
        </p:txBody>
      </p:sp>
      <p:pic>
        <p:nvPicPr>
          <p:cNvPr id="16" name="Image 1" descr="preencoded.png"/>
          <p:cNvPicPr>
            <a:picLocks noChangeAspect="1"/>
          </p:cNvPicPr>
          <p:nvPr/>
        </p:nvPicPr>
        <p:blipFill>
          <a:blip r:embed="rId4"/>
          <a:stretch>
            <a:fillRect/>
          </a:stretch>
        </p:blipFill>
        <p:spPr>
          <a:xfrm>
            <a:off x="4773168" y="969264"/>
            <a:ext cx="384048" cy="384048"/>
          </a:xfrm>
          <a:prstGeom prst="rect">
            <a:avLst/>
          </a:prstGeom>
        </p:spPr>
      </p:pic>
      <p:sp>
        <p:nvSpPr>
          <p:cNvPr id="17" name="Text 13"/>
          <p:cNvSpPr/>
          <p:nvPr/>
        </p:nvSpPr>
        <p:spPr>
          <a:xfrm>
            <a:off x="5230368" y="969264"/>
            <a:ext cx="1371600" cy="384048"/>
          </a:xfrm>
          <a:prstGeom prst="rect">
            <a:avLst/>
          </a:prstGeom>
          <a:noFill/>
          <a:ln/>
        </p:spPr>
        <p:txBody>
          <a:bodyPr wrap="square" rtlCol="0" anchor="ctr"/>
          <a:lstStyle/>
          <a:p>
            <a:pPr marL="0" indent="0">
              <a:buNone/>
            </a:pPr>
            <a:r>
              <a:rPr lang="en-US" sz="1600" b="1" dirty="0">
                <a:solidFill>
                  <a:srgbClr val="8B2222"/>
                </a:solidFill>
                <a:latin typeface="Georgia" pitchFamily="34" charset="0"/>
                <a:ea typeface="Georgia" pitchFamily="34" charset="-122"/>
                <a:cs typeface="Georgia" pitchFamily="34" charset="-120"/>
              </a:rPr>
              <a:t>DON'T</a:t>
            </a:r>
            <a:endParaRPr lang="en-US" sz="1600" dirty="0"/>
          </a:p>
        </p:txBody>
      </p:sp>
      <p:sp>
        <p:nvSpPr>
          <p:cNvPr id="18" name="Shape 14"/>
          <p:cNvSpPr/>
          <p:nvPr/>
        </p:nvSpPr>
        <p:spPr>
          <a:xfrm>
            <a:off x="4773168" y="1426464"/>
            <a:ext cx="4114800" cy="475488"/>
          </a:xfrm>
          <a:prstGeom prst="rect">
            <a:avLst/>
          </a:prstGeom>
          <a:solidFill>
            <a:srgbClr val="FFF0EE"/>
          </a:solidFill>
          <a:ln/>
          <a:effectLst>
            <a:outerShdw blurRad="76200" dist="25400" dir="8100000" algn="bl" rotWithShape="0">
              <a:srgbClr val="000000">
                <a:alpha val="14000"/>
              </a:srgbClr>
            </a:outerShdw>
          </a:effectLst>
        </p:spPr>
      </p:sp>
      <p:sp>
        <p:nvSpPr>
          <p:cNvPr id="19" name="Shape 15"/>
          <p:cNvSpPr/>
          <p:nvPr/>
        </p:nvSpPr>
        <p:spPr>
          <a:xfrm>
            <a:off x="4773168" y="1426464"/>
            <a:ext cx="54864" cy="475488"/>
          </a:xfrm>
          <a:prstGeom prst="rect">
            <a:avLst/>
          </a:prstGeom>
          <a:solidFill>
            <a:srgbClr val="8B2222"/>
          </a:solidFill>
          <a:ln/>
        </p:spPr>
      </p:sp>
      <p:sp>
        <p:nvSpPr>
          <p:cNvPr id="20" name="Text 16"/>
          <p:cNvSpPr/>
          <p:nvPr/>
        </p:nvSpPr>
        <p:spPr>
          <a:xfrm>
            <a:off x="4901184" y="1481328"/>
            <a:ext cx="3895344" cy="365760"/>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Use AI voice synthesis (ElevenLabs, Murattal AI) as a substitute for or equal to authentic Qari recitation</a:t>
            </a:r>
            <a:endParaRPr lang="en-US" sz="950" dirty="0"/>
          </a:p>
        </p:txBody>
      </p:sp>
      <p:sp>
        <p:nvSpPr>
          <p:cNvPr id="21" name="Shape 17"/>
          <p:cNvSpPr/>
          <p:nvPr/>
        </p:nvSpPr>
        <p:spPr>
          <a:xfrm>
            <a:off x="4773168" y="1993392"/>
            <a:ext cx="4114800" cy="475488"/>
          </a:xfrm>
          <a:prstGeom prst="rect">
            <a:avLst/>
          </a:prstGeom>
          <a:solidFill>
            <a:srgbClr val="FFF0EE"/>
          </a:solidFill>
          <a:ln/>
          <a:effectLst>
            <a:outerShdw blurRad="76200" dist="25400" dir="8100000" algn="bl" rotWithShape="0">
              <a:srgbClr val="000000">
                <a:alpha val="14000"/>
              </a:srgbClr>
            </a:outerShdw>
          </a:effectLst>
        </p:spPr>
      </p:sp>
      <p:sp>
        <p:nvSpPr>
          <p:cNvPr id="22" name="Shape 18"/>
          <p:cNvSpPr/>
          <p:nvPr/>
        </p:nvSpPr>
        <p:spPr>
          <a:xfrm>
            <a:off x="4773168" y="1993392"/>
            <a:ext cx="54864" cy="475488"/>
          </a:xfrm>
          <a:prstGeom prst="rect">
            <a:avLst/>
          </a:prstGeom>
          <a:solidFill>
            <a:srgbClr val="8B2222"/>
          </a:solidFill>
          <a:ln/>
        </p:spPr>
      </p:sp>
      <p:sp>
        <p:nvSpPr>
          <p:cNvPr id="23" name="Text 19"/>
          <p:cNvSpPr/>
          <p:nvPr/>
        </p:nvSpPr>
        <p:spPr>
          <a:xfrm>
            <a:off x="4901184" y="2048256"/>
            <a:ext cx="3895344" cy="365760"/>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Present AI-generated Quranic audio in Salah or formal worship contexts</a:t>
            </a:r>
            <a:endParaRPr lang="en-US" sz="950" dirty="0"/>
          </a:p>
        </p:txBody>
      </p:sp>
      <p:sp>
        <p:nvSpPr>
          <p:cNvPr id="24" name="Shape 20"/>
          <p:cNvSpPr/>
          <p:nvPr/>
        </p:nvSpPr>
        <p:spPr>
          <a:xfrm>
            <a:off x="4773168" y="2560320"/>
            <a:ext cx="4114800" cy="475488"/>
          </a:xfrm>
          <a:prstGeom prst="rect">
            <a:avLst/>
          </a:prstGeom>
          <a:solidFill>
            <a:srgbClr val="FFF0EE"/>
          </a:solidFill>
          <a:ln/>
          <a:effectLst>
            <a:outerShdw blurRad="76200" dist="25400" dir="8100000" algn="bl" rotWithShape="0">
              <a:srgbClr val="000000">
                <a:alpha val="14000"/>
              </a:srgbClr>
            </a:outerShdw>
          </a:effectLst>
        </p:spPr>
      </p:sp>
      <p:sp>
        <p:nvSpPr>
          <p:cNvPr id="25" name="Shape 21"/>
          <p:cNvSpPr/>
          <p:nvPr/>
        </p:nvSpPr>
        <p:spPr>
          <a:xfrm>
            <a:off x="4773168" y="2560320"/>
            <a:ext cx="54864" cy="475488"/>
          </a:xfrm>
          <a:prstGeom prst="rect">
            <a:avLst/>
          </a:prstGeom>
          <a:solidFill>
            <a:srgbClr val="8B2222"/>
          </a:solidFill>
          <a:ln/>
        </p:spPr>
      </p:sp>
      <p:sp>
        <p:nvSpPr>
          <p:cNvPr id="26" name="Text 22"/>
          <p:cNvSpPr/>
          <p:nvPr/>
        </p:nvSpPr>
        <p:spPr>
          <a:xfrm>
            <a:off x="4901184" y="2615184"/>
            <a:ext cx="3895344" cy="365760"/>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Use AI-cloned Qari voices without that Qari's explicit written permission</a:t>
            </a:r>
            <a:endParaRPr lang="en-US" sz="950" dirty="0"/>
          </a:p>
        </p:txBody>
      </p:sp>
      <p:sp>
        <p:nvSpPr>
          <p:cNvPr id="27" name="Shape 23"/>
          <p:cNvSpPr/>
          <p:nvPr/>
        </p:nvSpPr>
        <p:spPr>
          <a:xfrm>
            <a:off x="228600" y="3200400"/>
            <a:ext cx="8686800" cy="1737360"/>
          </a:xfrm>
          <a:prstGeom prst="rect">
            <a:avLst/>
          </a:prstGeom>
          <a:solidFill>
            <a:srgbClr val="FFFFFF"/>
          </a:solidFill>
          <a:ln/>
          <a:effectLst>
            <a:outerShdw blurRad="76200" dist="25400" dir="8100000" algn="bl" rotWithShape="0">
              <a:srgbClr val="000000">
                <a:alpha val="14000"/>
              </a:srgbClr>
            </a:outerShdw>
          </a:effectLst>
        </p:spPr>
      </p:sp>
      <p:sp>
        <p:nvSpPr>
          <p:cNvPr id="28" name="Shape 24"/>
          <p:cNvSpPr/>
          <p:nvPr/>
        </p:nvSpPr>
        <p:spPr>
          <a:xfrm>
            <a:off x="228600" y="3200400"/>
            <a:ext cx="8686800" cy="73152"/>
          </a:xfrm>
          <a:prstGeom prst="rect">
            <a:avLst/>
          </a:prstGeom>
          <a:solidFill>
            <a:srgbClr val="C9A84C"/>
          </a:solidFill>
          <a:ln/>
        </p:spPr>
      </p:sp>
      <p:sp>
        <p:nvSpPr>
          <p:cNvPr id="29" name="Text 25"/>
          <p:cNvSpPr/>
          <p:nvPr/>
        </p:nvSpPr>
        <p:spPr>
          <a:xfrm>
            <a:off x="365760" y="3310128"/>
            <a:ext cx="8229600" cy="274320"/>
          </a:xfrm>
          <a:prstGeom prst="rect">
            <a:avLst/>
          </a:prstGeom>
          <a:noFill/>
          <a:ln/>
        </p:spPr>
        <p:txBody>
          <a:bodyPr wrap="square" rtlCol="0" anchor="ctr"/>
          <a:lstStyle/>
          <a:p>
            <a:pPr marL="0" indent="0">
              <a:buNone/>
            </a:pPr>
            <a:r>
              <a:rPr lang="en-US" sz="1200" b="1" dirty="0">
                <a:solidFill>
                  <a:srgbClr val="1A4731"/>
                </a:solidFill>
                <a:latin typeface="Georgia" pitchFamily="34" charset="0"/>
                <a:ea typeface="Georgia" pitchFamily="34" charset="-122"/>
                <a:cs typeface="Georgia" pitchFamily="34" charset="-120"/>
              </a:rPr>
              <a:t>Key Primary Sources</a:t>
            </a:r>
            <a:endParaRPr lang="en-US" sz="1200" dirty="0"/>
          </a:p>
        </p:txBody>
      </p:sp>
      <p:sp>
        <p:nvSpPr>
          <p:cNvPr id="30" name="Text 26"/>
          <p:cNvSpPr/>
          <p:nvPr/>
        </p:nvSpPr>
        <p:spPr>
          <a:xfrm>
            <a:off x="365760" y="3639312"/>
            <a:ext cx="8229600" cy="274320"/>
          </a:xfrm>
          <a:prstGeom prst="rect">
            <a:avLst/>
          </a:prstGeom>
          <a:noFill/>
          <a:ln/>
        </p:spPr>
        <p:txBody>
          <a:bodyPr wrap="square" rtlCol="0" anchor="ctr"/>
          <a:lstStyle/>
          <a:p>
            <a:pPr marL="0" indent="0">
              <a:buNone/>
            </a:pPr>
            <a:r>
              <a:rPr lang="en-US" sz="950" dirty="0">
                <a:solidFill>
                  <a:srgbClr val="333333"/>
                </a:solidFill>
                <a:latin typeface="Calibri" pitchFamily="34" charset="0"/>
                <a:ea typeface="Calibri" pitchFamily="34" charset="-122"/>
                <a:cs typeface="Calibri" pitchFamily="34" charset="-120"/>
              </a:rPr>
              <a:t>• Quran 73:4 (Tarteel) · Quran 15:9 (Preservation) · Bukhari No.1 (Niyyah) · Tirmidhi No.2910 (Reward per letter)</a:t>
            </a:r>
            <a:endParaRPr lang="en-US" sz="950" dirty="0"/>
          </a:p>
        </p:txBody>
      </p:sp>
      <p:sp>
        <p:nvSpPr>
          <p:cNvPr id="31" name="Text 27"/>
          <p:cNvSpPr/>
          <p:nvPr/>
        </p:nvSpPr>
        <p:spPr>
          <a:xfrm>
            <a:off x="365760" y="3941064"/>
            <a:ext cx="8229600" cy="274320"/>
          </a:xfrm>
          <a:prstGeom prst="rect">
            <a:avLst/>
          </a:prstGeom>
          <a:noFill/>
          <a:ln/>
        </p:spPr>
        <p:txBody>
          <a:bodyPr wrap="square" rtlCol="0" anchor="ctr"/>
          <a:lstStyle/>
          <a:p>
            <a:pPr marL="0" indent="0">
              <a:buNone/>
            </a:pPr>
            <a:r>
              <a:rPr lang="en-US" sz="950" dirty="0">
                <a:solidFill>
                  <a:srgbClr val="333333"/>
                </a:solidFill>
                <a:latin typeface="Calibri" pitchFamily="34" charset="0"/>
                <a:ea typeface="Calibri" pitchFamily="34" charset="-122"/>
                <a:cs typeface="Calibri" pitchFamily="34" charset="-120"/>
              </a:rPr>
              <a:t>• Darul Fiqh UK (2024) · Jamia Binoria (onlinefatawa.com)</a:t>
            </a:r>
            <a:endParaRPr lang="en-US" sz="950" dirty="0"/>
          </a:p>
        </p:txBody>
      </p:sp>
      <p:sp>
        <p:nvSpPr>
          <p:cNvPr id="32" name="Text 28"/>
          <p:cNvSpPr/>
          <p:nvPr/>
        </p:nvSpPr>
        <p:spPr>
          <a:xfrm>
            <a:off x="365760" y="4242816"/>
            <a:ext cx="8229600" cy="274320"/>
          </a:xfrm>
          <a:prstGeom prst="rect">
            <a:avLst/>
          </a:prstGeom>
          <a:noFill/>
          <a:ln/>
        </p:spPr>
        <p:txBody>
          <a:bodyPr wrap="square" rtlCol="0" anchor="ctr"/>
          <a:lstStyle/>
          <a:p>
            <a:pPr marL="0" indent="0">
              <a:buNone/>
            </a:pPr>
            <a:r>
              <a:rPr lang="en-US" sz="950" dirty="0">
                <a:solidFill>
                  <a:srgbClr val="333333"/>
                </a:solidFill>
                <a:latin typeface="Calibri" pitchFamily="34" charset="0"/>
                <a:ea typeface="Calibri" pitchFamily="34" charset="-122"/>
                <a:cs typeface="Calibri" pitchFamily="34" charset="-120"/>
              </a:rPr>
              <a:t>• IslamQA #391117 (Ibn Uthaymin — auto-tune) · IslamQA #512399 (al-Munajjid — AI voice, 2024) · IslamWeb #510187</a:t>
            </a:r>
            <a:endParaRPr lang="en-US" sz="950" dirty="0"/>
          </a:p>
        </p:txBody>
      </p:sp>
      <p:sp>
        <p:nvSpPr>
          <p:cNvPr id="33" name="Text 29"/>
          <p:cNvSpPr/>
          <p:nvPr/>
        </p:nvSpPr>
        <p:spPr>
          <a:xfrm>
            <a:off x="365760" y="4544568"/>
            <a:ext cx="8229600" cy="274320"/>
          </a:xfrm>
          <a:prstGeom prst="rect">
            <a:avLst/>
          </a:prstGeom>
          <a:noFill/>
          <a:ln/>
        </p:spPr>
        <p:txBody>
          <a:bodyPr wrap="square" rtlCol="0" anchor="ctr"/>
          <a:lstStyle/>
          <a:p>
            <a:pPr marL="0" indent="0">
              <a:buNone/>
            </a:pPr>
            <a:r>
              <a:rPr lang="en-US" sz="950" dirty="0">
                <a:solidFill>
                  <a:srgbClr val="333333"/>
                </a:solidFill>
                <a:latin typeface="Calibri" pitchFamily="34" charset="0"/>
                <a:ea typeface="Calibri" pitchFamily="34" charset="-122"/>
                <a:cs typeface="Calibri" pitchFamily="34" charset="-120"/>
              </a:rPr>
              <a:t>• Dar al-Ifta Egypt (2024) · AMJA 2026 Conference · Al-Suyuti Al-Itqan · Ibn al-Jazari Al-Nashr</a:t>
            </a:r>
            <a:endParaRPr lang="en-US" sz="950" dirty="0"/>
          </a:p>
        </p:txBody>
      </p:sp>
      <p:sp>
        <p:nvSpPr>
          <p:cNvPr id="34" name="Shape 30"/>
          <p:cNvSpPr/>
          <p:nvPr/>
        </p:nvSpPr>
        <p:spPr>
          <a:xfrm>
            <a:off x="0" y="4846320"/>
            <a:ext cx="9144000" cy="297180"/>
          </a:xfrm>
          <a:prstGeom prst="rect">
            <a:avLst/>
          </a:prstGeom>
          <a:solidFill>
            <a:srgbClr val="1A4731"/>
          </a:solidFill>
          <a:ln/>
        </p:spPr>
      </p:sp>
      <p:sp>
        <p:nvSpPr>
          <p:cNvPr id="35" name="Text 31"/>
          <p:cNvSpPr/>
          <p:nvPr/>
        </p:nvSpPr>
        <p:spPr>
          <a:xfrm>
            <a:off x="274320" y="4873752"/>
            <a:ext cx="8595360" cy="256032"/>
          </a:xfrm>
          <a:prstGeom prst="rect">
            <a:avLst/>
          </a:prstGeom>
          <a:noFill/>
          <a:ln/>
        </p:spPr>
        <p:txBody>
          <a:bodyPr wrap="square" rtlCol="0" anchor="ctr"/>
          <a:lstStyle/>
          <a:p>
            <a:pPr marL="0" indent="0" algn="ctr">
              <a:buNone/>
            </a:pPr>
            <a:r>
              <a:rPr lang="en-US" sz="1200" i="1" dirty="0">
                <a:solidFill>
                  <a:srgbClr val="E8C97A"/>
                </a:solidFill>
                <a:latin typeface="Georgia" pitchFamily="34" charset="0"/>
                <a:ea typeface="Georgia" pitchFamily="34" charset="-122"/>
                <a:cs typeface="Georgia" pitchFamily="34" charset="-120"/>
              </a:rPr>
              <a:t>"And recite the Quran with measured recitation." — Quran 73:4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1224</TotalTime>
  <Words>2403</Words>
  <Application>Microsoft Office PowerPoint</Application>
  <PresentationFormat>On-screen Show (16:9)</PresentationFormat>
  <Paragraphs>222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Voice &amp; Quran Recitation — Islamic Ruling</dc:title>
  <dc:subject>PptxGenJS Presentation</dc:subject>
  <dc:creator>PptxGenJS</dc:creator>
  <cp:lastModifiedBy>hp</cp:lastModifiedBy>
  <cp:revision>11</cp:revision>
  <dcterms:created xsi:type="dcterms:W3CDTF">2026-03-03T08:37:19Z</dcterms:created>
  <dcterms:modified xsi:type="dcterms:W3CDTF">2026-03-05T07:46:19Z</dcterms:modified>
</cp:coreProperties>
</file>