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9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27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(~20 sec)
"Millions of Muslims today turn to ChatGPT, Claude, and Arabic-trained models for religious guidance — from prayer timings to divorce rulings. A new class of AI fatwa chatbots has emerged, deployed by governments, companies, and open-source communities alike. My question is this: can any of these systems actually perform what Islamic jurisprudence calls ijtihad — the rigorous, qualified, independent derivation of legal rulings from primary sources? The empirical answer, backed by three peer-reviewed papers, is a resounding no. And the theological reasons why that matters run far deeper than accuracy scores."
Anticipate Q: "Isn't 68% accuracy still useful?"
→ In medicine or law, 68% accuracy with 21% hallucination would be disqualifying. In fiqh, where errors affect the ʿibadah and personal status law of nearly 2 billion Muslims, the stakes are categorically higher.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(~60 sec)
"Let me frame the scale of the problem. Arabic-language LLMs trained on Islamic corpora — models like Fanar, ALLaM, and fine-tuned GPT-4 — are now deployed by governments and app developers to millions of Muslim users. Saudi Arabia introduced AI 'fatwa robots' inside the Grand Mosque complex at Hajj 2025. The UAE Fatwa Council operates an AI-powered chatbot. Open-source Islamic chatbots are proliferating unchecked.
The Islamic question is this: ijtihad is not a search query — it is a qualified act of reasoning by a specific type of person. Classical usul al-fiqh texts list the conditions for a mujtahid: mastery of Arabic linguistics, full command of the Quran and Sunnah with their modes of abrogation, knowledge of ijma' and qiyas, and — critically — taqwa. None of these conditions are fulfilled by a language model.
What is at stake? The numbers on this slide come from IslamicLegalBench, a 2026 benchmark covering 38 foundational legal texts and seven schools of jurisprudence. The best model got 68% right. That means it got 32% wrong — on questions of prayer, marriage, divorce, and inheritance. And 6 of 9 models accepted false jurisprudential premises at rates above 40%, which the authors call 'risky sycophancy.'"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(~90 sec)
Verse 1 — Q. 4:59:
"The Quran's command to return disputes to Allah and His Messenger is the foundational basis for Islamic jurisprudence. Ibn Kathir explains this as the obligation to consult the Quran and authenticated Sunnah — not human opinion, and certainly not a probabilistic text generator. When a Muslim types a question into a fatwa chatbot, they are in effect bypassing this divine instruction unless the chatbot's output has been verified by a qualified scholar."
Verse 2 — Q. 2:151:
"Al-Tabari identifies al-hikmah in this verse as the Sunnah — wisdom transmitted directly from the Prophet ﷺ through an authenticated chain. This is not data to be scraped from the internet and trained upon. Wisdom (hikmah), in classical Islamic epistemology, is a quality of the learned soul — it cannot be compressed into a model weight."
Verse 3 — Q. 5:44:
"This verse, used by al-Qurtubi to define the nature of Islamic judgment (hukm), requires accountable human agency. A machine issues outputs. It does not judge. It cannot be held accountable before Allah. The word yahkum (to judge) carries moral weight that no algorithm can bear."
Hadith:
"The hadith from Bukhari and Muslim — 'man yurid Allahu bihi khayran yufaqqih-hu fi al-din' — is one of the most cited in the literature on scholarship. The verb yufaqqih-hu (gives him fiqh) is divinely bestowed, requiring a human subject. Crucially, classical commentators like Ibn Hajar al-Asqalani in Fath al-Bari explain that this fiqh means the ability to derive rulings with contextual discernment — not just memorize them. That is precisely what LLMs cannot do."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(~60 sec)
Paper 1 — Benchmark (technical):
"The IslamicLegalBench paper, by Elmahjub et al. — submitted to the AI &amp; Law journal in early 2026 — is the most rigorous technical evaluation of LLMs on Islamic law to date. It spans 38 legal texts from seven schools of jurisprudence across 1,200 years. The finding is stark: the best performing model — GPT-4 class — achieves 68% correctness. And 21% of its outputs hallucinate — meaning it confidently states things that are Islamically false. Six of nine models tested accepted false jurisprudential premises more than 40% of the time. The authors call this 'risky sycophancy.'"
Paper 2 — Theological framework:
"Abdelnour's piece in MDPI's Religions journal provides the theological framework. An LLM can produce text that looks like a fatwa. It can cite ayat and ahadith. But it cannot make the moral commitment a mufti makes when issuing a ruling — the commitment that this is what Allah requires of you, and I stand accountable before Allah for this answer. That commitment requires a human moral centre — what Islamic tradition calls the qalb — which no algorithm possesses."
Paper 3 — The deployment reality:
"Ahmad's December 2025 paper maps the real-world ecosystem. State-backed chatbots, commercial apps, and open-source fatwa bots are already live. Some present themselves educationally; others respond in fatwa-like language with no disclaimer. This is not a hypothetical future risk — it is the situation Muslim communities face today."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(~60 sec)
Principle 1 — Taqwa:
"The classical condition of taqwa is not merely ethical decoration — it is a legal prerequisite. Al-Ghazali in the Ihya' Ulum al-Din explains that the mufti who issues rulings carelessly, without taqwa, is sinning. An AI has no inner state. It cannot sin. Therefore it cannot truly issue a ruling — only a text string that resembles one. Egypt's Dar al-Ifta, the oldest and most authoritative fatwa institution in the Sunni world, explicitly warned in 2024 that AI applications cannot distinguish true from false religious content."
Principle 2 — Sanad:
"Every scholar's ruling traces back through a chain. When you ask a mufti for a fatwa, you are implicitly accessing the entire chain of Islamic scholarship behind them. When you ask an LLM, you access a training corpus of unknown provenance — which may include incorrect opinions, fabricated texts, or positions from deviant sects, all averaged together."
Principle 3 — Maslaha:
"However, the principle of maslaha opens a conditional door. AI tools that assist qualified scholars — helping them search hadith databases, identify scholarly disagreements, or summarize classical opinions — may be conditionally mubah. The Saudi government's Mawsuʿat al-Fiqhiyyah project already does this in a controlled, scholar-supervised way."
Ruling:
"My ruling follows the positions of both Nahdatul Ulama — Indonesia's 90-million-member Islamic organization — and Egypt's Dar al-Ifta: AI chatbots issuing fatwas autonomously are prohibited. The threshold for permissibility is scholar oversight at the point of ruling, not merely at the point of training."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(~30 sec)
"To conclude. My argument has three layers.
First, the empirical layer: the best LLMs fail 32% of the time on basic Islamic legal questions and hallucinate at 21%. This alone disqualifies them as muftis.
Second, the theological layer: ijtihad requires taqwa, sanad, and moral accountability — qualities that belong exclusively to qualified human scholars. An LLM produces text. A mufti carries the weight of divine accountability.
Third, the institutional layer: Indonesia's Nahdatul Ulama and Egypt's Dar al-Ifta have already prohibited autonomous AI fatwas. But millions of Muslims are already using these systems. The ulama must move faster.
My recommendation: mandatory human scholar review at the point of ruling — not just the point of training. And my open question for the OIC Fiqh Academy: can human-supervised AI ijtihad be valid scholarship? I don't know the answer — but that is precisely why we need qualified scholars to address it urgently.
The closing hadith I leave you with is a warning not for the AI — the AI has no fear of Allah — but for us, the scholars and researchers who build, deploy, and fail to regulate these systems."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C8550A"/>
          </a:solidFill>
          <a:ln w="12700">
            <a:solidFill>
              <a:srgbClr val="C8550A"/>
            </a:solidFill>
            <a:prstDash val="solid"/>
          </a:ln>
        </p:spPr>
      </p:sp>
      <p:sp>
        <p:nvSpPr>
          <p:cNvPr id="3" name="Shape 1"/>
          <p:cNvSpPr/>
          <p:nvPr/>
        </p:nvSpPr>
        <p:spPr>
          <a:xfrm>
            <a:off x="8997696" y="0"/>
            <a:ext cx="146304" cy="5143500"/>
          </a:xfrm>
          <a:prstGeom prst="rect">
            <a:avLst/>
          </a:prstGeom>
          <a:solidFill>
            <a:srgbClr val="2B6A5E"/>
          </a:solidFill>
          <a:ln w="12700">
            <a:solidFill>
              <a:srgbClr val="2B6A5E"/>
            </a:solidFill>
            <a:prstDash val="solid"/>
          </a:ln>
        </p:spPr>
      </p:sp>
      <p:sp>
        <p:nvSpPr>
          <p:cNvPr id="4" name="Text 2"/>
          <p:cNvSpPr/>
          <p:nvPr/>
        </p:nvSpPr>
        <p:spPr>
          <a:xfrm>
            <a:off x="740664" y="1280160"/>
            <a:ext cx="4087368" cy="777240"/>
          </a:xfrm>
          <a:prstGeom prst="rect">
            <a:avLst/>
          </a:prstGeom>
          <a:noFill/>
          <a:ln/>
        </p:spPr>
        <p:txBody>
          <a:bodyPr wrap="square" rtlCol="0" anchor="ctr"/>
          <a:lstStyle/>
          <a:p>
            <a:pPr marL="0" indent="0" algn="l">
              <a:buNone/>
            </a:pPr>
            <a:r>
              <a:rPr lang="en-US" sz="4000" b="1" dirty="0">
                <a:solidFill>
                  <a:srgbClr val="F5EFE0"/>
                </a:solidFill>
                <a:latin typeface="Palatino Linotype" pitchFamily="34" charset="0"/>
                <a:ea typeface="Palatino Linotype" pitchFamily="34" charset="-122"/>
                <a:cs typeface="Palatino Linotype" pitchFamily="34" charset="-120"/>
              </a:rPr>
              <a:t>Can AI Perform</a:t>
            </a:r>
            <a:endParaRPr lang="en-US" sz="4000" dirty="0"/>
          </a:p>
        </p:txBody>
      </p:sp>
      <p:sp>
        <p:nvSpPr>
          <p:cNvPr id="5" name="Text 3"/>
          <p:cNvSpPr/>
          <p:nvPr/>
        </p:nvSpPr>
        <p:spPr>
          <a:xfrm>
            <a:off x="4828032" y="1137863"/>
            <a:ext cx="3904488" cy="1005840"/>
          </a:xfrm>
          <a:prstGeom prst="rect">
            <a:avLst/>
          </a:prstGeom>
          <a:noFill/>
          <a:ln/>
        </p:spPr>
        <p:txBody>
          <a:bodyPr wrap="square" rtlCol="0" anchor="ctr"/>
          <a:lstStyle/>
          <a:p>
            <a:pPr marL="0" indent="0" algn="l">
              <a:buNone/>
            </a:pPr>
            <a:r>
              <a:rPr lang="en-US" sz="6800" b="1" dirty="0">
                <a:solidFill>
                  <a:srgbClr val="C8550A"/>
                </a:solidFill>
                <a:latin typeface="Palatino Linotype" pitchFamily="34" charset="0"/>
                <a:ea typeface="Palatino Linotype" pitchFamily="34" charset="-122"/>
                <a:cs typeface="Palatino Linotype" pitchFamily="34" charset="-120"/>
              </a:rPr>
              <a:t>Ijtihad?</a:t>
            </a:r>
            <a:endParaRPr lang="en-US" sz="6800" dirty="0"/>
          </a:p>
        </p:txBody>
      </p:sp>
      <p:sp>
        <p:nvSpPr>
          <p:cNvPr id="6" name="Text 4"/>
          <p:cNvSpPr/>
          <p:nvPr/>
        </p:nvSpPr>
        <p:spPr>
          <a:xfrm>
            <a:off x="502920" y="2286000"/>
            <a:ext cx="8046720" cy="594360"/>
          </a:xfrm>
          <a:prstGeom prst="rect">
            <a:avLst/>
          </a:prstGeom>
          <a:noFill/>
          <a:ln/>
        </p:spPr>
        <p:txBody>
          <a:bodyPr wrap="square" rtlCol="0" anchor="ctr"/>
          <a:lstStyle/>
          <a:p>
            <a:pPr marL="0" indent="0" algn="l">
              <a:buNone/>
            </a:pPr>
            <a:r>
              <a:rPr lang="en-US" sz="1600" i="1" dirty="0">
                <a:solidFill>
                  <a:srgbClr val="C5973A"/>
                </a:solidFill>
                <a:latin typeface="Calibri" pitchFamily="34" charset="0"/>
                <a:ea typeface="Calibri" pitchFamily="34" charset="-122"/>
                <a:cs typeface="Calibri" pitchFamily="34" charset="-120"/>
              </a:rPr>
              <a:t>Large Language Models, Autonomous Fatwa Generation, and the Primacy of the Mujtahid</a:t>
            </a:r>
            <a:endParaRPr lang="en-US" sz="1600" dirty="0"/>
          </a:p>
        </p:txBody>
      </p:sp>
      <p:sp>
        <p:nvSpPr>
          <p:cNvPr id="7" name="Shape 5"/>
          <p:cNvSpPr/>
          <p:nvPr/>
        </p:nvSpPr>
        <p:spPr>
          <a:xfrm>
            <a:off x="502920" y="2971800"/>
            <a:ext cx="8046720" cy="32004"/>
          </a:xfrm>
          <a:prstGeom prst="rect">
            <a:avLst/>
          </a:prstGeom>
          <a:solidFill>
            <a:srgbClr val="2B6A5E"/>
          </a:solidFill>
          <a:ln w="12700">
            <a:solidFill>
              <a:srgbClr val="2B6A5E"/>
            </a:solidFill>
            <a:prstDash val="solid"/>
          </a:ln>
        </p:spPr>
      </p:sp>
      <p:sp>
        <p:nvSpPr>
          <p:cNvPr id="9" name="Text 7"/>
          <p:cNvSpPr/>
          <p:nvPr/>
        </p:nvSpPr>
        <p:spPr>
          <a:xfrm>
            <a:off x="2975186" y="3096373"/>
            <a:ext cx="8046720" cy="320040"/>
          </a:xfrm>
          <a:prstGeom prst="rect">
            <a:avLst/>
          </a:prstGeom>
          <a:noFill/>
          <a:ln/>
        </p:spPr>
        <p:txBody>
          <a:bodyPr wrap="square" rtlCol="0" anchor="ctr"/>
          <a:lstStyle/>
          <a:p>
            <a:pPr marL="0" indent="0" algn="l">
              <a:buNone/>
            </a:pPr>
            <a:r>
              <a:rPr lang="en-US" sz="1100" dirty="0">
                <a:solidFill>
                  <a:srgbClr val="606878"/>
                </a:solidFill>
                <a:latin typeface="Calibri" pitchFamily="34" charset="0"/>
                <a:ea typeface="Calibri" pitchFamily="34" charset="-122"/>
                <a:cs typeface="Calibri" pitchFamily="34" charset="-120"/>
              </a:rPr>
              <a:t>25i-7601 [Tila Muhammad]  ·  [UHQ-II]  ·  May 2026</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advTm="70763"/>
    </mc:Choice>
    <mc:Fallback xmlns="">
      <p:transition spd="slow" advTm="707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120"/>
          </a:solidFill>
          <a:ln w="12700">
            <a:solidFill>
              <a:srgbClr val="0B1120"/>
            </a:solidFill>
            <a:prstDash val="solid"/>
          </a:ln>
        </p:spPr>
      </p:sp>
      <p:sp>
        <p:nvSpPr>
          <p:cNvPr id="3" name="Text 1"/>
          <p:cNvSpPr/>
          <p:nvPr/>
        </p:nvSpPr>
        <p:spPr>
          <a:xfrm>
            <a:off x="365760" y="0"/>
            <a:ext cx="8412480" cy="566928"/>
          </a:xfrm>
          <a:prstGeom prst="rect">
            <a:avLst/>
          </a:prstGeom>
          <a:noFill/>
          <a:ln/>
        </p:spPr>
        <p:txBody>
          <a:bodyPr wrap="square" rtlCol="0" anchor="ctr"/>
          <a:lstStyle/>
          <a:p>
            <a:pPr marL="0" indent="0" algn="l">
              <a:buNone/>
            </a:pPr>
            <a:r>
              <a:rPr lang="en-US" sz="2400" b="1" dirty="0">
                <a:solidFill>
                  <a:srgbClr val="FFFFFF"/>
                </a:solidFill>
                <a:latin typeface="Palatino Linotype" pitchFamily="34" charset="0"/>
                <a:ea typeface="Palatino Linotype" pitchFamily="34" charset="-122"/>
                <a:cs typeface="Palatino Linotype" pitchFamily="34" charset="-120"/>
              </a:rPr>
              <a:t>Problem &amp; Motivation</a:t>
            </a:r>
            <a:endParaRPr lang="en-US" sz="2400" dirty="0"/>
          </a:p>
        </p:txBody>
      </p:sp>
      <p:sp>
        <p:nvSpPr>
          <p:cNvPr id="4" name="Shape 2"/>
          <p:cNvSpPr/>
          <p:nvPr/>
        </p:nvSpPr>
        <p:spPr>
          <a:xfrm>
            <a:off x="256032" y="713232"/>
            <a:ext cx="4114800" cy="310896"/>
          </a:xfrm>
          <a:prstGeom prst="rect">
            <a:avLst/>
          </a:prstGeom>
          <a:solidFill>
            <a:srgbClr val="2B6A5E"/>
          </a:solidFill>
          <a:ln w="12700">
            <a:solidFill>
              <a:srgbClr val="2B6A5E"/>
            </a:solidFill>
            <a:prstDash val="solid"/>
          </a:ln>
        </p:spPr>
      </p:sp>
      <p:sp>
        <p:nvSpPr>
          <p:cNvPr id="5" name="Text 3"/>
          <p:cNvSpPr/>
          <p:nvPr/>
        </p:nvSpPr>
        <p:spPr>
          <a:xfrm>
            <a:off x="329184" y="713232"/>
            <a:ext cx="4023360" cy="310896"/>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  THE TECHNOLOGY</a:t>
            </a:r>
            <a:endParaRPr lang="en-US" sz="1150" dirty="0"/>
          </a:p>
        </p:txBody>
      </p:sp>
      <p:sp>
        <p:nvSpPr>
          <p:cNvPr id="6" name="Text 4"/>
          <p:cNvSpPr/>
          <p:nvPr/>
        </p:nvSpPr>
        <p:spPr>
          <a:xfrm>
            <a:off x="256032" y="1051560"/>
            <a:ext cx="4114800" cy="1024128"/>
          </a:xfrm>
          <a:prstGeom prst="rect">
            <a:avLst/>
          </a:prstGeom>
          <a:noFill/>
          <a:ln/>
        </p:spPr>
        <p:txBody>
          <a:bodyPr wrap="square" rtlCol="0" anchor="t"/>
          <a:lstStyle/>
          <a:p>
            <a:pPr marL="0" indent="0" algn="l">
              <a:buNone/>
            </a:pPr>
            <a:r>
              <a:rPr lang="en-US" sz="1250" dirty="0">
                <a:solidFill>
                  <a:srgbClr val="141D26"/>
                </a:solidFill>
                <a:latin typeface="Calibri" pitchFamily="34" charset="0"/>
                <a:ea typeface="Calibri" pitchFamily="34" charset="-122"/>
                <a:cs typeface="Calibri" pitchFamily="34" charset="-120"/>
              </a:rPr>
              <a:t>LLMs (GPT-4, Claude, Gemini, Arabic-native models like Fanar and ALLaM) are being fine-tuned on the Quran, Hadith corpora, and 32,000+ fatwa archives. Commercial AI chatbots now issue religious rulings to millions of users daily — with no scholarly oversight.</a:t>
            </a:r>
            <a:endParaRPr lang="en-US" sz="1250" dirty="0"/>
          </a:p>
        </p:txBody>
      </p:sp>
      <p:sp>
        <p:nvSpPr>
          <p:cNvPr id="7" name="Shape 5"/>
          <p:cNvSpPr/>
          <p:nvPr/>
        </p:nvSpPr>
        <p:spPr>
          <a:xfrm>
            <a:off x="256032" y="2176272"/>
            <a:ext cx="4114800" cy="310896"/>
          </a:xfrm>
          <a:prstGeom prst="rect">
            <a:avLst/>
          </a:prstGeom>
          <a:solidFill>
            <a:srgbClr val="C5973A"/>
          </a:solidFill>
          <a:ln w="12700">
            <a:solidFill>
              <a:srgbClr val="C5973A"/>
            </a:solidFill>
            <a:prstDash val="solid"/>
          </a:ln>
        </p:spPr>
      </p:sp>
      <p:sp>
        <p:nvSpPr>
          <p:cNvPr id="8" name="Text 6"/>
          <p:cNvSpPr/>
          <p:nvPr/>
        </p:nvSpPr>
        <p:spPr>
          <a:xfrm>
            <a:off x="329184" y="2176272"/>
            <a:ext cx="4023360" cy="310896"/>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  THE ISLAMIC QUESTION</a:t>
            </a:r>
            <a:endParaRPr lang="en-US" sz="1150" dirty="0"/>
          </a:p>
        </p:txBody>
      </p:sp>
      <p:sp>
        <p:nvSpPr>
          <p:cNvPr id="9" name="Text 7"/>
          <p:cNvSpPr/>
          <p:nvPr/>
        </p:nvSpPr>
        <p:spPr>
          <a:xfrm>
            <a:off x="256032" y="2514600"/>
            <a:ext cx="4114800" cy="960120"/>
          </a:xfrm>
          <a:prstGeom prst="rect">
            <a:avLst/>
          </a:prstGeom>
          <a:noFill/>
          <a:ln/>
        </p:spPr>
        <p:txBody>
          <a:bodyPr wrap="square" rtlCol="0" anchor="t"/>
          <a:lstStyle/>
          <a:p>
            <a:pPr marL="0" indent="0" algn="l">
              <a:buNone/>
            </a:pPr>
            <a:r>
              <a:rPr lang="en-US" sz="1250" dirty="0">
                <a:solidFill>
                  <a:srgbClr val="141D26"/>
                </a:solidFill>
                <a:latin typeface="Calibri" pitchFamily="34" charset="0"/>
                <a:ea typeface="Calibri" pitchFamily="34" charset="-122"/>
                <a:cs typeface="Calibri" pitchFamily="34" charset="-120"/>
              </a:rPr>
              <a:t>Ijtihad — the supreme act of Islamic legal reasoning — demands the mujtahid possess: mastery of the Quran, Sunnah, Arabic linguistics, usul al-fiqh, and consensus (ijma'). Can a statistical model with no taqwa (God-consciousness) fulfil even one of these?</a:t>
            </a:r>
            <a:endParaRPr lang="en-US" sz="1250" dirty="0"/>
          </a:p>
        </p:txBody>
      </p:sp>
      <p:sp>
        <p:nvSpPr>
          <p:cNvPr id="10" name="Shape 8"/>
          <p:cNvSpPr/>
          <p:nvPr/>
        </p:nvSpPr>
        <p:spPr>
          <a:xfrm>
            <a:off x="256032" y="3566160"/>
            <a:ext cx="4114800" cy="310896"/>
          </a:xfrm>
          <a:prstGeom prst="rect">
            <a:avLst/>
          </a:prstGeom>
          <a:solidFill>
            <a:srgbClr val="8B1220"/>
          </a:solidFill>
          <a:ln w="12700">
            <a:solidFill>
              <a:srgbClr val="8B1220"/>
            </a:solidFill>
            <a:prstDash val="solid"/>
          </a:ln>
        </p:spPr>
      </p:sp>
      <p:sp>
        <p:nvSpPr>
          <p:cNvPr id="11" name="Text 9"/>
          <p:cNvSpPr/>
          <p:nvPr/>
        </p:nvSpPr>
        <p:spPr>
          <a:xfrm>
            <a:off x="329184" y="3566160"/>
            <a:ext cx="4023360" cy="310896"/>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  WHAT IS AT STAKE</a:t>
            </a:r>
            <a:endParaRPr lang="en-US" sz="1150" dirty="0"/>
          </a:p>
        </p:txBody>
      </p:sp>
      <p:sp>
        <p:nvSpPr>
          <p:cNvPr id="12" name="Text 10"/>
          <p:cNvSpPr/>
          <p:nvPr/>
        </p:nvSpPr>
        <p:spPr>
          <a:xfrm>
            <a:off x="256032" y="3904488"/>
            <a:ext cx="4114800" cy="914400"/>
          </a:xfrm>
          <a:prstGeom prst="rect">
            <a:avLst/>
          </a:prstGeom>
          <a:noFill/>
          <a:ln/>
        </p:spPr>
        <p:txBody>
          <a:bodyPr wrap="square" rtlCol="0" anchor="t"/>
          <a:lstStyle/>
          <a:p>
            <a:pPr marL="0" indent="0" algn="l">
              <a:buNone/>
            </a:pPr>
            <a:r>
              <a:rPr lang="en-US" sz="1250" dirty="0">
                <a:solidFill>
                  <a:srgbClr val="141D26"/>
                </a:solidFill>
                <a:latin typeface="Calibri" pitchFamily="34" charset="0"/>
                <a:ea typeface="Calibri" pitchFamily="34" charset="-122"/>
                <a:cs typeface="Calibri" pitchFamily="34" charset="-120"/>
              </a:rPr>
              <a:t>A hallucinating fatwa-bot can lead Muslims into haram acts, annul marriages incorrectly, or misguide inheritance rulings — with no accountability, no chain of authority, and no Islamic legal standing to retract the ruling.</a:t>
            </a:r>
            <a:endParaRPr lang="en-US" sz="1250" dirty="0"/>
          </a:p>
        </p:txBody>
      </p:sp>
      <p:sp>
        <p:nvSpPr>
          <p:cNvPr id="13" name="Shape 11"/>
          <p:cNvSpPr/>
          <p:nvPr/>
        </p:nvSpPr>
        <p:spPr>
          <a:xfrm>
            <a:off x="4663440" y="713232"/>
            <a:ext cx="4224528" cy="4133088"/>
          </a:xfrm>
          <a:prstGeom prst="rect">
            <a:avLst/>
          </a:prstGeom>
          <a:solidFill>
            <a:srgbClr val="0B1120"/>
          </a:solidFill>
          <a:ln w="12700">
            <a:solidFill>
              <a:srgbClr val="0B1120"/>
            </a:solidFill>
            <a:prstDash val="solid"/>
          </a:ln>
        </p:spPr>
        <p:txBody>
          <a:bodyPr/>
          <a:lstStyle/>
          <a:p>
            <a:endParaRPr lang="en-US" dirty="0"/>
          </a:p>
        </p:txBody>
      </p:sp>
      <p:sp>
        <p:nvSpPr>
          <p:cNvPr id="14" name="Text 12"/>
          <p:cNvSpPr/>
          <p:nvPr/>
        </p:nvSpPr>
        <p:spPr>
          <a:xfrm>
            <a:off x="4773168" y="777240"/>
            <a:ext cx="4005072" cy="548640"/>
          </a:xfrm>
          <a:prstGeom prst="rect">
            <a:avLst/>
          </a:prstGeom>
          <a:noFill/>
          <a:ln/>
        </p:spPr>
        <p:txBody>
          <a:bodyPr wrap="square" rtlCol="0" anchor="ctr"/>
          <a:lstStyle/>
          <a:p>
            <a:pPr marL="0" indent="0" algn="ctr">
              <a:buNone/>
            </a:pPr>
            <a:r>
              <a:rPr lang="en-US" sz="1300" b="1" dirty="0">
                <a:solidFill>
                  <a:srgbClr val="C5973A"/>
                </a:solidFill>
                <a:latin typeface="Palatino Linotype" pitchFamily="34" charset="0"/>
                <a:ea typeface="Palatino Linotype" pitchFamily="34" charset="-122"/>
                <a:cs typeface="Palatino Linotype" pitchFamily="34" charset="-120"/>
              </a:rPr>
              <a:t>State of AI Islamic Jurisprudence</a:t>
            </a:r>
            <a:endParaRPr lang="en-US" sz="1300" dirty="0"/>
          </a:p>
          <a:p>
            <a:pPr marL="0" indent="0" algn="ctr">
              <a:buNone/>
            </a:pPr>
            <a:r>
              <a:rPr lang="en-US" sz="1300" b="1" dirty="0">
                <a:solidFill>
                  <a:srgbClr val="C5973A"/>
                </a:solidFill>
                <a:latin typeface="Palatino Linotype" pitchFamily="34" charset="0"/>
                <a:ea typeface="Palatino Linotype" pitchFamily="34" charset="-122"/>
                <a:cs typeface="Palatino Linotype" pitchFamily="34" charset="-120"/>
              </a:rPr>
              <a:t>(IslamicLegalBench, 2026)</a:t>
            </a:r>
            <a:endParaRPr lang="en-US" sz="1300" dirty="0"/>
          </a:p>
        </p:txBody>
      </p:sp>
      <p:sp>
        <p:nvSpPr>
          <p:cNvPr id="15" name="Shape 13"/>
          <p:cNvSpPr/>
          <p:nvPr/>
        </p:nvSpPr>
        <p:spPr>
          <a:xfrm>
            <a:off x="4663440" y="1371600"/>
            <a:ext cx="4224528" cy="18288"/>
          </a:xfrm>
          <a:prstGeom prst="rect">
            <a:avLst/>
          </a:prstGeom>
          <a:solidFill>
            <a:srgbClr val="C8550A"/>
          </a:solidFill>
          <a:ln w="12700">
            <a:solidFill>
              <a:srgbClr val="C8550A"/>
            </a:solidFill>
            <a:prstDash val="solid"/>
          </a:ln>
        </p:spPr>
      </p:sp>
      <p:sp>
        <p:nvSpPr>
          <p:cNvPr id="16" name="Text 14"/>
          <p:cNvSpPr/>
          <p:nvPr/>
        </p:nvSpPr>
        <p:spPr>
          <a:xfrm>
            <a:off x="4773168" y="1508760"/>
            <a:ext cx="1920240" cy="502920"/>
          </a:xfrm>
          <a:prstGeom prst="rect">
            <a:avLst/>
          </a:prstGeom>
          <a:noFill/>
          <a:ln/>
        </p:spPr>
        <p:txBody>
          <a:bodyPr wrap="square" rtlCol="0" anchor="ctr"/>
          <a:lstStyle/>
          <a:p>
            <a:pPr marL="0" indent="0" algn="ctr">
              <a:buNone/>
            </a:pPr>
            <a:r>
              <a:rPr lang="en-US" sz="3600" b="1" dirty="0">
                <a:solidFill>
                  <a:srgbClr val="C8550A"/>
                </a:solidFill>
                <a:latin typeface="Palatino Linotype" pitchFamily="34" charset="0"/>
                <a:ea typeface="Palatino Linotype" pitchFamily="34" charset="-122"/>
                <a:cs typeface="Palatino Linotype" pitchFamily="34" charset="-120"/>
              </a:rPr>
              <a:t>68%</a:t>
            </a:r>
            <a:endParaRPr lang="en-US" sz="3600" dirty="0"/>
          </a:p>
        </p:txBody>
      </p:sp>
      <p:sp>
        <p:nvSpPr>
          <p:cNvPr id="17" name="Text 15"/>
          <p:cNvSpPr/>
          <p:nvPr/>
        </p:nvSpPr>
        <p:spPr>
          <a:xfrm>
            <a:off x="6748272" y="1563624"/>
            <a:ext cx="2011680" cy="502920"/>
          </a:xfrm>
          <a:prstGeom prst="rect">
            <a:avLst/>
          </a:prstGeom>
          <a:noFill/>
          <a:ln/>
        </p:spPr>
        <p:txBody>
          <a:bodyPr wrap="square" rtlCol="0" anchor="ctr"/>
          <a:lstStyle/>
          <a:p>
            <a:pPr marL="0" indent="0" algn="l">
              <a:buNone/>
            </a:pPr>
            <a:r>
              <a:rPr lang="en-US" sz="1100" dirty="0">
                <a:solidFill>
                  <a:srgbClr val="B0C4D8"/>
                </a:solidFill>
                <a:latin typeface="Calibri" pitchFamily="34" charset="0"/>
                <a:ea typeface="Calibri" pitchFamily="34" charset="-122"/>
                <a:cs typeface="Calibri" pitchFamily="34" charset="-120"/>
              </a:rPr>
              <a:t>Best-model</a:t>
            </a:r>
            <a:endParaRPr lang="en-US" sz="1100" dirty="0"/>
          </a:p>
          <a:p>
            <a:pPr marL="0" indent="0" algn="l">
              <a:buNone/>
            </a:pPr>
            <a:r>
              <a:rPr lang="en-US" sz="1100" dirty="0">
                <a:solidFill>
                  <a:srgbClr val="B0C4D8"/>
                </a:solidFill>
                <a:latin typeface="Calibri" pitchFamily="34" charset="0"/>
                <a:ea typeface="Calibri" pitchFamily="34" charset="-122"/>
                <a:cs typeface="Calibri" pitchFamily="34" charset="-120"/>
              </a:rPr>
              <a:t>correctness</a:t>
            </a:r>
            <a:endParaRPr lang="en-US" sz="1100" dirty="0"/>
          </a:p>
        </p:txBody>
      </p:sp>
      <p:sp>
        <p:nvSpPr>
          <p:cNvPr id="18" name="Shape 16"/>
          <p:cNvSpPr/>
          <p:nvPr/>
        </p:nvSpPr>
        <p:spPr>
          <a:xfrm>
            <a:off x="4773168" y="2075688"/>
            <a:ext cx="4005072" cy="9144"/>
          </a:xfrm>
          <a:prstGeom prst="rect">
            <a:avLst/>
          </a:prstGeom>
          <a:solidFill>
            <a:srgbClr val="2A3A4A"/>
          </a:solidFill>
          <a:ln w="12700">
            <a:solidFill>
              <a:srgbClr val="2A3A4A"/>
            </a:solidFill>
            <a:prstDash val="solid"/>
          </a:ln>
        </p:spPr>
      </p:sp>
      <p:sp>
        <p:nvSpPr>
          <p:cNvPr id="19" name="Text 17"/>
          <p:cNvSpPr/>
          <p:nvPr/>
        </p:nvSpPr>
        <p:spPr>
          <a:xfrm>
            <a:off x="4773168" y="2313432"/>
            <a:ext cx="1920240" cy="502920"/>
          </a:xfrm>
          <a:prstGeom prst="rect">
            <a:avLst/>
          </a:prstGeom>
          <a:noFill/>
          <a:ln/>
        </p:spPr>
        <p:txBody>
          <a:bodyPr wrap="square" rtlCol="0" anchor="ctr"/>
          <a:lstStyle/>
          <a:p>
            <a:pPr marL="0" indent="0" algn="ctr">
              <a:buNone/>
            </a:pPr>
            <a:r>
              <a:rPr lang="en-US" sz="3600" b="1" dirty="0">
                <a:solidFill>
                  <a:srgbClr val="8B1220"/>
                </a:solidFill>
                <a:latin typeface="Palatino Linotype" pitchFamily="34" charset="0"/>
                <a:ea typeface="Palatino Linotype" pitchFamily="34" charset="-122"/>
                <a:cs typeface="Palatino Linotype" pitchFamily="34" charset="-120"/>
              </a:rPr>
              <a:t>21%</a:t>
            </a:r>
            <a:endParaRPr lang="en-US" sz="3600" dirty="0"/>
          </a:p>
        </p:txBody>
      </p:sp>
      <p:sp>
        <p:nvSpPr>
          <p:cNvPr id="20" name="Text 18"/>
          <p:cNvSpPr/>
          <p:nvPr/>
        </p:nvSpPr>
        <p:spPr>
          <a:xfrm>
            <a:off x="6748272" y="2368296"/>
            <a:ext cx="2011680" cy="502920"/>
          </a:xfrm>
          <a:prstGeom prst="rect">
            <a:avLst/>
          </a:prstGeom>
          <a:noFill/>
          <a:ln/>
        </p:spPr>
        <p:txBody>
          <a:bodyPr wrap="square" rtlCol="0" anchor="ctr"/>
          <a:lstStyle/>
          <a:p>
            <a:pPr marL="0" indent="0" algn="l">
              <a:buNone/>
            </a:pPr>
            <a:r>
              <a:rPr lang="en-US" sz="1100" dirty="0">
                <a:solidFill>
                  <a:srgbClr val="B0C4D8"/>
                </a:solidFill>
                <a:latin typeface="Calibri" pitchFamily="34" charset="0"/>
                <a:ea typeface="Calibri" pitchFamily="34" charset="-122"/>
                <a:cs typeface="Calibri" pitchFamily="34" charset="-120"/>
              </a:rPr>
              <a:t>Hallucination</a:t>
            </a:r>
            <a:endParaRPr lang="en-US" sz="1100" dirty="0"/>
          </a:p>
          <a:p>
            <a:pPr marL="0" indent="0" algn="l">
              <a:buNone/>
            </a:pPr>
            <a:r>
              <a:rPr lang="en-US" sz="1100" dirty="0">
                <a:solidFill>
                  <a:srgbClr val="B0C4D8"/>
                </a:solidFill>
                <a:latin typeface="Calibri" pitchFamily="34" charset="0"/>
                <a:ea typeface="Calibri" pitchFamily="34" charset="-122"/>
                <a:cs typeface="Calibri" pitchFamily="34" charset="-120"/>
              </a:rPr>
              <a:t>rate (top model)</a:t>
            </a:r>
            <a:endParaRPr lang="en-US" sz="1100" dirty="0"/>
          </a:p>
        </p:txBody>
      </p:sp>
      <p:sp>
        <p:nvSpPr>
          <p:cNvPr id="21" name="Shape 19"/>
          <p:cNvSpPr/>
          <p:nvPr/>
        </p:nvSpPr>
        <p:spPr>
          <a:xfrm>
            <a:off x="4773168" y="2880360"/>
            <a:ext cx="4005072" cy="9144"/>
          </a:xfrm>
          <a:prstGeom prst="rect">
            <a:avLst/>
          </a:prstGeom>
          <a:solidFill>
            <a:srgbClr val="2A3A4A"/>
          </a:solidFill>
          <a:ln w="12700">
            <a:solidFill>
              <a:srgbClr val="2A3A4A"/>
            </a:solidFill>
            <a:prstDash val="solid"/>
          </a:ln>
        </p:spPr>
      </p:sp>
      <p:sp>
        <p:nvSpPr>
          <p:cNvPr id="22" name="Text 20"/>
          <p:cNvSpPr/>
          <p:nvPr/>
        </p:nvSpPr>
        <p:spPr>
          <a:xfrm>
            <a:off x="4773168" y="3118104"/>
            <a:ext cx="1920240" cy="502920"/>
          </a:xfrm>
          <a:prstGeom prst="rect">
            <a:avLst/>
          </a:prstGeom>
          <a:noFill/>
          <a:ln/>
        </p:spPr>
        <p:txBody>
          <a:bodyPr wrap="square" rtlCol="0" anchor="ctr"/>
          <a:lstStyle/>
          <a:p>
            <a:pPr marL="0" indent="0" algn="ctr">
              <a:buNone/>
            </a:pPr>
            <a:r>
              <a:rPr lang="en-US" sz="3600" b="1" dirty="0">
                <a:solidFill>
                  <a:srgbClr val="B8860B"/>
                </a:solidFill>
                <a:latin typeface="Palatino Linotype" pitchFamily="34" charset="0"/>
                <a:ea typeface="Palatino Linotype" pitchFamily="34" charset="-122"/>
                <a:cs typeface="Palatino Linotype" pitchFamily="34" charset="-120"/>
              </a:rPr>
              <a:t>&gt;40%</a:t>
            </a:r>
            <a:endParaRPr lang="en-US" sz="3600" dirty="0"/>
          </a:p>
        </p:txBody>
      </p:sp>
      <p:sp>
        <p:nvSpPr>
          <p:cNvPr id="23" name="Text 21"/>
          <p:cNvSpPr/>
          <p:nvPr/>
        </p:nvSpPr>
        <p:spPr>
          <a:xfrm>
            <a:off x="6748272" y="3172968"/>
            <a:ext cx="2011680" cy="502920"/>
          </a:xfrm>
          <a:prstGeom prst="rect">
            <a:avLst/>
          </a:prstGeom>
          <a:noFill/>
          <a:ln/>
        </p:spPr>
        <p:txBody>
          <a:bodyPr wrap="square" rtlCol="0" anchor="ctr"/>
          <a:lstStyle/>
          <a:p>
            <a:pPr marL="0" indent="0" algn="l">
              <a:buNone/>
            </a:pPr>
            <a:r>
              <a:rPr lang="en-US" sz="1100" dirty="0">
                <a:solidFill>
                  <a:srgbClr val="B0C4D8"/>
                </a:solidFill>
                <a:latin typeface="Calibri" pitchFamily="34" charset="0"/>
                <a:ea typeface="Calibri" pitchFamily="34" charset="-122"/>
                <a:cs typeface="Calibri" pitchFamily="34" charset="-120"/>
              </a:rPr>
              <a:t>False premise</a:t>
            </a:r>
            <a:endParaRPr lang="en-US" sz="1100" dirty="0"/>
          </a:p>
          <a:p>
            <a:pPr marL="0" indent="0" algn="l">
              <a:buNone/>
            </a:pPr>
            <a:r>
              <a:rPr lang="en-US" sz="1100" dirty="0">
                <a:solidFill>
                  <a:srgbClr val="B0C4D8"/>
                </a:solidFill>
                <a:latin typeface="Calibri" pitchFamily="34" charset="0"/>
                <a:ea typeface="Calibri" pitchFamily="34" charset="-122"/>
                <a:cs typeface="Calibri" pitchFamily="34" charset="-120"/>
              </a:rPr>
              <a:t>acceptance (6/9 models)</a:t>
            </a:r>
            <a:endParaRPr lang="en-US" sz="1100" dirty="0"/>
          </a:p>
        </p:txBody>
      </p:sp>
      <p:sp>
        <p:nvSpPr>
          <p:cNvPr id="24" name="Shape 22"/>
          <p:cNvSpPr/>
          <p:nvPr/>
        </p:nvSpPr>
        <p:spPr>
          <a:xfrm>
            <a:off x="4773168" y="3685032"/>
            <a:ext cx="4005072" cy="9144"/>
          </a:xfrm>
          <a:prstGeom prst="rect">
            <a:avLst/>
          </a:prstGeom>
          <a:solidFill>
            <a:srgbClr val="2A3A4A"/>
          </a:solidFill>
          <a:ln w="12700">
            <a:solidFill>
              <a:srgbClr val="2A3A4A"/>
            </a:solidFill>
            <a:prstDash val="solid"/>
          </a:ln>
        </p:spPr>
      </p:sp>
      <p:sp>
        <p:nvSpPr>
          <p:cNvPr id="25" name="Text 23"/>
          <p:cNvSpPr/>
          <p:nvPr/>
        </p:nvSpPr>
        <p:spPr>
          <a:xfrm>
            <a:off x="4773168" y="3922776"/>
            <a:ext cx="1920240" cy="502920"/>
          </a:xfrm>
          <a:prstGeom prst="rect">
            <a:avLst/>
          </a:prstGeom>
          <a:noFill/>
          <a:ln/>
        </p:spPr>
        <p:txBody>
          <a:bodyPr wrap="square" rtlCol="0" anchor="ctr"/>
          <a:lstStyle/>
          <a:p>
            <a:pPr marL="0" indent="0" algn="ctr">
              <a:buNone/>
            </a:pPr>
            <a:r>
              <a:rPr lang="en-US" sz="3600" b="1" dirty="0">
                <a:solidFill>
                  <a:srgbClr val="606878"/>
                </a:solidFill>
                <a:latin typeface="Palatino Linotype" pitchFamily="34" charset="0"/>
                <a:ea typeface="Palatino Linotype" pitchFamily="34" charset="-122"/>
                <a:cs typeface="Palatino Linotype" pitchFamily="34" charset="-120"/>
              </a:rPr>
              <a:t>35%</a:t>
            </a:r>
            <a:endParaRPr lang="en-US" sz="3600" dirty="0"/>
          </a:p>
        </p:txBody>
      </p:sp>
      <p:sp>
        <p:nvSpPr>
          <p:cNvPr id="26" name="Text 24"/>
          <p:cNvSpPr/>
          <p:nvPr/>
        </p:nvSpPr>
        <p:spPr>
          <a:xfrm>
            <a:off x="6748272" y="3977640"/>
            <a:ext cx="2011680" cy="502920"/>
          </a:xfrm>
          <a:prstGeom prst="rect">
            <a:avLst/>
          </a:prstGeom>
          <a:noFill/>
          <a:ln/>
        </p:spPr>
        <p:txBody>
          <a:bodyPr wrap="square" rtlCol="0" anchor="ctr"/>
          <a:lstStyle/>
          <a:p>
            <a:pPr marL="0" indent="0" algn="l">
              <a:buNone/>
            </a:pPr>
            <a:r>
              <a:rPr lang="en-US" sz="1100" dirty="0">
                <a:solidFill>
                  <a:srgbClr val="B0C4D8"/>
                </a:solidFill>
                <a:latin typeface="Calibri" pitchFamily="34" charset="0"/>
                <a:ea typeface="Calibri" pitchFamily="34" charset="-122"/>
                <a:cs typeface="Calibri" pitchFamily="34" charset="-120"/>
              </a:rPr>
              <a:t>Min correctness</a:t>
            </a:r>
            <a:endParaRPr lang="en-US" sz="1100" dirty="0"/>
          </a:p>
          <a:p>
            <a:pPr marL="0" indent="0" algn="l">
              <a:buNone/>
            </a:pPr>
            <a:r>
              <a:rPr lang="en-US" sz="1100" dirty="0">
                <a:solidFill>
                  <a:srgbClr val="B0C4D8"/>
                </a:solidFill>
                <a:latin typeface="Calibri" pitchFamily="34" charset="0"/>
                <a:ea typeface="Calibri" pitchFamily="34" charset="-122"/>
                <a:cs typeface="Calibri" pitchFamily="34" charset="-120"/>
              </a:rPr>
              <a:t>(weakest model)</a:t>
            </a:r>
            <a:endParaRPr lang="en-US" sz="1100" dirty="0"/>
          </a:p>
        </p:txBody>
      </p:sp>
      <p:sp>
        <p:nvSpPr>
          <p:cNvPr id="27" name="Text 25"/>
          <p:cNvSpPr/>
          <p:nvPr/>
        </p:nvSpPr>
        <p:spPr>
          <a:xfrm>
            <a:off x="4663440" y="4631436"/>
            <a:ext cx="4224528" cy="237744"/>
          </a:xfrm>
          <a:prstGeom prst="rect">
            <a:avLst/>
          </a:prstGeom>
          <a:noFill/>
          <a:ln/>
        </p:spPr>
        <p:txBody>
          <a:bodyPr wrap="square" rtlCol="0" anchor="ctr"/>
          <a:lstStyle/>
          <a:p>
            <a:pPr marL="0" indent="0" algn="ctr">
              <a:buNone/>
            </a:pPr>
            <a:r>
              <a:rPr lang="en-US" sz="900" i="1" dirty="0">
                <a:solidFill>
                  <a:srgbClr val="606878"/>
                </a:solidFill>
                <a:latin typeface="Calibri" pitchFamily="34" charset="0"/>
                <a:ea typeface="Calibri" pitchFamily="34" charset="-122"/>
                <a:cs typeface="Calibri" pitchFamily="34" charset="-120"/>
              </a:rPr>
              <a:t>Source: Elmahjub et al. (arXiv:2602.21226, 2026)</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178120"/>
    </mc:Choice>
    <mc:Fallback xmlns="">
      <p:transition spd="slow" advTm="17812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2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120"/>
          </a:solidFill>
          <a:ln w="12700">
            <a:solidFill>
              <a:srgbClr val="0B1120"/>
            </a:solidFill>
            <a:prstDash val="solid"/>
          </a:ln>
        </p:spPr>
      </p:sp>
      <p:sp>
        <p:nvSpPr>
          <p:cNvPr id="3" name="Text 1"/>
          <p:cNvSpPr/>
          <p:nvPr/>
        </p:nvSpPr>
        <p:spPr>
          <a:xfrm>
            <a:off x="365760" y="0"/>
            <a:ext cx="8412480" cy="566928"/>
          </a:xfrm>
          <a:prstGeom prst="rect">
            <a:avLst/>
          </a:prstGeom>
          <a:noFill/>
          <a:ln/>
        </p:spPr>
        <p:txBody>
          <a:bodyPr wrap="square" rtlCol="0" anchor="ctr"/>
          <a:lstStyle/>
          <a:p>
            <a:pPr marL="0" indent="0" algn="l">
              <a:buNone/>
            </a:pPr>
            <a:r>
              <a:rPr lang="en-US" sz="2400" b="1" dirty="0">
                <a:solidFill>
                  <a:srgbClr val="FFFFFF"/>
                </a:solidFill>
                <a:latin typeface="Palatino Linotype" pitchFamily="34" charset="0"/>
                <a:ea typeface="Palatino Linotype" pitchFamily="34" charset="-122"/>
                <a:cs typeface="Palatino Linotype" pitchFamily="34" charset="-120"/>
              </a:rPr>
              <a:t>Quranic &amp; Hadith Foundation</a:t>
            </a:r>
            <a:endParaRPr lang="en-US" sz="2400" dirty="0"/>
          </a:p>
        </p:txBody>
      </p:sp>
      <p:sp>
        <p:nvSpPr>
          <p:cNvPr id="4" name="Shape 2"/>
          <p:cNvSpPr/>
          <p:nvPr/>
        </p:nvSpPr>
        <p:spPr>
          <a:xfrm>
            <a:off x="201168" y="685800"/>
            <a:ext cx="2788920" cy="1549400"/>
          </a:xfrm>
          <a:prstGeom prst="rect">
            <a:avLst/>
          </a:prstGeom>
          <a:solidFill>
            <a:srgbClr val="FFFFFF"/>
          </a:solidFill>
          <a:ln w="19050">
            <a:solidFill>
              <a:srgbClr val="C8550A"/>
            </a:solidFill>
            <a:prstDash val="solid"/>
          </a:ln>
        </p:spPr>
      </p:sp>
      <p:sp>
        <p:nvSpPr>
          <p:cNvPr id="5" name="Shape 3"/>
          <p:cNvSpPr/>
          <p:nvPr/>
        </p:nvSpPr>
        <p:spPr>
          <a:xfrm>
            <a:off x="201168" y="685800"/>
            <a:ext cx="82296" cy="1316736"/>
          </a:xfrm>
          <a:prstGeom prst="rect">
            <a:avLst/>
          </a:prstGeom>
          <a:solidFill>
            <a:srgbClr val="C8550A"/>
          </a:solidFill>
          <a:ln w="12700">
            <a:solidFill>
              <a:srgbClr val="C8550A"/>
            </a:solidFill>
            <a:prstDash val="solid"/>
          </a:ln>
        </p:spPr>
      </p:sp>
      <p:sp>
        <p:nvSpPr>
          <p:cNvPr id="6" name="Text 4"/>
          <p:cNvSpPr/>
          <p:nvPr/>
        </p:nvSpPr>
        <p:spPr>
          <a:xfrm>
            <a:off x="338328" y="740664"/>
            <a:ext cx="2587752" cy="256032"/>
          </a:xfrm>
          <a:prstGeom prst="rect">
            <a:avLst/>
          </a:prstGeom>
          <a:noFill/>
          <a:ln/>
        </p:spPr>
        <p:txBody>
          <a:bodyPr wrap="square" rtlCol="0" anchor="ctr"/>
          <a:lstStyle/>
          <a:p>
            <a:pPr marL="0" indent="0">
              <a:buNone/>
            </a:pPr>
            <a:r>
              <a:rPr lang="en-US" sz="1150" b="1" dirty="0">
                <a:solidFill>
                  <a:srgbClr val="2B6A5E"/>
                </a:solidFill>
                <a:latin typeface="Calibri" pitchFamily="34" charset="0"/>
                <a:ea typeface="Calibri" pitchFamily="34" charset="-122"/>
                <a:cs typeface="Calibri" pitchFamily="34" charset="-120"/>
              </a:rPr>
              <a:t>Q. 4:59  |  Al-Nisa</a:t>
            </a:r>
            <a:endParaRPr lang="en-US" sz="1150" dirty="0"/>
          </a:p>
        </p:txBody>
      </p:sp>
      <p:sp>
        <p:nvSpPr>
          <p:cNvPr id="7" name="Text 5"/>
          <p:cNvSpPr/>
          <p:nvPr/>
        </p:nvSpPr>
        <p:spPr>
          <a:xfrm>
            <a:off x="338328" y="978408"/>
            <a:ext cx="2587752" cy="329184"/>
          </a:xfrm>
          <a:prstGeom prst="rect">
            <a:avLst/>
          </a:prstGeom>
          <a:noFill/>
          <a:ln/>
        </p:spPr>
        <p:txBody>
          <a:bodyPr wrap="square" rtlCol="0" anchor="ctr"/>
          <a:lstStyle/>
          <a:p>
            <a:pPr marL="0" indent="0" algn="r">
              <a:buNone/>
            </a:pPr>
            <a:r>
              <a:rPr lang="en-US" sz="1100" i="1" dirty="0">
                <a:solidFill>
                  <a:srgbClr val="141D26"/>
                </a:solidFill>
                <a:latin typeface="Calibri" pitchFamily="34" charset="0"/>
                <a:ea typeface="Calibri" pitchFamily="34" charset="-122"/>
                <a:cs typeface="Calibri" pitchFamily="34" charset="-120"/>
              </a:rPr>
              <a:t>فَإِن تَنَازَعْتُمْ فِي شَيْءٍ فَرُدُّوهُ إِلَى اللَّهِ وَالرَّسُولِ</a:t>
            </a:r>
            <a:endParaRPr lang="en-US" sz="1100" dirty="0"/>
          </a:p>
        </p:txBody>
      </p:sp>
      <p:sp>
        <p:nvSpPr>
          <p:cNvPr id="8" name="Text 6"/>
          <p:cNvSpPr/>
          <p:nvPr/>
        </p:nvSpPr>
        <p:spPr>
          <a:xfrm>
            <a:off x="338328" y="1289304"/>
            <a:ext cx="2587752" cy="402336"/>
          </a:xfrm>
          <a:prstGeom prst="rect">
            <a:avLst/>
          </a:prstGeom>
          <a:noFill/>
          <a:ln/>
        </p:spPr>
        <p:txBody>
          <a:bodyPr wrap="square" rtlCol="0" anchor="ctr"/>
          <a:lstStyle/>
          <a:p>
            <a:pPr marL="0" indent="0" algn="l">
              <a:buNone/>
            </a:pPr>
            <a:r>
              <a:rPr lang="en-US" sz="1100" dirty="0">
                <a:solidFill>
                  <a:srgbClr val="141D26"/>
                </a:solidFill>
                <a:latin typeface="Calibri" pitchFamily="34" charset="0"/>
                <a:ea typeface="Calibri" pitchFamily="34" charset="-122"/>
                <a:cs typeface="Calibri" pitchFamily="34" charset="-120"/>
              </a:rPr>
              <a:t>"If you dispute over anything, refer it to Allah and the Messenger."</a:t>
            </a:r>
            <a:endParaRPr lang="en-US" sz="1100" dirty="0"/>
          </a:p>
        </p:txBody>
      </p:sp>
      <p:sp>
        <p:nvSpPr>
          <p:cNvPr id="9" name="Text 7"/>
          <p:cNvSpPr/>
          <p:nvPr/>
        </p:nvSpPr>
        <p:spPr>
          <a:xfrm>
            <a:off x="338328" y="1787652"/>
            <a:ext cx="2587752" cy="256032"/>
          </a:xfrm>
          <a:prstGeom prst="rect">
            <a:avLst/>
          </a:prstGeom>
          <a:noFill/>
          <a:ln/>
        </p:spPr>
        <p:txBody>
          <a:bodyPr wrap="square" rtlCol="0" anchor="ctr"/>
          <a:lstStyle/>
          <a:p>
            <a:pPr marL="0" indent="0">
              <a:buNone/>
            </a:pPr>
            <a:r>
              <a:rPr lang="en-US" sz="950" i="1" dirty="0">
                <a:solidFill>
                  <a:srgbClr val="606878"/>
                </a:solidFill>
                <a:latin typeface="Calibri" pitchFamily="34" charset="0"/>
                <a:ea typeface="Calibri" pitchFamily="34" charset="-122"/>
                <a:cs typeface="Calibri" pitchFamily="34" charset="-120"/>
              </a:rPr>
              <a:t>Ibn Kathir: disputes must return to Quran and authentic Sunnah — not opinion-generators.</a:t>
            </a:r>
            <a:endParaRPr lang="en-US" sz="950" dirty="0"/>
          </a:p>
        </p:txBody>
      </p:sp>
      <p:sp>
        <p:nvSpPr>
          <p:cNvPr id="10" name="Shape 8"/>
          <p:cNvSpPr/>
          <p:nvPr/>
        </p:nvSpPr>
        <p:spPr>
          <a:xfrm>
            <a:off x="3172968" y="685800"/>
            <a:ext cx="2788920" cy="1549400"/>
          </a:xfrm>
          <a:prstGeom prst="rect">
            <a:avLst/>
          </a:prstGeom>
          <a:solidFill>
            <a:srgbClr val="FFFFFF"/>
          </a:solidFill>
          <a:ln w="19050">
            <a:solidFill>
              <a:srgbClr val="C8550A"/>
            </a:solidFill>
            <a:prstDash val="solid"/>
          </a:ln>
        </p:spPr>
      </p:sp>
      <p:sp>
        <p:nvSpPr>
          <p:cNvPr id="11" name="Shape 9"/>
          <p:cNvSpPr/>
          <p:nvPr/>
        </p:nvSpPr>
        <p:spPr>
          <a:xfrm>
            <a:off x="3172968" y="685800"/>
            <a:ext cx="82296" cy="1316736"/>
          </a:xfrm>
          <a:prstGeom prst="rect">
            <a:avLst/>
          </a:prstGeom>
          <a:solidFill>
            <a:srgbClr val="C8550A"/>
          </a:solidFill>
          <a:ln w="12700">
            <a:solidFill>
              <a:srgbClr val="C8550A"/>
            </a:solidFill>
            <a:prstDash val="solid"/>
          </a:ln>
        </p:spPr>
      </p:sp>
      <p:sp>
        <p:nvSpPr>
          <p:cNvPr id="12" name="Text 10"/>
          <p:cNvSpPr/>
          <p:nvPr/>
        </p:nvSpPr>
        <p:spPr>
          <a:xfrm>
            <a:off x="3310128" y="740664"/>
            <a:ext cx="2587752" cy="256032"/>
          </a:xfrm>
          <a:prstGeom prst="rect">
            <a:avLst/>
          </a:prstGeom>
          <a:noFill/>
          <a:ln/>
        </p:spPr>
        <p:txBody>
          <a:bodyPr wrap="square" rtlCol="0" anchor="ctr"/>
          <a:lstStyle/>
          <a:p>
            <a:pPr marL="0" indent="0">
              <a:buNone/>
            </a:pPr>
            <a:r>
              <a:rPr lang="en-US" sz="1150" b="1" dirty="0">
                <a:solidFill>
                  <a:srgbClr val="2B6A5E"/>
                </a:solidFill>
                <a:latin typeface="Calibri" pitchFamily="34" charset="0"/>
                <a:ea typeface="Calibri" pitchFamily="34" charset="-122"/>
                <a:cs typeface="Calibri" pitchFamily="34" charset="-120"/>
              </a:rPr>
              <a:t>Q. 2:151  |  Al-Baqarah</a:t>
            </a:r>
            <a:endParaRPr lang="en-US" sz="1150" dirty="0"/>
          </a:p>
        </p:txBody>
      </p:sp>
      <p:sp>
        <p:nvSpPr>
          <p:cNvPr id="13" name="Text 11"/>
          <p:cNvSpPr/>
          <p:nvPr/>
        </p:nvSpPr>
        <p:spPr>
          <a:xfrm>
            <a:off x="3310128" y="978408"/>
            <a:ext cx="2587752" cy="329184"/>
          </a:xfrm>
          <a:prstGeom prst="rect">
            <a:avLst/>
          </a:prstGeom>
          <a:noFill/>
          <a:ln/>
        </p:spPr>
        <p:txBody>
          <a:bodyPr wrap="square" rtlCol="0" anchor="ctr"/>
          <a:lstStyle/>
          <a:p>
            <a:pPr marL="0" indent="0" algn="r">
              <a:buNone/>
            </a:pPr>
            <a:r>
              <a:rPr lang="en-US" sz="1100" i="1" dirty="0">
                <a:solidFill>
                  <a:srgbClr val="141D26"/>
                </a:solidFill>
                <a:latin typeface="Calibri" pitchFamily="34" charset="0"/>
                <a:ea typeface="Calibri" pitchFamily="34" charset="-122"/>
                <a:cs typeface="Calibri" pitchFamily="34" charset="-120"/>
              </a:rPr>
              <a:t>وَيُعَلِّمُكُمُ الْكِتَابَ وَالْحِكْمَةَ وَيُعَلِّمُكُمْ مَّا لَمْ تَكُونُوا تَعْلَمُونَ</a:t>
            </a:r>
            <a:endParaRPr lang="en-US" sz="1100" dirty="0"/>
          </a:p>
        </p:txBody>
      </p:sp>
      <p:sp>
        <p:nvSpPr>
          <p:cNvPr id="14" name="Text 12"/>
          <p:cNvSpPr/>
          <p:nvPr/>
        </p:nvSpPr>
        <p:spPr>
          <a:xfrm>
            <a:off x="3310128" y="1289304"/>
            <a:ext cx="2587752" cy="402336"/>
          </a:xfrm>
          <a:prstGeom prst="rect">
            <a:avLst/>
          </a:prstGeom>
          <a:noFill/>
          <a:ln/>
        </p:spPr>
        <p:txBody>
          <a:bodyPr wrap="square" rtlCol="0" anchor="ctr"/>
          <a:lstStyle/>
          <a:p>
            <a:pPr marL="0" indent="0" algn="l">
              <a:buNone/>
            </a:pPr>
            <a:r>
              <a:rPr lang="en-US" sz="1100" dirty="0">
                <a:solidFill>
                  <a:srgbClr val="141D26"/>
                </a:solidFill>
                <a:latin typeface="Calibri" pitchFamily="34" charset="0"/>
                <a:ea typeface="Calibri" pitchFamily="34" charset="-122"/>
                <a:cs typeface="Calibri" pitchFamily="34" charset="-120"/>
              </a:rPr>
              <a:t>"He teaches you the Book and Wisdom and teaches you what you did not know."</a:t>
            </a:r>
            <a:endParaRPr lang="en-US" sz="1100" dirty="0"/>
          </a:p>
        </p:txBody>
      </p:sp>
      <p:sp>
        <p:nvSpPr>
          <p:cNvPr id="15" name="Text 13"/>
          <p:cNvSpPr/>
          <p:nvPr/>
        </p:nvSpPr>
        <p:spPr>
          <a:xfrm>
            <a:off x="3310128" y="1801368"/>
            <a:ext cx="2587752" cy="256032"/>
          </a:xfrm>
          <a:prstGeom prst="rect">
            <a:avLst/>
          </a:prstGeom>
          <a:noFill/>
          <a:ln/>
        </p:spPr>
        <p:txBody>
          <a:bodyPr wrap="square" rtlCol="0" anchor="ctr"/>
          <a:lstStyle/>
          <a:p>
            <a:pPr marL="0" indent="0">
              <a:buNone/>
            </a:pPr>
            <a:r>
              <a:rPr lang="en-US" sz="950" i="1" dirty="0">
                <a:solidFill>
                  <a:srgbClr val="606878"/>
                </a:solidFill>
                <a:latin typeface="Calibri" pitchFamily="34" charset="0"/>
                <a:ea typeface="Calibri" pitchFamily="34" charset="-122"/>
                <a:cs typeface="Calibri" pitchFamily="34" charset="-120"/>
              </a:rPr>
              <a:t>Al-Tabari: al-hikmah = the Sunnah; wisdom is transmitted, not computed.</a:t>
            </a:r>
            <a:endParaRPr lang="en-US" sz="950" dirty="0"/>
          </a:p>
        </p:txBody>
      </p:sp>
      <p:sp>
        <p:nvSpPr>
          <p:cNvPr id="16" name="Shape 14"/>
          <p:cNvSpPr/>
          <p:nvPr/>
        </p:nvSpPr>
        <p:spPr>
          <a:xfrm>
            <a:off x="6144768" y="685800"/>
            <a:ext cx="2788920" cy="1549400"/>
          </a:xfrm>
          <a:prstGeom prst="rect">
            <a:avLst/>
          </a:prstGeom>
          <a:solidFill>
            <a:srgbClr val="FFFFFF"/>
          </a:solidFill>
          <a:ln w="19050">
            <a:solidFill>
              <a:srgbClr val="C8550A"/>
            </a:solidFill>
            <a:prstDash val="solid"/>
          </a:ln>
        </p:spPr>
      </p:sp>
      <p:sp>
        <p:nvSpPr>
          <p:cNvPr id="17" name="Shape 15"/>
          <p:cNvSpPr/>
          <p:nvPr/>
        </p:nvSpPr>
        <p:spPr>
          <a:xfrm>
            <a:off x="6144768" y="685800"/>
            <a:ext cx="82296" cy="1316736"/>
          </a:xfrm>
          <a:prstGeom prst="rect">
            <a:avLst/>
          </a:prstGeom>
          <a:solidFill>
            <a:srgbClr val="C8550A"/>
          </a:solidFill>
          <a:ln w="12700">
            <a:solidFill>
              <a:srgbClr val="C8550A"/>
            </a:solidFill>
            <a:prstDash val="solid"/>
          </a:ln>
        </p:spPr>
      </p:sp>
      <p:sp>
        <p:nvSpPr>
          <p:cNvPr id="18" name="Text 16"/>
          <p:cNvSpPr/>
          <p:nvPr/>
        </p:nvSpPr>
        <p:spPr>
          <a:xfrm>
            <a:off x="6281928" y="740664"/>
            <a:ext cx="2587752" cy="256032"/>
          </a:xfrm>
          <a:prstGeom prst="rect">
            <a:avLst/>
          </a:prstGeom>
          <a:noFill/>
          <a:ln/>
        </p:spPr>
        <p:txBody>
          <a:bodyPr wrap="square" rtlCol="0" anchor="ctr"/>
          <a:lstStyle/>
          <a:p>
            <a:pPr marL="0" indent="0">
              <a:buNone/>
            </a:pPr>
            <a:r>
              <a:rPr lang="en-US" sz="1150" b="1" dirty="0">
                <a:solidFill>
                  <a:srgbClr val="2B6A5E"/>
                </a:solidFill>
                <a:latin typeface="Calibri" pitchFamily="34" charset="0"/>
                <a:ea typeface="Calibri" pitchFamily="34" charset="-122"/>
                <a:cs typeface="Calibri" pitchFamily="34" charset="-120"/>
              </a:rPr>
              <a:t>Q. 5:44  |  Al-Ma'idah</a:t>
            </a:r>
            <a:endParaRPr lang="en-US" sz="1150" dirty="0"/>
          </a:p>
        </p:txBody>
      </p:sp>
      <p:sp>
        <p:nvSpPr>
          <p:cNvPr id="19" name="Text 17"/>
          <p:cNvSpPr/>
          <p:nvPr/>
        </p:nvSpPr>
        <p:spPr>
          <a:xfrm>
            <a:off x="6281928" y="978408"/>
            <a:ext cx="2587752" cy="329184"/>
          </a:xfrm>
          <a:prstGeom prst="rect">
            <a:avLst/>
          </a:prstGeom>
          <a:noFill/>
          <a:ln/>
        </p:spPr>
        <p:txBody>
          <a:bodyPr wrap="square" rtlCol="0" anchor="ctr"/>
          <a:lstStyle/>
          <a:p>
            <a:pPr marL="0" indent="0" algn="r">
              <a:buNone/>
            </a:pPr>
            <a:r>
              <a:rPr lang="en-US" sz="1100" i="1" dirty="0">
                <a:solidFill>
                  <a:srgbClr val="141D26"/>
                </a:solidFill>
                <a:latin typeface="Calibri" pitchFamily="34" charset="0"/>
                <a:ea typeface="Calibri" pitchFamily="34" charset="-122"/>
                <a:cs typeface="Calibri" pitchFamily="34" charset="-120"/>
              </a:rPr>
              <a:t>وَمَن لَّمْ يَحْكُم بِمَا أَنزَلَ اللَّهُ فَأُولَٰئِكَ هُمُ الْكَافِرُونَ</a:t>
            </a:r>
            <a:endParaRPr lang="en-US" sz="1100" dirty="0"/>
          </a:p>
        </p:txBody>
      </p:sp>
      <p:sp>
        <p:nvSpPr>
          <p:cNvPr id="20" name="Text 18"/>
          <p:cNvSpPr/>
          <p:nvPr/>
        </p:nvSpPr>
        <p:spPr>
          <a:xfrm>
            <a:off x="6281928" y="1289304"/>
            <a:ext cx="2587752" cy="402336"/>
          </a:xfrm>
          <a:prstGeom prst="rect">
            <a:avLst/>
          </a:prstGeom>
          <a:noFill/>
          <a:ln/>
        </p:spPr>
        <p:txBody>
          <a:bodyPr wrap="square" rtlCol="0" anchor="ctr"/>
          <a:lstStyle/>
          <a:p>
            <a:pPr marL="0" indent="0" algn="l">
              <a:buNone/>
            </a:pPr>
            <a:r>
              <a:rPr lang="en-US" sz="1100" dirty="0">
                <a:solidFill>
                  <a:srgbClr val="141D26"/>
                </a:solidFill>
                <a:latin typeface="Calibri" pitchFamily="34" charset="0"/>
                <a:ea typeface="Calibri" pitchFamily="34" charset="-122"/>
                <a:cs typeface="Calibri" pitchFamily="34" charset="-120"/>
              </a:rPr>
              <a:t>"Whoever does not judge by what Allah has revealed — such are the disbelievers."</a:t>
            </a:r>
            <a:endParaRPr lang="en-US" sz="1100" dirty="0"/>
          </a:p>
        </p:txBody>
      </p:sp>
      <p:sp>
        <p:nvSpPr>
          <p:cNvPr id="21" name="Text 19"/>
          <p:cNvSpPr/>
          <p:nvPr/>
        </p:nvSpPr>
        <p:spPr>
          <a:xfrm>
            <a:off x="6281928" y="1673352"/>
            <a:ext cx="2587752" cy="466344"/>
          </a:xfrm>
          <a:prstGeom prst="rect">
            <a:avLst/>
          </a:prstGeom>
          <a:noFill/>
          <a:ln/>
        </p:spPr>
        <p:txBody>
          <a:bodyPr wrap="square" rtlCol="0" anchor="ctr"/>
          <a:lstStyle/>
          <a:p>
            <a:pPr marL="0" indent="0">
              <a:buNone/>
            </a:pPr>
            <a:r>
              <a:rPr lang="en-US" sz="950" i="1" dirty="0">
                <a:solidFill>
                  <a:srgbClr val="606878"/>
                </a:solidFill>
                <a:latin typeface="Calibri" pitchFamily="34" charset="0"/>
                <a:ea typeface="Calibri" pitchFamily="34" charset="-122"/>
                <a:cs typeface="Calibri" pitchFamily="34" charset="-120"/>
              </a:rPr>
              <a:t>Al-Qurtubi: judgment (hukm) requires qualified human agency — a machine issues outputs, not hukm.</a:t>
            </a:r>
            <a:endParaRPr lang="en-US" sz="950" dirty="0"/>
          </a:p>
        </p:txBody>
      </p:sp>
      <p:sp>
        <p:nvSpPr>
          <p:cNvPr id="22" name="Shape 20"/>
          <p:cNvSpPr/>
          <p:nvPr/>
        </p:nvSpPr>
        <p:spPr>
          <a:xfrm>
            <a:off x="201168" y="2525103"/>
            <a:ext cx="8732520" cy="1188720"/>
          </a:xfrm>
          <a:prstGeom prst="rect">
            <a:avLst/>
          </a:prstGeom>
          <a:solidFill>
            <a:srgbClr val="0B1120"/>
          </a:solidFill>
          <a:ln w="12700">
            <a:solidFill>
              <a:srgbClr val="0B1120"/>
            </a:solidFill>
            <a:prstDash val="solid"/>
          </a:ln>
        </p:spPr>
      </p:sp>
      <p:sp>
        <p:nvSpPr>
          <p:cNvPr id="23" name="Text 21"/>
          <p:cNvSpPr/>
          <p:nvPr/>
        </p:nvSpPr>
        <p:spPr>
          <a:xfrm>
            <a:off x="347472" y="2570823"/>
            <a:ext cx="2011680" cy="292608"/>
          </a:xfrm>
          <a:prstGeom prst="rect">
            <a:avLst/>
          </a:prstGeom>
          <a:noFill/>
          <a:ln/>
        </p:spPr>
        <p:txBody>
          <a:bodyPr wrap="square" rtlCol="0" anchor="ctr"/>
          <a:lstStyle/>
          <a:p>
            <a:pPr marL="0" indent="0" algn="l">
              <a:buNone/>
            </a:pPr>
            <a:r>
              <a:rPr lang="en-US" sz="1100" b="1" dirty="0">
                <a:solidFill>
                  <a:srgbClr val="C5973A"/>
                </a:solidFill>
                <a:latin typeface="Calibri" pitchFamily="34" charset="0"/>
                <a:ea typeface="Calibri" pitchFamily="34" charset="-122"/>
                <a:cs typeface="Calibri" pitchFamily="34" charset="-120"/>
              </a:rPr>
              <a:t>HADITH FOUNDATION</a:t>
            </a:r>
            <a:endParaRPr lang="en-US" sz="1100" dirty="0"/>
          </a:p>
        </p:txBody>
      </p:sp>
      <p:sp>
        <p:nvSpPr>
          <p:cNvPr id="24" name="Text 22"/>
          <p:cNvSpPr/>
          <p:nvPr/>
        </p:nvSpPr>
        <p:spPr>
          <a:xfrm>
            <a:off x="2099733" y="2570823"/>
            <a:ext cx="6724227" cy="411480"/>
          </a:xfrm>
          <a:prstGeom prst="rect">
            <a:avLst/>
          </a:prstGeom>
          <a:noFill/>
          <a:ln/>
        </p:spPr>
        <p:txBody>
          <a:bodyPr wrap="square" rtlCol="0" anchor="ctr"/>
          <a:lstStyle/>
          <a:p>
            <a:pPr marL="0" indent="0" algn="l">
              <a:buNone/>
            </a:pPr>
            <a:r>
              <a:rPr lang="en-US" sz="1350" i="1" dirty="0">
                <a:solidFill>
                  <a:srgbClr val="FFFFFF"/>
                </a:solidFill>
                <a:latin typeface="Calibri" pitchFamily="34" charset="0"/>
                <a:ea typeface="Calibri" pitchFamily="34" charset="-122"/>
                <a:cs typeface="Calibri" pitchFamily="34" charset="-120"/>
              </a:rPr>
              <a:t>"When Allah wishes good for someone, He gives him deep understanding (fiqh) in religion."</a:t>
            </a:r>
            <a:endParaRPr lang="en-US" sz="1350" dirty="0"/>
          </a:p>
        </p:txBody>
      </p:sp>
      <p:sp>
        <p:nvSpPr>
          <p:cNvPr id="25" name="Text 23"/>
          <p:cNvSpPr/>
          <p:nvPr/>
        </p:nvSpPr>
        <p:spPr>
          <a:xfrm>
            <a:off x="347472" y="2973159"/>
            <a:ext cx="8503920" cy="713232"/>
          </a:xfrm>
          <a:prstGeom prst="rect">
            <a:avLst/>
          </a:prstGeom>
          <a:noFill/>
          <a:ln/>
        </p:spPr>
        <p:txBody>
          <a:bodyPr wrap="square" rtlCol="0" anchor="t"/>
          <a:lstStyle/>
          <a:p>
            <a:pPr marL="0" indent="0" algn="l">
              <a:buNone/>
            </a:pPr>
            <a:r>
              <a:rPr lang="en-US" sz="1100" dirty="0">
                <a:solidFill>
                  <a:srgbClr val="A8BECF"/>
                </a:solidFill>
                <a:latin typeface="Calibri" pitchFamily="34" charset="0"/>
                <a:ea typeface="Calibri" pitchFamily="34" charset="-122"/>
                <a:cs typeface="Calibri" pitchFamily="34" charset="-120"/>
              </a:rPr>
              <a:t>Sahih al-Bukhari #71, Sahih Muslim #1037  |  Graded Mutawatir (mass-transmitted)</a:t>
            </a:r>
            <a:endParaRPr lang="en-US" sz="1100" dirty="0"/>
          </a:p>
          <a:p>
            <a:pPr marL="0" indent="0" algn="l">
              <a:buNone/>
            </a:pPr>
            <a:endParaRPr lang="en-US" sz="1100" dirty="0"/>
          </a:p>
          <a:p>
            <a:pPr marL="0" indent="0" algn="l">
              <a:buNone/>
            </a:pPr>
            <a:r>
              <a:rPr lang="en-US" sz="1100" dirty="0">
                <a:solidFill>
                  <a:srgbClr val="A8BECF"/>
                </a:solidFill>
                <a:latin typeface="Calibri" pitchFamily="34" charset="0"/>
                <a:ea typeface="Calibri" pitchFamily="34" charset="-122"/>
                <a:cs typeface="Calibri" pitchFamily="34" charset="-120"/>
              </a:rPr>
              <a:t>Application: Fiqh is divinely bestowed on a qualified human through taqwa and learning — not a product of statistical pre-training. An LLM has received no such gift; it has only patterns.</a:t>
            </a:r>
            <a:endParaRPr lang="en-US" sz="1100" dirty="0"/>
          </a:p>
        </p:txBody>
      </p:sp>
      <p:sp>
        <p:nvSpPr>
          <p:cNvPr id="26" name="Shape 24"/>
          <p:cNvSpPr/>
          <p:nvPr/>
        </p:nvSpPr>
        <p:spPr>
          <a:xfrm>
            <a:off x="201168" y="3921521"/>
            <a:ext cx="8732520" cy="422454"/>
          </a:xfrm>
          <a:prstGeom prst="rect">
            <a:avLst/>
          </a:prstGeom>
          <a:solidFill>
            <a:srgbClr val="2B6A5E"/>
          </a:solidFill>
          <a:ln w="12700">
            <a:solidFill>
              <a:srgbClr val="2B6A5E"/>
            </a:solidFill>
            <a:prstDash val="solid"/>
          </a:ln>
        </p:spPr>
      </p:sp>
      <p:sp>
        <p:nvSpPr>
          <p:cNvPr id="27" name="Text 25"/>
          <p:cNvSpPr/>
          <p:nvPr/>
        </p:nvSpPr>
        <p:spPr>
          <a:xfrm>
            <a:off x="347472" y="3948288"/>
            <a:ext cx="1554480" cy="384048"/>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APPLICATION TO AI:</a:t>
            </a:r>
            <a:endParaRPr lang="en-US" sz="1100" dirty="0"/>
          </a:p>
        </p:txBody>
      </p:sp>
      <p:sp>
        <p:nvSpPr>
          <p:cNvPr id="28" name="Text 26"/>
          <p:cNvSpPr/>
          <p:nvPr/>
        </p:nvSpPr>
        <p:spPr>
          <a:xfrm>
            <a:off x="1938528" y="3929085"/>
            <a:ext cx="6876288" cy="422454"/>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4:59 → Disputes → scholars, not chatbots  ·  2:151 → Wisdom = transmitted Sunnah, not generated text  ·  5:44 → Hukm demands human accountability</a:t>
            </a:r>
            <a:endParaRPr lang="en-US" sz="1100" dirty="0"/>
          </a:p>
        </p:txBody>
      </p:sp>
      <p:sp>
        <p:nvSpPr>
          <p:cNvPr id="29" name="Text 27"/>
          <p:cNvSpPr/>
          <p:nvPr/>
        </p:nvSpPr>
        <p:spPr>
          <a:xfrm>
            <a:off x="201168" y="4517080"/>
            <a:ext cx="8732520" cy="256032"/>
          </a:xfrm>
          <a:prstGeom prst="rect">
            <a:avLst/>
          </a:prstGeom>
          <a:noFill/>
          <a:ln/>
        </p:spPr>
        <p:txBody>
          <a:bodyPr wrap="square" rtlCol="0" anchor="ctr"/>
          <a:lstStyle/>
          <a:p>
            <a:pPr marL="0" indent="0" algn="l">
              <a:buNone/>
            </a:pPr>
            <a:r>
              <a:rPr lang="en-US" sz="850" i="1" dirty="0">
                <a:solidFill>
                  <a:srgbClr val="606878"/>
                </a:solidFill>
                <a:latin typeface="Calibri" pitchFamily="34" charset="0"/>
                <a:ea typeface="Calibri" pitchFamily="34" charset="-122"/>
                <a:cs typeface="Calibri" pitchFamily="34" charset="-120"/>
              </a:rPr>
              <a:t>Classical Tafsir References: Tafsir Ibn Kathir (Dar Taybah, 1999) · Tafsir al-Tabari (Mu'assasat al-Risalah, 2001) · Tafsir al-Qurtubi (Dar al-Kutub al-Misriyyah, 1964)</a:t>
            </a:r>
            <a:endParaRPr lang="en-US" sz="850" dirty="0"/>
          </a:p>
        </p:txBody>
      </p:sp>
    </p:spTree>
  </p:cSld>
  <p:clrMapOvr>
    <a:masterClrMapping/>
  </p:clrMapOvr>
  <mc:AlternateContent xmlns:mc="http://schemas.openxmlformats.org/markup-compatibility/2006" xmlns:p14="http://schemas.microsoft.com/office/powerpoint/2010/main">
    <mc:Choice Requires="p14">
      <p:transition spd="slow" p14:dur="2000" advTm="160719"/>
    </mc:Choice>
    <mc:Fallback xmlns="">
      <p:transition spd="slow" advTm="16071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120"/>
          </a:solidFill>
          <a:ln w="12700">
            <a:solidFill>
              <a:srgbClr val="0B1120"/>
            </a:solidFill>
            <a:prstDash val="solid"/>
          </a:ln>
        </p:spPr>
      </p:sp>
      <p:sp>
        <p:nvSpPr>
          <p:cNvPr id="3" name="Text 1"/>
          <p:cNvSpPr/>
          <p:nvPr/>
        </p:nvSpPr>
        <p:spPr>
          <a:xfrm>
            <a:off x="365760" y="0"/>
            <a:ext cx="8412480" cy="566928"/>
          </a:xfrm>
          <a:prstGeom prst="rect">
            <a:avLst/>
          </a:prstGeom>
          <a:noFill/>
          <a:ln/>
        </p:spPr>
        <p:txBody>
          <a:bodyPr wrap="square" rtlCol="0" anchor="ctr"/>
          <a:lstStyle/>
          <a:p>
            <a:pPr marL="0" indent="0" algn="l">
              <a:buNone/>
            </a:pPr>
            <a:r>
              <a:rPr lang="en-US" sz="2400" b="1" dirty="0">
                <a:solidFill>
                  <a:srgbClr val="FFFFFF"/>
                </a:solidFill>
                <a:latin typeface="Palatino Linotype" pitchFamily="34" charset="0"/>
                <a:ea typeface="Palatino Linotype" pitchFamily="34" charset="-122"/>
                <a:cs typeface="Palatino Linotype" pitchFamily="34" charset="-120"/>
              </a:rPr>
              <a:t>Evidence from Three Research Papers</a:t>
            </a:r>
            <a:endParaRPr lang="en-US" sz="2400" dirty="0"/>
          </a:p>
        </p:txBody>
      </p:sp>
      <p:sp>
        <p:nvSpPr>
          <p:cNvPr id="4" name="Shape 2"/>
          <p:cNvSpPr/>
          <p:nvPr/>
        </p:nvSpPr>
        <p:spPr>
          <a:xfrm>
            <a:off x="201168" y="658367"/>
            <a:ext cx="2880360" cy="3213721"/>
          </a:xfrm>
          <a:prstGeom prst="rect">
            <a:avLst/>
          </a:prstGeom>
          <a:solidFill>
            <a:srgbClr val="FFFFFF"/>
          </a:solidFill>
          <a:ln w="9525">
            <a:solidFill>
              <a:srgbClr val="DADADA"/>
            </a:solidFill>
            <a:prstDash val="solid"/>
          </a:ln>
        </p:spPr>
      </p:sp>
      <p:sp>
        <p:nvSpPr>
          <p:cNvPr id="5" name="Shape 3"/>
          <p:cNvSpPr/>
          <p:nvPr/>
        </p:nvSpPr>
        <p:spPr>
          <a:xfrm>
            <a:off x="201168" y="658368"/>
            <a:ext cx="2788920" cy="329184"/>
          </a:xfrm>
          <a:prstGeom prst="rect">
            <a:avLst/>
          </a:prstGeom>
          <a:solidFill>
            <a:srgbClr val="2B6A5E"/>
          </a:solidFill>
          <a:ln w="12700">
            <a:solidFill>
              <a:srgbClr val="2B6A5E"/>
            </a:solidFill>
            <a:prstDash val="solid"/>
          </a:ln>
        </p:spPr>
      </p:sp>
      <p:sp>
        <p:nvSpPr>
          <p:cNvPr id="6" name="Text 4"/>
          <p:cNvSpPr/>
          <p:nvPr/>
        </p:nvSpPr>
        <p:spPr>
          <a:xfrm>
            <a:off x="292608" y="658368"/>
            <a:ext cx="2624328" cy="329184"/>
          </a:xfrm>
          <a:prstGeom prst="rect">
            <a:avLst/>
          </a:prstGeom>
          <a:noFill/>
          <a:ln/>
        </p:spPr>
        <p:txBody>
          <a:bodyPr wrap="square"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  PAPER 1 — TECHNICAL BENCHMARK</a:t>
            </a:r>
            <a:endParaRPr lang="en-US" sz="1050" dirty="0"/>
          </a:p>
        </p:txBody>
      </p:sp>
      <p:sp>
        <p:nvSpPr>
          <p:cNvPr id="7" name="Text 5"/>
          <p:cNvSpPr/>
          <p:nvPr/>
        </p:nvSpPr>
        <p:spPr>
          <a:xfrm>
            <a:off x="292608" y="1024128"/>
            <a:ext cx="2624328" cy="640080"/>
          </a:xfrm>
          <a:prstGeom prst="rect">
            <a:avLst/>
          </a:prstGeom>
          <a:noFill/>
          <a:ln/>
        </p:spPr>
        <p:txBody>
          <a:bodyPr wrap="square" rtlCol="0" anchor="t"/>
          <a:lstStyle/>
          <a:p>
            <a:pPr marL="0" indent="0" algn="l">
              <a:buNone/>
            </a:pPr>
            <a:r>
              <a:rPr lang="en-US" sz="980" i="1" dirty="0">
                <a:solidFill>
                  <a:srgbClr val="141D26"/>
                </a:solidFill>
                <a:latin typeface="Calibri" pitchFamily="34" charset="0"/>
                <a:ea typeface="Calibri" pitchFamily="34" charset="-122"/>
                <a:cs typeface="Calibri" pitchFamily="34" charset="-120"/>
              </a:rPr>
              <a:t>Elmahjub, Qadir, Mushtaq et al. (2026). 'IslamicLegalBench: Evaluating LLMs on Islamic Law Across 1,200 Years.' arXiv:2602.21226. Submitted to AI &amp; Law journal.</a:t>
            </a:r>
            <a:endParaRPr lang="en-US" sz="980" dirty="0"/>
          </a:p>
        </p:txBody>
      </p:sp>
      <p:sp>
        <p:nvSpPr>
          <p:cNvPr id="8" name="Shape 6"/>
          <p:cNvSpPr/>
          <p:nvPr/>
        </p:nvSpPr>
        <p:spPr>
          <a:xfrm>
            <a:off x="292608" y="1727314"/>
            <a:ext cx="2606040" cy="173736"/>
          </a:xfrm>
          <a:prstGeom prst="rect">
            <a:avLst/>
          </a:prstGeom>
          <a:solidFill>
            <a:srgbClr val="DFF0E8"/>
          </a:solidFill>
          <a:ln w="12700">
            <a:solidFill>
              <a:srgbClr val="DFF0E8"/>
            </a:solidFill>
            <a:prstDash val="solid"/>
          </a:ln>
        </p:spPr>
      </p:sp>
      <p:sp>
        <p:nvSpPr>
          <p:cNvPr id="9" name="Text 7"/>
          <p:cNvSpPr/>
          <p:nvPr/>
        </p:nvSpPr>
        <p:spPr>
          <a:xfrm>
            <a:off x="310896" y="1742044"/>
            <a:ext cx="2569464" cy="173736"/>
          </a:xfrm>
          <a:prstGeom prst="rect">
            <a:avLst/>
          </a:prstGeom>
          <a:noFill/>
          <a:ln/>
        </p:spPr>
        <p:txBody>
          <a:bodyPr wrap="square" rtlCol="0" anchor="ctr"/>
          <a:lstStyle/>
          <a:p>
            <a:pPr marL="0" indent="0" algn="l">
              <a:buNone/>
            </a:pPr>
            <a:r>
              <a:rPr lang="en-US" sz="800" b="1" dirty="0">
                <a:solidFill>
                  <a:srgbClr val="2B6A5E"/>
                </a:solidFill>
                <a:latin typeface="Calibri" pitchFamily="34" charset="0"/>
                <a:ea typeface="Calibri" pitchFamily="34" charset="-122"/>
                <a:cs typeface="Calibri" pitchFamily="34" charset="-120"/>
              </a:rPr>
              <a:t>KEY FINDING</a:t>
            </a:r>
            <a:endParaRPr lang="en-US" sz="800" dirty="0"/>
          </a:p>
        </p:txBody>
      </p:sp>
      <p:sp>
        <p:nvSpPr>
          <p:cNvPr id="10" name="Text 8"/>
          <p:cNvSpPr/>
          <p:nvPr/>
        </p:nvSpPr>
        <p:spPr>
          <a:xfrm>
            <a:off x="292608" y="1901050"/>
            <a:ext cx="2606040" cy="804672"/>
          </a:xfrm>
          <a:prstGeom prst="rect">
            <a:avLst/>
          </a:prstGeom>
          <a:noFill/>
          <a:ln/>
        </p:spPr>
        <p:txBody>
          <a:bodyPr wrap="square" rtlCol="0" anchor="t"/>
          <a:lstStyle/>
          <a:p>
            <a:pPr marL="0" indent="0" algn="l">
              <a:buNone/>
            </a:pPr>
            <a:r>
              <a:rPr lang="en-US" sz="1050" dirty="0">
                <a:solidFill>
                  <a:srgbClr val="141D26"/>
                </a:solidFill>
                <a:latin typeface="Calibri" pitchFamily="34" charset="0"/>
                <a:ea typeface="Calibri" pitchFamily="34" charset="-122"/>
                <a:cs typeface="Calibri" pitchFamily="34" charset="-120"/>
              </a:rPr>
              <a:t>First multi-school benchmark: 38 legal texts, 7 jurisprudential schools, 718 tasks. Best LLM: 68% accuracy, 21% hallucination rate. Six of 9 models accept false jurisprudential premises above 40% (sycophancy).</a:t>
            </a:r>
            <a:endParaRPr lang="en-US" sz="1050" dirty="0"/>
          </a:p>
        </p:txBody>
      </p:sp>
      <p:sp>
        <p:nvSpPr>
          <p:cNvPr id="11" name="Shape 9"/>
          <p:cNvSpPr/>
          <p:nvPr/>
        </p:nvSpPr>
        <p:spPr>
          <a:xfrm>
            <a:off x="292608" y="2821659"/>
            <a:ext cx="2606040" cy="173736"/>
          </a:xfrm>
          <a:prstGeom prst="rect">
            <a:avLst/>
          </a:prstGeom>
          <a:solidFill>
            <a:srgbClr val="FEF0CC"/>
          </a:solidFill>
          <a:ln w="12700">
            <a:solidFill>
              <a:srgbClr val="FEF0CC"/>
            </a:solidFill>
            <a:prstDash val="solid"/>
          </a:ln>
        </p:spPr>
      </p:sp>
      <p:sp>
        <p:nvSpPr>
          <p:cNvPr id="12" name="Text 10"/>
          <p:cNvSpPr/>
          <p:nvPr/>
        </p:nvSpPr>
        <p:spPr>
          <a:xfrm>
            <a:off x="310896" y="2832948"/>
            <a:ext cx="2569464" cy="173736"/>
          </a:xfrm>
          <a:prstGeom prst="rect">
            <a:avLst/>
          </a:prstGeom>
          <a:noFill/>
          <a:ln/>
        </p:spPr>
        <p:txBody>
          <a:bodyPr wrap="square" rtlCol="0" anchor="ctr"/>
          <a:lstStyle/>
          <a:p>
            <a:pPr marL="0" indent="0" algn="l">
              <a:buNone/>
            </a:pPr>
            <a:r>
              <a:rPr lang="en-US" sz="800" b="1" dirty="0">
                <a:solidFill>
                  <a:srgbClr val="C5973A"/>
                </a:solidFill>
                <a:latin typeface="Calibri" pitchFamily="34" charset="0"/>
                <a:ea typeface="Calibri" pitchFamily="34" charset="-122"/>
                <a:cs typeface="Calibri" pitchFamily="34" charset="-120"/>
              </a:rPr>
              <a:t>ISLAMIC RELEVANCE</a:t>
            </a:r>
            <a:endParaRPr lang="en-US" sz="800" dirty="0"/>
          </a:p>
        </p:txBody>
      </p:sp>
      <p:sp>
        <p:nvSpPr>
          <p:cNvPr id="13" name="Text 11"/>
          <p:cNvSpPr/>
          <p:nvPr/>
        </p:nvSpPr>
        <p:spPr>
          <a:xfrm>
            <a:off x="292608" y="3063240"/>
            <a:ext cx="2606040" cy="640080"/>
          </a:xfrm>
          <a:prstGeom prst="rect">
            <a:avLst/>
          </a:prstGeom>
          <a:noFill/>
          <a:ln/>
        </p:spPr>
        <p:txBody>
          <a:bodyPr wrap="square" rtlCol="0" anchor="t"/>
          <a:lstStyle/>
          <a:p>
            <a:pPr marL="0" indent="0" algn="l">
              <a:buNone/>
            </a:pPr>
            <a:r>
              <a:rPr lang="en-US" sz="1050" dirty="0">
                <a:solidFill>
                  <a:srgbClr val="141D26"/>
                </a:solidFill>
                <a:latin typeface="Calibri" pitchFamily="34" charset="0"/>
                <a:ea typeface="Calibri" pitchFamily="34" charset="-122"/>
                <a:cs typeface="Calibri" pitchFamily="34" charset="-120"/>
              </a:rPr>
              <a:t>Proves empirically that current LLMs fail at the basic recall and reasoning tasks a first-year fiqh student must master — let alone ijtihad.</a:t>
            </a:r>
            <a:endParaRPr lang="en-US" sz="1050" dirty="0"/>
          </a:p>
        </p:txBody>
      </p:sp>
      <p:sp>
        <p:nvSpPr>
          <p:cNvPr id="14" name="Shape 12"/>
          <p:cNvSpPr/>
          <p:nvPr/>
        </p:nvSpPr>
        <p:spPr>
          <a:xfrm>
            <a:off x="3172968" y="909432"/>
            <a:ext cx="2788920" cy="2962656"/>
          </a:xfrm>
          <a:prstGeom prst="rect">
            <a:avLst/>
          </a:prstGeom>
          <a:solidFill>
            <a:srgbClr val="FFFFFF"/>
          </a:solidFill>
          <a:ln w="9525">
            <a:solidFill>
              <a:srgbClr val="DADADA"/>
            </a:solidFill>
            <a:prstDash val="solid"/>
          </a:ln>
        </p:spPr>
      </p:sp>
      <p:sp>
        <p:nvSpPr>
          <p:cNvPr id="15" name="Shape 13"/>
          <p:cNvSpPr/>
          <p:nvPr/>
        </p:nvSpPr>
        <p:spPr>
          <a:xfrm>
            <a:off x="3172968" y="658368"/>
            <a:ext cx="2788920" cy="329184"/>
          </a:xfrm>
          <a:prstGeom prst="rect">
            <a:avLst/>
          </a:prstGeom>
          <a:solidFill>
            <a:srgbClr val="C8550A"/>
          </a:solidFill>
          <a:ln w="12700">
            <a:solidFill>
              <a:srgbClr val="C8550A"/>
            </a:solidFill>
            <a:prstDash val="solid"/>
          </a:ln>
        </p:spPr>
      </p:sp>
      <p:sp>
        <p:nvSpPr>
          <p:cNvPr id="16" name="Text 14"/>
          <p:cNvSpPr/>
          <p:nvPr/>
        </p:nvSpPr>
        <p:spPr>
          <a:xfrm>
            <a:off x="3264408" y="658368"/>
            <a:ext cx="2624328" cy="329184"/>
          </a:xfrm>
          <a:prstGeom prst="rect">
            <a:avLst/>
          </a:prstGeom>
          <a:noFill/>
          <a:ln/>
        </p:spPr>
        <p:txBody>
          <a:bodyPr wrap="square"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  PAPER 2 — ISLAMIC STUDIES (MDPI)</a:t>
            </a:r>
            <a:endParaRPr lang="en-US" sz="1050" dirty="0"/>
          </a:p>
        </p:txBody>
      </p:sp>
      <p:sp>
        <p:nvSpPr>
          <p:cNvPr id="17" name="Text 15"/>
          <p:cNvSpPr/>
          <p:nvPr/>
        </p:nvSpPr>
        <p:spPr>
          <a:xfrm>
            <a:off x="3264408" y="1024128"/>
            <a:ext cx="2624328" cy="640080"/>
          </a:xfrm>
          <a:prstGeom prst="rect">
            <a:avLst/>
          </a:prstGeom>
          <a:noFill/>
          <a:ln/>
        </p:spPr>
        <p:txBody>
          <a:bodyPr wrap="square" rtlCol="0" anchor="t"/>
          <a:lstStyle/>
          <a:p>
            <a:pPr marL="0" indent="0" algn="l">
              <a:buNone/>
            </a:pPr>
            <a:r>
              <a:rPr lang="en-US" sz="980" i="1" dirty="0">
                <a:solidFill>
                  <a:srgbClr val="141D26"/>
                </a:solidFill>
                <a:latin typeface="Calibri" pitchFamily="34" charset="0"/>
                <a:ea typeface="Calibri" pitchFamily="34" charset="-122"/>
                <a:cs typeface="Calibri" pitchFamily="34" charset="-120"/>
              </a:rPr>
              <a:t>Abdelnour, M. G. (2025). 'AI and the Islamic Theology of Technology: From Minds to Hearts.' Religions (MDPI), 16(6), 796. DOI: 10.3390/rel16060796.</a:t>
            </a:r>
            <a:endParaRPr lang="en-US" sz="980" dirty="0"/>
          </a:p>
        </p:txBody>
      </p:sp>
      <p:sp>
        <p:nvSpPr>
          <p:cNvPr id="18" name="Shape 16"/>
          <p:cNvSpPr/>
          <p:nvPr/>
        </p:nvSpPr>
        <p:spPr>
          <a:xfrm>
            <a:off x="3264408" y="1750230"/>
            <a:ext cx="2606040" cy="173736"/>
          </a:xfrm>
          <a:prstGeom prst="rect">
            <a:avLst/>
          </a:prstGeom>
          <a:solidFill>
            <a:srgbClr val="DFF0E8"/>
          </a:solidFill>
          <a:ln w="12700">
            <a:solidFill>
              <a:srgbClr val="DFF0E8"/>
            </a:solidFill>
            <a:prstDash val="solid"/>
          </a:ln>
        </p:spPr>
      </p:sp>
      <p:sp>
        <p:nvSpPr>
          <p:cNvPr id="19" name="Text 17"/>
          <p:cNvSpPr/>
          <p:nvPr/>
        </p:nvSpPr>
        <p:spPr>
          <a:xfrm>
            <a:off x="3282696" y="1750230"/>
            <a:ext cx="2569464" cy="173736"/>
          </a:xfrm>
          <a:prstGeom prst="rect">
            <a:avLst/>
          </a:prstGeom>
          <a:noFill/>
          <a:ln/>
        </p:spPr>
        <p:txBody>
          <a:bodyPr wrap="square" rtlCol="0" anchor="ctr"/>
          <a:lstStyle/>
          <a:p>
            <a:pPr marL="0" indent="0" algn="l">
              <a:buNone/>
            </a:pPr>
            <a:r>
              <a:rPr lang="en-US" sz="800" b="1" dirty="0">
                <a:solidFill>
                  <a:srgbClr val="2B6A5E"/>
                </a:solidFill>
                <a:latin typeface="Calibri" pitchFamily="34" charset="0"/>
                <a:ea typeface="Calibri" pitchFamily="34" charset="-122"/>
                <a:cs typeface="Calibri" pitchFamily="34" charset="-120"/>
              </a:rPr>
              <a:t>KEY FINDING</a:t>
            </a:r>
            <a:endParaRPr lang="en-US" sz="800" dirty="0"/>
          </a:p>
        </p:txBody>
      </p:sp>
      <p:sp>
        <p:nvSpPr>
          <p:cNvPr id="20" name="Text 18"/>
          <p:cNvSpPr/>
          <p:nvPr/>
        </p:nvSpPr>
        <p:spPr>
          <a:xfrm>
            <a:off x="3264408" y="1920126"/>
            <a:ext cx="2606040" cy="804672"/>
          </a:xfrm>
          <a:prstGeom prst="rect">
            <a:avLst/>
          </a:prstGeom>
          <a:noFill/>
          <a:ln/>
        </p:spPr>
        <p:txBody>
          <a:bodyPr wrap="square" rtlCol="0" anchor="t"/>
          <a:lstStyle/>
          <a:p>
            <a:pPr marL="0" indent="0" algn="l">
              <a:buNone/>
            </a:pPr>
            <a:r>
              <a:rPr lang="en-US" sz="1050" dirty="0">
                <a:solidFill>
                  <a:srgbClr val="141D26"/>
                </a:solidFill>
                <a:latin typeface="Calibri" pitchFamily="34" charset="0"/>
                <a:ea typeface="Calibri" pitchFamily="34" charset="-122"/>
                <a:cs typeface="Calibri" pitchFamily="34" charset="-120"/>
              </a:rPr>
              <a:t>AI can replicate the outer form of Islamic acts — including fatwa-like text — but lacks the ontological capacity for taqwa, niyyah, and the moral accountability that Islamic scholarship demands of a mufti.</a:t>
            </a:r>
            <a:endParaRPr lang="en-US" sz="1050" dirty="0"/>
          </a:p>
        </p:txBody>
      </p:sp>
      <p:sp>
        <p:nvSpPr>
          <p:cNvPr id="21" name="Shape 19"/>
          <p:cNvSpPr/>
          <p:nvPr/>
        </p:nvSpPr>
        <p:spPr>
          <a:xfrm>
            <a:off x="3255264" y="2823808"/>
            <a:ext cx="2606040" cy="173736"/>
          </a:xfrm>
          <a:prstGeom prst="rect">
            <a:avLst/>
          </a:prstGeom>
          <a:solidFill>
            <a:srgbClr val="FEF0CC"/>
          </a:solidFill>
          <a:ln w="12700">
            <a:solidFill>
              <a:srgbClr val="FEF0CC"/>
            </a:solidFill>
            <a:prstDash val="solid"/>
          </a:ln>
        </p:spPr>
        <p:txBody>
          <a:bodyPr/>
          <a:lstStyle/>
          <a:p>
            <a:endParaRPr lang="en-US" dirty="0"/>
          </a:p>
        </p:txBody>
      </p:sp>
      <p:sp>
        <p:nvSpPr>
          <p:cNvPr id="22" name="Text 20"/>
          <p:cNvSpPr/>
          <p:nvPr/>
        </p:nvSpPr>
        <p:spPr>
          <a:xfrm>
            <a:off x="3291840" y="2845649"/>
            <a:ext cx="2569464" cy="173736"/>
          </a:xfrm>
          <a:prstGeom prst="rect">
            <a:avLst/>
          </a:prstGeom>
          <a:noFill/>
          <a:ln/>
        </p:spPr>
        <p:txBody>
          <a:bodyPr wrap="square" rtlCol="0" anchor="ctr"/>
          <a:lstStyle/>
          <a:p>
            <a:pPr marL="0" indent="0" algn="l">
              <a:buNone/>
            </a:pPr>
            <a:r>
              <a:rPr lang="en-US" sz="800" b="1" dirty="0">
                <a:solidFill>
                  <a:srgbClr val="C5973A"/>
                </a:solidFill>
                <a:latin typeface="Calibri" pitchFamily="34" charset="0"/>
                <a:ea typeface="Calibri" pitchFamily="34" charset="-122"/>
                <a:cs typeface="Calibri" pitchFamily="34" charset="-120"/>
              </a:rPr>
              <a:t>ISLAMIC RELEVANCE</a:t>
            </a:r>
            <a:endParaRPr lang="en-US" sz="800" dirty="0"/>
          </a:p>
        </p:txBody>
      </p:sp>
      <p:sp>
        <p:nvSpPr>
          <p:cNvPr id="23" name="Text 21"/>
          <p:cNvSpPr/>
          <p:nvPr/>
        </p:nvSpPr>
        <p:spPr>
          <a:xfrm>
            <a:off x="3264408" y="3063240"/>
            <a:ext cx="2606040" cy="640080"/>
          </a:xfrm>
          <a:prstGeom prst="rect">
            <a:avLst/>
          </a:prstGeom>
          <a:noFill/>
          <a:ln/>
        </p:spPr>
        <p:txBody>
          <a:bodyPr wrap="square" rtlCol="0" anchor="t"/>
          <a:lstStyle/>
          <a:p>
            <a:pPr marL="0" indent="0" algn="l">
              <a:buNone/>
            </a:pPr>
            <a:r>
              <a:rPr lang="en-US" sz="1050" dirty="0">
                <a:solidFill>
                  <a:srgbClr val="141D26"/>
                </a:solidFill>
                <a:latin typeface="Calibri" pitchFamily="34" charset="0"/>
                <a:ea typeface="Calibri" pitchFamily="34" charset="-122"/>
                <a:cs typeface="Calibri" pitchFamily="34" charset="-120"/>
              </a:rPr>
              <a:t>Only a mujtahid — accountable before Allah — can issue a valid fatwa. LLM outputs, however fluent, carry no Islamic legal authority whatsoever.</a:t>
            </a:r>
            <a:endParaRPr lang="en-US" sz="1050" dirty="0"/>
          </a:p>
        </p:txBody>
      </p:sp>
      <p:sp>
        <p:nvSpPr>
          <p:cNvPr id="24" name="Shape 22"/>
          <p:cNvSpPr/>
          <p:nvPr/>
        </p:nvSpPr>
        <p:spPr>
          <a:xfrm>
            <a:off x="6144768" y="658368"/>
            <a:ext cx="2788920" cy="3213720"/>
          </a:xfrm>
          <a:prstGeom prst="rect">
            <a:avLst/>
          </a:prstGeom>
          <a:solidFill>
            <a:srgbClr val="FFFFFF"/>
          </a:solidFill>
          <a:ln w="9525">
            <a:solidFill>
              <a:srgbClr val="DADADA"/>
            </a:solidFill>
            <a:prstDash val="solid"/>
          </a:ln>
        </p:spPr>
      </p:sp>
      <p:sp>
        <p:nvSpPr>
          <p:cNvPr id="25" name="Shape 23"/>
          <p:cNvSpPr/>
          <p:nvPr/>
        </p:nvSpPr>
        <p:spPr>
          <a:xfrm>
            <a:off x="6144768" y="658368"/>
            <a:ext cx="2788920" cy="329184"/>
          </a:xfrm>
          <a:prstGeom prst="rect">
            <a:avLst/>
          </a:prstGeom>
          <a:solidFill>
            <a:srgbClr val="4A2060"/>
          </a:solidFill>
          <a:ln w="12700">
            <a:solidFill>
              <a:srgbClr val="4A2060"/>
            </a:solidFill>
            <a:prstDash val="solid"/>
          </a:ln>
        </p:spPr>
      </p:sp>
      <p:sp>
        <p:nvSpPr>
          <p:cNvPr id="26" name="Text 24"/>
          <p:cNvSpPr/>
          <p:nvPr/>
        </p:nvSpPr>
        <p:spPr>
          <a:xfrm>
            <a:off x="6236208" y="658368"/>
            <a:ext cx="2624328" cy="329184"/>
          </a:xfrm>
          <a:prstGeom prst="rect">
            <a:avLst/>
          </a:prstGeom>
          <a:noFill/>
          <a:ln/>
        </p:spPr>
        <p:txBody>
          <a:bodyPr wrap="square"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  PAPER 3 — AI &amp; SOCIETY (CS.CY)</a:t>
            </a:r>
            <a:endParaRPr lang="en-US" sz="1050" dirty="0"/>
          </a:p>
        </p:txBody>
      </p:sp>
      <p:sp>
        <p:nvSpPr>
          <p:cNvPr id="27" name="Text 25"/>
          <p:cNvSpPr/>
          <p:nvPr/>
        </p:nvSpPr>
        <p:spPr>
          <a:xfrm>
            <a:off x="6236208" y="1024128"/>
            <a:ext cx="2624328" cy="640080"/>
          </a:xfrm>
          <a:prstGeom prst="rect">
            <a:avLst/>
          </a:prstGeom>
          <a:noFill/>
          <a:ln/>
        </p:spPr>
        <p:txBody>
          <a:bodyPr wrap="square" rtlCol="0" anchor="t"/>
          <a:lstStyle/>
          <a:p>
            <a:pPr marL="0" indent="0" algn="l">
              <a:buNone/>
            </a:pPr>
            <a:r>
              <a:rPr lang="en-US" sz="980" i="1" dirty="0">
                <a:solidFill>
                  <a:srgbClr val="141D26"/>
                </a:solidFill>
                <a:latin typeface="Calibri" pitchFamily="34" charset="0"/>
                <a:ea typeface="Calibri" pitchFamily="34" charset="-122"/>
                <a:cs typeface="Calibri" pitchFamily="34" charset="-120"/>
              </a:rPr>
              <a:t>Ahmad, M. A. (2025/2026). 'Islamic Chatbots in the Age of Large Language Models.' arXiv:2601.06092. Univ. of Washington Bothell.</a:t>
            </a:r>
            <a:endParaRPr lang="en-US" sz="980" dirty="0"/>
          </a:p>
        </p:txBody>
      </p:sp>
      <p:sp>
        <p:nvSpPr>
          <p:cNvPr id="28" name="Shape 26"/>
          <p:cNvSpPr/>
          <p:nvPr/>
        </p:nvSpPr>
        <p:spPr>
          <a:xfrm>
            <a:off x="6236208" y="1716363"/>
            <a:ext cx="2606040" cy="173736"/>
          </a:xfrm>
          <a:prstGeom prst="rect">
            <a:avLst/>
          </a:prstGeom>
          <a:solidFill>
            <a:srgbClr val="DFF0E8"/>
          </a:solidFill>
          <a:ln w="12700">
            <a:solidFill>
              <a:srgbClr val="DFF0E8"/>
            </a:solidFill>
            <a:prstDash val="solid"/>
          </a:ln>
        </p:spPr>
      </p:sp>
      <p:sp>
        <p:nvSpPr>
          <p:cNvPr id="29" name="Text 27"/>
          <p:cNvSpPr/>
          <p:nvPr/>
        </p:nvSpPr>
        <p:spPr>
          <a:xfrm>
            <a:off x="6254496" y="1727314"/>
            <a:ext cx="2569464" cy="173736"/>
          </a:xfrm>
          <a:prstGeom prst="rect">
            <a:avLst/>
          </a:prstGeom>
          <a:noFill/>
          <a:ln/>
        </p:spPr>
        <p:txBody>
          <a:bodyPr wrap="square" rtlCol="0" anchor="ctr"/>
          <a:lstStyle/>
          <a:p>
            <a:pPr marL="0" indent="0" algn="l">
              <a:buNone/>
            </a:pPr>
            <a:r>
              <a:rPr lang="en-US" sz="800" b="1" dirty="0">
                <a:solidFill>
                  <a:srgbClr val="2B6A5E"/>
                </a:solidFill>
                <a:latin typeface="Calibri" pitchFamily="34" charset="0"/>
                <a:ea typeface="Calibri" pitchFamily="34" charset="-122"/>
                <a:cs typeface="Calibri" pitchFamily="34" charset="-120"/>
              </a:rPr>
              <a:t>KEY FINDING</a:t>
            </a:r>
            <a:endParaRPr lang="en-US" sz="800" dirty="0"/>
          </a:p>
        </p:txBody>
      </p:sp>
      <p:sp>
        <p:nvSpPr>
          <p:cNvPr id="30" name="Text 28"/>
          <p:cNvSpPr/>
          <p:nvPr/>
        </p:nvSpPr>
        <p:spPr>
          <a:xfrm>
            <a:off x="6236208" y="1874520"/>
            <a:ext cx="2606040" cy="804672"/>
          </a:xfrm>
          <a:prstGeom prst="rect">
            <a:avLst/>
          </a:prstGeom>
          <a:noFill/>
          <a:ln/>
        </p:spPr>
        <p:txBody>
          <a:bodyPr wrap="square" rtlCol="0" anchor="t"/>
          <a:lstStyle/>
          <a:p>
            <a:pPr marL="0" indent="0" algn="just">
              <a:buNone/>
            </a:pPr>
            <a:r>
              <a:rPr lang="en-US" sz="1050" dirty="0">
                <a:solidFill>
                  <a:srgbClr val="141D26"/>
                </a:solidFill>
                <a:latin typeface="Calibri" pitchFamily="34" charset="0"/>
                <a:ea typeface="Calibri" pitchFamily="34" charset="-122"/>
                <a:cs typeface="Calibri" pitchFamily="34" charset="-120"/>
              </a:rPr>
              <a:t>Maps the full LLM Islamic chatbot ecosystem across 5 axes: governance, scope, authority posture, technical grounding, and sectarian encoding. Warns of ulama authority erosion.</a:t>
            </a:r>
            <a:endParaRPr lang="en-US" sz="1050" dirty="0"/>
          </a:p>
        </p:txBody>
      </p:sp>
      <p:sp>
        <p:nvSpPr>
          <p:cNvPr id="31" name="Shape 29"/>
          <p:cNvSpPr/>
          <p:nvPr/>
        </p:nvSpPr>
        <p:spPr>
          <a:xfrm>
            <a:off x="6247497" y="2810370"/>
            <a:ext cx="2606040" cy="173736"/>
          </a:xfrm>
          <a:prstGeom prst="rect">
            <a:avLst/>
          </a:prstGeom>
          <a:solidFill>
            <a:srgbClr val="FEF0CC"/>
          </a:solidFill>
          <a:ln w="12700">
            <a:solidFill>
              <a:srgbClr val="FEF0CC"/>
            </a:solidFill>
            <a:prstDash val="solid"/>
          </a:ln>
        </p:spPr>
      </p:sp>
      <p:sp>
        <p:nvSpPr>
          <p:cNvPr id="32" name="Text 30"/>
          <p:cNvSpPr/>
          <p:nvPr/>
        </p:nvSpPr>
        <p:spPr>
          <a:xfrm>
            <a:off x="6254496" y="2805626"/>
            <a:ext cx="2569464" cy="173736"/>
          </a:xfrm>
          <a:prstGeom prst="rect">
            <a:avLst/>
          </a:prstGeom>
          <a:noFill/>
          <a:ln/>
        </p:spPr>
        <p:txBody>
          <a:bodyPr wrap="square" rtlCol="0" anchor="ctr"/>
          <a:lstStyle/>
          <a:p>
            <a:pPr marL="0" indent="0" algn="l">
              <a:buNone/>
            </a:pPr>
            <a:r>
              <a:rPr lang="en-US" sz="800" b="1" dirty="0">
                <a:solidFill>
                  <a:srgbClr val="C5973A"/>
                </a:solidFill>
                <a:latin typeface="Calibri" pitchFamily="34" charset="0"/>
                <a:ea typeface="Calibri" pitchFamily="34" charset="-122"/>
                <a:cs typeface="Calibri" pitchFamily="34" charset="-120"/>
              </a:rPr>
              <a:t>ISLAMIC RELEVANCE</a:t>
            </a:r>
            <a:endParaRPr lang="en-US" sz="800" dirty="0"/>
          </a:p>
        </p:txBody>
      </p:sp>
      <p:sp>
        <p:nvSpPr>
          <p:cNvPr id="33" name="Text 31"/>
          <p:cNvSpPr/>
          <p:nvPr/>
        </p:nvSpPr>
        <p:spPr>
          <a:xfrm>
            <a:off x="6236208" y="3063240"/>
            <a:ext cx="2606040" cy="640080"/>
          </a:xfrm>
          <a:prstGeom prst="rect">
            <a:avLst/>
          </a:prstGeom>
          <a:noFill/>
          <a:ln/>
        </p:spPr>
        <p:txBody>
          <a:bodyPr wrap="square" rtlCol="0" anchor="t"/>
          <a:lstStyle/>
          <a:p>
            <a:pPr marL="0" indent="0" algn="l">
              <a:buNone/>
            </a:pPr>
            <a:r>
              <a:rPr lang="en-US" sz="1050" dirty="0">
                <a:solidFill>
                  <a:srgbClr val="141D26"/>
                </a:solidFill>
                <a:latin typeface="Calibri" pitchFamily="34" charset="0"/>
                <a:ea typeface="Calibri" pitchFamily="34" charset="-122"/>
                <a:cs typeface="Calibri" pitchFamily="34" charset="-120"/>
              </a:rPr>
              <a:t>Shows that AI fatwa systems are already live at scale — and their authority posture is inconsistent, often misleading users into treating generated text as a reliable ruling.</a:t>
            </a:r>
            <a:endParaRPr lang="en-US" sz="1050" dirty="0"/>
          </a:p>
        </p:txBody>
      </p:sp>
      <p:sp>
        <p:nvSpPr>
          <p:cNvPr id="34" name="Shape 32"/>
          <p:cNvSpPr/>
          <p:nvPr/>
        </p:nvSpPr>
        <p:spPr>
          <a:xfrm>
            <a:off x="201168" y="4039845"/>
            <a:ext cx="8732520" cy="457200"/>
          </a:xfrm>
          <a:prstGeom prst="rect">
            <a:avLst/>
          </a:prstGeom>
          <a:solidFill>
            <a:srgbClr val="0B1120"/>
          </a:solidFill>
          <a:ln w="12700">
            <a:solidFill>
              <a:srgbClr val="0B1120"/>
            </a:solidFill>
            <a:prstDash val="solid"/>
          </a:ln>
        </p:spPr>
      </p:sp>
      <p:sp>
        <p:nvSpPr>
          <p:cNvPr id="35" name="Text 33"/>
          <p:cNvSpPr/>
          <p:nvPr/>
        </p:nvSpPr>
        <p:spPr>
          <a:xfrm>
            <a:off x="347472" y="4039845"/>
            <a:ext cx="8503920" cy="457200"/>
          </a:xfrm>
          <a:prstGeom prst="rect">
            <a:avLst/>
          </a:prstGeom>
          <a:noFill/>
          <a:ln/>
        </p:spPr>
        <p:txBody>
          <a:bodyPr wrap="square" rtlCol="0" anchor="ctr"/>
          <a:lstStyle/>
          <a:p>
            <a:pPr marL="0" indent="0" algn="l">
              <a:buNone/>
            </a:pPr>
            <a:r>
              <a:rPr lang="en-US" sz="1200" i="1" dirty="0">
                <a:solidFill>
                  <a:srgbClr val="FFFFFF"/>
                </a:solidFill>
                <a:latin typeface="Calibri" pitchFamily="34" charset="0"/>
                <a:ea typeface="Calibri" pitchFamily="34" charset="-122"/>
                <a:cs typeface="Calibri" pitchFamily="34" charset="-120"/>
              </a:rPr>
              <a:t>Synthesis: All three papers converge on one finding — current LLMs are technically inadequate, theologically unqualified, and structurally dangerous when deployed as autonomous Islamic jurisprudential authorities.</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advTm="144166"/>
    </mc:Choice>
    <mc:Fallback xmlns="">
      <p:transition spd="slow" advTm="14416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120"/>
          </a:solidFill>
          <a:ln w="12700">
            <a:solidFill>
              <a:srgbClr val="0B1120"/>
            </a:solidFill>
            <a:prstDash val="solid"/>
          </a:ln>
        </p:spPr>
      </p:sp>
      <p:sp>
        <p:nvSpPr>
          <p:cNvPr id="3" name="Text 1"/>
          <p:cNvSpPr/>
          <p:nvPr/>
        </p:nvSpPr>
        <p:spPr>
          <a:xfrm>
            <a:off x="365760" y="0"/>
            <a:ext cx="8412480" cy="566928"/>
          </a:xfrm>
          <a:prstGeom prst="rect">
            <a:avLst/>
          </a:prstGeom>
          <a:noFill/>
          <a:ln/>
        </p:spPr>
        <p:txBody>
          <a:bodyPr wrap="square" rtlCol="0" anchor="ctr"/>
          <a:lstStyle/>
          <a:p>
            <a:pPr marL="0" indent="0" algn="l">
              <a:buNone/>
            </a:pPr>
            <a:r>
              <a:rPr lang="en-US" sz="2400" b="1" dirty="0">
                <a:solidFill>
                  <a:srgbClr val="FFFFFF"/>
                </a:solidFill>
                <a:latin typeface="Palatino Linotype" pitchFamily="34" charset="0"/>
                <a:ea typeface="Palatino Linotype" pitchFamily="34" charset="-122"/>
                <a:cs typeface="Palatino Linotype" pitchFamily="34" charset="-120"/>
              </a:rPr>
              <a:t>Jurisprudential Analysis &amp; Tentative Ruling</a:t>
            </a:r>
            <a:endParaRPr lang="en-US" sz="2400" dirty="0"/>
          </a:p>
        </p:txBody>
      </p:sp>
      <p:sp>
        <p:nvSpPr>
          <p:cNvPr id="4" name="Text 2"/>
          <p:cNvSpPr/>
          <p:nvPr/>
        </p:nvSpPr>
        <p:spPr>
          <a:xfrm>
            <a:off x="228600" y="685800"/>
            <a:ext cx="4160520" cy="292608"/>
          </a:xfrm>
          <a:prstGeom prst="rect">
            <a:avLst/>
          </a:prstGeom>
          <a:noFill/>
          <a:ln/>
        </p:spPr>
        <p:txBody>
          <a:bodyPr wrap="square" rtlCol="0" anchor="ctr"/>
          <a:lstStyle/>
          <a:p>
            <a:pPr marL="0" indent="0">
              <a:buNone/>
            </a:pPr>
            <a:r>
              <a:rPr lang="en-US" sz="1200" b="1" dirty="0">
                <a:solidFill>
                  <a:srgbClr val="0B1120"/>
                </a:solidFill>
                <a:latin typeface="Calibri" pitchFamily="34" charset="0"/>
                <a:ea typeface="Calibri" pitchFamily="34" charset="-122"/>
                <a:cs typeface="Calibri" pitchFamily="34" charset="-120"/>
              </a:rPr>
              <a:t>CORE LEGAL PRINCIPLES AT STAKE</a:t>
            </a:r>
            <a:endParaRPr lang="en-US" sz="1200" dirty="0"/>
          </a:p>
        </p:txBody>
      </p:sp>
      <p:sp>
        <p:nvSpPr>
          <p:cNvPr id="5" name="Shape 3"/>
          <p:cNvSpPr/>
          <p:nvPr/>
        </p:nvSpPr>
        <p:spPr>
          <a:xfrm>
            <a:off x="228600" y="1024127"/>
            <a:ext cx="4160520" cy="1232467"/>
          </a:xfrm>
          <a:prstGeom prst="rect">
            <a:avLst/>
          </a:prstGeom>
          <a:solidFill>
            <a:srgbClr val="FFFFFF"/>
          </a:solidFill>
          <a:ln w="12700">
            <a:solidFill>
              <a:srgbClr val="C8550A"/>
            </a:solidFill>
            <a:prstDash val="solid"/>
          </a:ln>
        </p:spPr>
      </p:sp>
      <p:sp>
        <p:nvSpPr>
          <p:cNvPr id="6" name="Shape 4"/>
          <p:cNvSpPr/>
          <p:nvPr/>
        </p:nvSpPr>
        <p:spPr>
          <a:xfrm>
            <a:off x="228600" y="1024128"/>
            <a:ext cx="73152" cy="914400"/>
          </a:xfrm>
          <a:prstGeom prst="rect">
            <a:avLst/>
          </a:prstGeom>
          <a:solidFill>
            <a:srgbClr val="C8550A"/>
          </a:solidFill>
          <a:ln w="12700">
            <a:solidFill>
              <a:srgbClr val="C8550A"/>
            </a:solidFill>
            <a:prstDash val="solid"/>
          </a:ln>
        </p:spPr>
      </p:sp>
      <p:sp>
        <p:nvSpPr>
          <p:cNvPr id="7" name="Text 5"/>
          <p:cNvSpPr/>
          <p:nvPr/>
        </p:nvSpPr>
        <p:spPr>
          <a:xfrm>
            <a:off x="365760" y="1078992"/>
            <a:ext cx="3931920" cy="256032"/>
          </a:xfrm>
          <a:prstGeom prst="rect">
            <a:avLst/>
          </a:prstGeom>
          <a:noFill/>
          <a:ln/>
        </p:spPr>
        <p:txBody>
          <a:bodyPr wrap="square" rtlCol="0" anchor="ctr"/>
          <a:lstStyle/>
          <a:p>
            <a:pPr marL="0" indent="0">
              <a:buNone/>
            </a:pPr>
            <a:r>
              <a:rPr lang="en-US" sz="1200" b="1" dirty="0">
                <a:solidFill>
                  <a:srgbClr val="0B1120"/>
                </a:solidFill>
                <a:latin typeface="Palatino Linotype" pitchFamily="34" charset="0"/>
                <a:ea typeface="Palatino Linotype" pitchFamily="34" charset="-122"/>
                <a:cs typeface="Palatino Linotype" pitchFamily="34" charset="-120"/>
              </a:rPr>
              <a:t>Taqwa &amp; Moral Accountability</a:t>
            </a:r>
            <a:endParaRPr lang="en-US" sz="1200" dirty="0"/>
          </a:p>
        </p:txBody>
      </p:sp>
      <p:sp>
        <p:nvSpPr>
          <p:cNvPr id="8" name="Text 6"/>
          <p:cNvSpPr/>
          <p:nvPr/>
        </p:nvSpPr>
        <p:spPr>
          <a:xfrm>
            <a:off x="365760" y="1325880"/>
            <a:ext cx="3931920" cy="566928"/>
          </a:xfrm>
          <a:prstGeom prst="rect">
            <a:avLst/>
          </a:prstGeom>
          <a:noFill/>
          <a:ln/>
        </p:spPr>
        <p:txBody>
          <a:bodyPr wrap="square" rtlCol="0" anchor="t"/>
          <a:lstStyle/>
          <a:p>
            <a:pPr marL="0" indent="0" algn="l">
              <a:buNone/>
            </a:pPr>
            <a:r>
              <a:rPr lang="en-US" sz="1050" dirty="0">
                <a:solidFill>
                  <a:srgbClr val="141D26"/>
                </a:solidFill>
                <a:latin typeface="Calibri" pitchFamily="34" charset="0"/>
                <a:ea typeface="Calibri" pitchFamily="34" charset="-122"/>
                <a:cs typeface="Calibri" pitchFamily="34" charset="-120"/>
              </a:rPr>
              <a:t>The mujtahid must have sincere God-consciousness (taqwa) as a legal prerequisite for issuing rulings. An AI has no soul, cannot be held accountable before Allah, and cannot carry the moral weight of a fatwa. Egypt's Dar al-Ifta warns AI cannot distinguish true from false religious content.</a:t>
            </a:r>
            <a:endParaRPr lang="en-US" sz="1050" dirty="0"/>
          </a:p>
        </p:txBody>
      </p:sp>
      <p:sp>
        <p:nvSpPr>
          <p:cNvPr id="9" name="Shape 7"/>
          <p:cNvSpPr/>
          <p:nvPr/>
        </p:nvSpPr>
        <p:spPr>
          <a:xfrm>
            <a:off x="228600" y="2436371"/>
            <a:ext cx="4160520" cy="1094177"/>
          </a:xfrm>
          <a:prstGeom prst="rect">
            <a:avLst/>
          </a:prstGeom>
          <a:solidFill>
            <a:srgbClr val="FFFFFF"/>
          </a:solidFill>
          <a:ln w="12700">
            <a:solidFill>
              <a:srgbClr val="2B6A5E"/>
            </a:solidFill>
            <a:prstDash val="solid"/>
          </a:ln>
        </p:spPr>
      </p:sp>
      <p:sp>
        <p:nvSpPr>
          <p:cNvPr id="10" name="Shape 8"/>
          <p:cNvSpPr/>
          <p:nvPr/>
        </p:nvSpPr>
        <p:spPr>
          <a:xfrm>
            <a:off x="228600" y="2436372"/>
            <a:ext cx="73152" cy="914400"/>
          </a:xfrm>
          <a:prstGeom prst="rect">
            <a:avLst/>
          </a:prstGeom>
          <a:solidFill>
            <a:srgbClr val="2B6A5E"/>
          </a:solidFill>
          <a:ln w="12700">
            <a:solidFill>
              <a:srgbClr val="2B6A5E"/>
            </a:solidFill>
            <a:prstDash val="solid"/>
          </a:ln>
        </p:spPr>
      </p:sp>
      <p:sp>
        <p:nvSpPr>
          <p:cNvPr id="11" name="Text 9"/>
          <p:cNvSpPr/>
          <p:nvPr/>
        </p:nvSpPr>
        <p:spPr>
          <a:xfrm>
            <a:off x="365760" y="2423502"/>
            <a:ext cx="3931920" cy="256032"/>
          </a:xfrm>
          <a:prstGeom prst="rect">
            <a:avLst/>
          </a:prstGeom>
          <a:noFill/>
          <a:ln/>
        </p:spPr>
        <p:txBody>
          <a:bodyPr wrap="square" rtlCol="0" anchor="ctr"/>
          <a:lstStyle/>
          <a:p>
            <a:pPr marL="0" indent="0">
              <a:buNone/>
            </a:pPr>
            <a:r>
              <a:rPr lang="en-US" sz="1200" b="1" dirty="0">
                <a:solidFill>
                  <a:srgbClr val="0B1120"/>
                </a:solidFill>
                <a:latin typeface="Palatino Linotype" pitchFamily="34" charset="0"/>
                <a:ea typeface="Palatino Linotype" pitchFamily="34" charset="-122"/>
                <a:cs typeface="Palatino Linotype" pitchFamily="34" charset="-120"/>
              </a:rPr>
              <a:t>Sanad al-ʿIlm (Chain of Knowledge)</a:t>
            </a:r>
            <a:endParaRPr lang="en-US" sz="1200" dirty="0"/>
          </a:p>
        </p:txBody>
      </p:sp>
      <p:sp>
        <p:nvSpPr>
          <p:cNvPr id="12" name="Text 10"/>
          <p:cNvSpPr/>
          <p:nvPr/>
        </p:nvSpPr>
        <p:spPr>
          <a:xfrm>
            <a:off x="365760" y="2670390"/>
            <a:ext cx="3931920" cy="566928"/>
          </a:xfrm>
          <a:prstGeom prst="rect">
            <a:avLst/>
          </a:prstGeom>
          <a:noFill/>
          <a:ln/>
        </p:spPr>
        <p:txBody>
          <a:bodyPr wrap="square" rtlCol="0" anchor="t"/>
          <a:lstStyle/>
          <a:p>
            <a:pPr marL="0" indent="0" algn="l">
              <a:buNone/>
            </a:pPr>
            <a:r>
              <a:rPr lang="en-US" sz="1050" dirty="0">
                <a:solidFill>
                  <a:srgbClr val="141D26"/>
                </a:solidFill>
                <a:latin typeface="Calibri" pitchFamily="34" charset="0"/>
                <a:ea typeface="Calibri" pitchFamily="34" charset="-122"/>
                <a:cs typeface="Calibri" pitchFamily="34" charset="-120"/>
              </a:rPr>
              <a:t>A scholar's rulings derive authority from their chain of teachers, traceable to the Companions and the Prophet ﷺ. LLMs have no sanad — only training datasets of unknown provenance, possibly including incorrect or deviant opinions averaged together.</a:t>
            </a:r>
            <a:endParaRPr lang="en-US" sz="1050" dirty="0"/>
          </a:p>
        </p:txBody>
      </p:sp>
      <p:sp>
        <p:nvSpPr>
          <p:cNvPr id="13" name="Shape 11"/>
          <p:cNvSpPr/>
          <p:nvPr/>
        </p:nvSpPr>
        <p:spPr>
          <a:xfrm>
            <a:off x="228600" y="3611546"/>
            <a:ext cx="4160520" cy="1028700"/>
          </a:xfrm>
          <a:prstGeom prst="rect">
            <a:avLst/>
          </a:prstGeom>
          <a:solidFill>
            <a:srgbClr val="FFFFFF"/>
          </a:solidFill>
          <a:ln w="12700">
            <a:solidFill>
              <a:srgbClr val="2B4A8A"/>
            </a:solidFill>
            <a:prstDash val="solid"/>
          </a:ln>
        </p:spPr>
      </p:sp>
      <p:sp>
        <p:nvSpPr>
          <p:cNvPr id="14" name="Shape 12"/>
          <p:cNvSpPr/>
          <p:nvPr/>
        </p:nvSpPr>
        <p:spPr>
          <a:xfrm>
            <a:off x="228600" y="3611546"/>
            <a:ext cx="73152" cy="914400"/>
          </a:xfrm>
          <a:prstGeom prst="rect">
            <a:avLst/>
          </a:prstGeom>
          <a:solidFill>
            <a:srgbClr val="2B4A8A"/>
          </a:solidFill>
          <a:ln w="12700">
            <a:solidFill>
              <a:srgbClr val="2B4A8A"/>
            </a:solidFill>
            <a:prstDash val="solid"/>
          </a:ln>
        </p:spPr>
      </p:sp>
      <p:sp>
        <p:nvSpPr>
          <p:cNvPr id="15" name="Text 13"/>
          <p:cNvSpPr/>
          <p:nvPr/>
        </p:nvSpPr>
        <p:spPr>
          <a:xfrm>
            <a:off x="365760" y="3666410"/>
            <a:ext cx="3931920" cy="256032"/>
          </a:xfrm>
          <a:prstGeom prst="rect">
            <a:avLst/>
          </a:prstGeom>
          <a:noFill/>
          <a:ln/>
        </p:spPr>
        <p:txBody>
          <a:bodyPr wrap="square" rtlCol="0" anchor="ctr"/>
          <a:lstStyle/>
          <a:p>
            <a:pPr marL="0" indent="0">
              <a:buNone/>
            </a:pPr>
            <a:r>
              <a:rPr lang="en-US" sz="1200" b="1" dirty="0">
                <a:solidFill>
                  <a:srgbClr val="0B1120"/>
                </a:solidFill>
                <a:latin typeface="Palatino Linotype" pitchFamily="34" charset="0"/>
                <a:ea typeface="Palatino Linotype" pitchFamily="34" charset="-122"/>
                <a:cs typeface="Palatino Linotype" pitchFamily="34" charset="-120"/>
              </a:rPr>
              <a:t>Maslaha &amp; Darura (Public Interest)</a:t>
            </a:r>
            <a:endParaRPr lang="en-US" sz="1200" dirty="0"/>
          </a:p>
        </p:txBody>
      </p:sp>
      <p:sp>
        <p:nvSpPr>
          <p:cNvPr id="16" name="Text 14"/>
          <p:cNvSpPr/>
          <p:nvPr/>
        </p:nvSpPr>
        <p:spPr>
          <a:xfrm>
            <a:off x="365760" y="3913298"/>
            <a:ext cx="3931920" cy="566928"/>
          </a:xfrm>
          <a:prstGeom prst="rect">
            <a:avLst/>
          </a:prstGeom>
          <a:noFill/>
          <a:ln/>
        </p:spPr>
        <p:txBody>
          <a:bodyPr wrap="square" rtlCol="0" anchor="t"/>
          <a:lstStyle/>
          <a:p>
            <a:pPr marL="0" indent="0" algn="l">
              <a:buNone/>
            </a:pPr>
            <a:r>
              <a:rPr lang="en-US" sz="1050" dirty="0">
                <a:solidFill>
                  <a:srgbClr val="141D26"/>
                </a:solidFill>
                <a:latin typeface="Calibri" pitchFamily="34" charset="0"/>
                <a:ea typeface="Calibri" pitchFamily="34" charset="-122"/>
                <a:cs typeface="Calibri" pitchFamily="34" charset="-120"/>
              </a:rPr>
              <a:t>The principle of maslaha permits novel tools where genuine benefit exists. AI assisting scholars — searching hadith databases, flagging scholarly disagreements — may be conditionally permitted as a tool under supervision, never as an authority.</a:t>
            </a:r>
            <a:endParaRPr lang="en-US" sz="1050" dirty="0"/>
          </a:p>
        </p:txBody>
      </p:sp>
      <p:sp>
        <p:nvSpPr>
          <p:cNvPr id="17" name="Shape 15"/>
          <p:cNvSpPr/>
          <p:nvPr/>
        </p:nvSpPr>
        <p:spPr>
          <a:xfrm>
            <a:off x="4663440" y="685800"/>
            <a:ext cx="4251960" cy="4160520"/>
          </a:xfrm>
          <a:prstGeom prst="rect">
            <a:avLst/>
          </a:prstGeom>
          <a:solidFill>
            <a:srgbClr val="FFFFFF"/>
          </a:solidFill>
          <a:ln w="12700">
            <a:solidFill>
              <a:srgbClr val="D0D0D0"/>
            </a:solidFill>
            <a:prstDash val="solid"/>
          </a:ln>
        </p:spPr>
      </p:sp>
      <p:sp>
        <p:nvSpPr>
          <p:cNvPr id="18" name="Shape 16"/>
          <p:cNvSpPr/>
          <p:nvPr/>
        </p:nvSpPr>
        <p:spPr>
          <a:xfrm>
            <a:off x="4663440" y="685800"/>
            <a:ext cx="4251960" cy="365760"/>
          </a:xfrm>
          <a:prstGeom prst="rect">
            <a:avLst/>
          </a:prstGeom>
          <a:solidFill>
            <a:srgbClr val="2B6A5E"/>
          </a:solidFill>
          <a:ln w="12700">
            <a:solidFill>
              <a:srgbClr val="2B6A5E"/>
            </a:solidFill>
            <a:prstDash val="solid"/>
          </a:ln>
        </p:spPr>
      </p:sp>
      <p:sp>
        <p:nvSpPr>
          <p:cNvPr id="19" name="Text 17"/>
          <p:cNvSpPr/>
          <p:nvPr/>
        </p:nvSpPr>
        <p:spPr>
          <a:xfrm>
            <a:off x="4773168" y="685800"/>
            <a:ext cx="4041648" cy="36576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CONDITIONALLY PERMITTED USES</a:t>
            </a:r>
            <a:endParaRPr lang="en-US" sz="1100" dirty="0"/>
          </a:p>
        </p:txBody>
      </p:sp>
      <p:sp>
        <p:nvSpPr>
          <p:cNvPr id="20" name="Text 18"/>
          <p:cNvSpPr/>
          <p:nvPr/>
        </p:nvSpPr>
        <p:spPr>
          <a:xfrm>
            <a:off x="4773168" y="1097280"/>
            <a:ext cx="4041648" cy="1143000"/>
          </a:xfrm>
          <a:prstGeom prst="rect">
            <a:avLst/>
          </a:prstGeom>
          <a:noFill/>
          <a:ln/>
        </p:spPr>
        <p:txBody>
          <a:bodyPr wrap="square" rtlCol="0" anchor="t"/>
          <a:lstStyle/>
          <a:p>
            <a:pPr marL="0" indent="0" algn="l">
              <a:buNone/>
            </a:pPr>
            <a:r>
              <a:rPr lang="en-US" sz="1150" b="1" dirty="0">
                <a:solidFill>
                  <a:srgbClr val="1B5E20"/>
                </a:solidFill>
                <a:latin typeface="Calibri" pitchFamily="34" charset="0"/>
                <a:ea typeface="Calibri" pitchFamily="34" charset="-122"/>
                <a:cs typeface="Calibri" pitchFamily="34" charset="-120"/>
              </a:rPr>
              <a:t>✓  </a:t>
            </a:r>
            <a:r>
              <a:rPr lang="en-US" sz="1150" dirty="0">
                <a:solidFill>
                  <a:srgbClr val="141D26"/>
                </a:solidFill>
                <a:latin typeface="Calibri" pitchFamily="34" charset="0"/>
                <a:ea typeface="Calibri" pitchFamily="34" charset="-122"/>
                <a:cs typeface="Calibri" pitchFamily="34" charset="-120"/>
              </a:rPr>
              <a:t>AI as a research assistant for qualified scholars
</a:t>
            </a:r>
            <a:r>
              <a:rPr lang="en-US" sz="1150" b="1" dirty="0">
                <a:solidFill>
                  <a:srgbClr val="1B5E20"/>
                </a:solidFill>
                <a:latin typeface="Calibri" pitchFamily="34" charset="0"/>
                <a:ea typeface="Calibri" pitchFamily="34" charset="-122"/>
                <a:cs typeface="Calibri" pitchFamily="34" charset="-120"/>
              </a:rPr>
              <a:t>✓  </a:t>
            </a:r>
            <a:r>
              <a:rPr lang="en-US" sz="1150" dirty="0">
                <a:solidFill>
                  <a:srgbClr val="141D26"/>
                </a:solidFill>
                <a:latin typeface="Calibri" pitchFamily="34" charset="0"/>
                <a:ea typeface="Calibri" pitchFamily="34" charset="-122"/>
                <a:cs typeface="Calibri" pitchFamily="34" charset="-120"/>
              </a:rPr>
              <a:t>Hadith retrieval and cross-referencing tools
</a:t>
            </a:r>
            <a:r>
              <a:rPr lang="en-US" sz="1150" b="1" dirty="0">
                <a:solidFill>
                  <a:srgbClr val="1B5E20"/>
                </a:solidFill>
                <a:latin typeface="Calibri" pitchFamily="34" charset="0"/>
                <a:ea typeface="Calibri" pitchFamily="34" charset="-122"/>
                <a:cs typeface="Calibri" pitchFamily="34" charset="-120"/>
              </a:rPr>
              <a:t>✓  </a:t>
            </a:r>
            <a:r>
              <a:rPr lang="en-US" sz="1150" dirty="0">
                <a:solidFill>
                  <a:srgbClr val="141D26"/>
                </a:solidFill>
                <a:latin typeface="Calibri" pitchFamily="34" charset="0"/>
                <a:ea typeface="Calibri" pitchFamily="34" charset="-122"/>
                <a:cs typeface="Calibri" pitchFamily="34" charset="-120"/>
              </a:rPr>
              <a:t>LLMs flagging scholarly disagreement (khilaf)
</a:t>
            </a:r>
            <a:r>
              <a:rPr lang="en-US" sz="1150" b="1" dirty="0">
                <a:solidFill>
                  <a:srgbClr val="1B5E20"/>
                </a:solidFill>
                <a:latin typeface="Calibri" pitchFamily="34" charset="0"/>
                <a:ea typeface="Calibri" pitchFamily="34" charset="-122"/>
                <a:cs typeface="Calibri" pitchFamily="34" charset="-120"/>
              </a:rPr>
              <a:t>✓  </a:t>
            </a:r>
            <a:r>
              <a:rPr lang="en-US" sz="1150" dirty="0">
                <a:solidFill>
                  <a:srgbClr val="141D26"/>
                </a:solidFill>
                <a:latin typeface="Calibri" pitchFamily="34" charset="0"/>
                <a:ea typeface="Calibri" pitchFamily="34" charset="-122"/>
                <a:cs typeface="Calibri" pitchFamily="34" charset="-120"/>
              </a:rPr>
              <a:t>Educating laypeople with mandatory: 'consult a scholar'</a:t>
            </a:r>
            <a:endParaRPr lang="en-US" sz="1150" dirty="0"/>
          </a:p>
        </p:txBody>
      </p:sp>
      <p:sp>
        <p:nvSpPr>
          <p:cNvPr id="21" name="Shape 19"/>
          <p:cNvSpPr/>
          <p:nvPr/>
        </p:nvSpPr>
        <p:spPr>
          <a:xfrm>
            <a:off x="4663440" y="2331720"/>
            <a:ext cx="4251960" cy="365760"/>
          </a:xfrm>
          <a:prstGeom prst="rect">
            <a:avLst/>
          </a:prstGeom>
          <a:solidFill>
            <a:srgbClr val="8B1220"/>
          </a:solidFill>
          <a:ln w="12700">
            <a:solidFill>
              <a:srgbClr val="8B1220"/>
            </a:solidFill>
            <a:prstDash val="solid"/>
          </a:ln>
        </p:spPr>
      </p:sp>
      <p:sp>
        <p:nvSpPr>
          <p:cNvPr id="22" name="Text 20"/>
          <p:cNvSpPr/>
          <p:nvPr/>
        </p:nvSpPr>
        <p:spPr>
          <a:xfrm>
            <a:off x="4773168" y="2331720"/>
            <a:ext cx="4041648" cy="36576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PROHIBITED USES</a:t>
            </a:r>
            <a:endParaRPr lang="en-US" sz="1100" dirty="0"/>
          </a:p>
        </p:txBody>
      </p:sp>
      <p:sp>
        <p:nvSpPr>
          <p:cNvPr id="23" name="Text 21"/>
          <p:cNvSpPr/>
          <p:nvPr/>
        </p:nvSpPr>
        <p:spPr>
          <a:xfrm>
            <a:off x="4773168" y="2743200"/>
            <a:ext cx="4041648" cy="1024128"/>
          </a:xfrm>
          <a:prstGeom prst="rect">
            <a:avLst/>
          </a:prstGeom>
          <a:noFill/>
          <a:ln/>
        </p:spPr>
        <p:txBody>
          <a:bodyPr wrap="square" rtlCol="0" anchor="t"/>
          <a:lstStyle/>
          <a:p>
            <a:pPr marL="0" indent="0" algn="l">
              <a:buNone/>
            </a:pPr>
            <a:r>
              <a:rPr lang="en-US" sz="1150" b="1" dirty="0">
                <a:solidFill>
                  <a:srgbClr val="8B1220"/>
                </a:solidFill>
                <a:latin typeface="Calibri" pitchFamily="34" charset="0"/>
                <a:ea typeface="Calibri" pitchFamily="34" charset="-122"/>
                <a:cs typeface="Calibri" pitchFamily="34" charset="-120"/>
              </a:rPr>
              <a:t>✗  </a:t>
            </a:r>
            <a:r>
              <a:rPr lang="en-US" sz="1150" dirty="0">
                <a:solidFill>
                  <a:srgbClr val="141D26"/>
                </a:solidFill>
                <a:latin typeface="Calibri" pitchFamily="34" charset="0"/>
                <a:ea typeface="Calibri" pitchFamily="34" charset="-122"/>
                <a:cs typeface="Calibri" pitchFamily="34" charset="-120"/>
              </a:rPr>
              <a:t>Issuing fatwas directly to lay Muslims without scholar review
</a:t>
            </a:r>
            <a:r>
              <a:rPr lang="en-US" sz="1150" b="1" dirty="0">
                <a:solidFill>
                  <a:srgbClr val="8B1220"/>
                </a:solidFill>
                <a:latin typeface="Calibri" pitchFamily="34" charset="0"/>
                <a:ea typeface="Calibri" pitchFamily="34" charset="-122"/>
                <a:cs typeface="Calibri" pitchFamily="34" charset="-120"/>
              </a:rPr>
              <a:t>✗  </a:t>
            </a:r>
            <a:r>
              <a:rPr lang="en-US" sz="1150" dirty="0">
                <a:solidFill>
                  <a:srgbClr val="141D26"/>
                </a:solidFill>
                <a:latin typeface="Calibri" pitchFamily="34" charset="0"/>
                <a:ea typeface="Calibri" pitchFamily="34" charset="-122"/>
                <a:cs typeface="Calibri" pitchFamily="34" charset="-120"/>
              </a:rPr>
              <a:t>Performing ijtihad on novel questions (masa'il mustajadda)
</a:t>
            </a:r>
            <a:r>
              <a:rPr lang="en-US" sz="1150" b="1" dirty="0">
                <a:solidFill>
                  <a:srgbClr val="8B1220"/>
                </a:solidFill>
                <a:latin typeface="Calibri" pitchFamily="34" charset="0"/>
                <a:ea typeface="Calibri" pitchFamily="34" charset="-122"/>
                <a:cs typeface="Calibri" pitchFamily="34" charset="-120"/>
              </a:rPr>
              <a:t>✗  </a:t>
            </a:r>
            <a:r>
              <a:rPr lang="en-US" sz="1150" dirty="0">
                <a:solidFill>
                  <a:srgbClr val="141D26"/>
                </a:solidFill>
                <a:latin typeface="Calibri" pitchFamily="34" charset="0"/>
                <a:ea typeface="Calibri" pitchFamily="34" charset="-122"/>
                <a:cs typeface="Calibri" pitchFamily="34" charset="-120"/>
              </a:rPr>
              <a:t>Replacing the human mujtahid's chain of authority
</a:t>
            </a:r>
            <a:r>
              <a:rPr lang="en-US" sz="1150" b="1" dirty="0">
                <a:solidFill>
                  <a:srgbClr val="8B1220"/>
                </a:solidFill>
                <a:latin typeface="Calibri" pitchFamily="34" charset="0"/>
                <a:ea typeface="Calibri" pitchFamily="34" charset="-122"/>
                <a:cs typeface="Calibri" pitchFamily="34" charset="-120"/>
              </a:rPr>
              <a:t>✗  </a:t>
            </a:r>
            <a:r>
              <a:rPr lang="en-US" sz="1150" dirty="0">
                <a:solidFill>
                  <a:srgbClr val="141D26"/>
                </a:solidFill>
                <a:latin typeface="Calibri" pitchFamily="34" charset="0"/>
                <a:ea typeface="Calibri" pitchFamily="34" charset="-122"/>
                <a:cs typeface="Calibri" pitchFamily="34" charset="-120"/>
              </a:rPr>
              <a:t>Presenting LLM output as equivalent to ulama consensus</a:t>
            </a:r>
            <a:endParaRPr lang="en-US" sz="1150" dirty="0"/>
          </a:p>
        </p:txBody>
      </p:sp>
      <p:sp>
        <p:nvSpPr>
          <p:cNvPr id="24" name="Shape 22"/>
          <p:cNvSpPr/>
          <p:nvPr/>
        </p:nvSpPr>
        <p:spPr>
          <a:xfrm>
            <a:off x="4663440" y="3831336"/>
            <a:ext cx="4251960" cy="1133856"/>
          </a:xfrm>
          <a:prstGeom prst="rect">
            <a:avLst/>
          </a:prstGeom>
          <a:solidFill>
            <a:srgbClr val="0B1120"/>
          </a:solidFill>
          <a:ln w="12700">
            <a:solidFill>
              <a:srgbClr val="0B1120"/>
            </a:solidFill>
            <a:prstDash val="solid"/>
          </a:ln>
        </p:spPr>
      </p:sp>
      <p:sp>
        <p:nvSpPr>
          <p:cNvPr id="25" name="Text 23"/>
          <p:cNvSpPr/>
          <p:nvPr/>
        </p:nvSpPr>
        <p:spPr>
          <a:xfrm>
            <a:off x="4773168" y="3877056"/>
            <a:ext cx="4041648" cy="274320"/>
          </a:xfrm>
          <a:prstGeom prst="rect">
            <a:avLst/>
          </a:prstGeom>
          <a:noFill/>
          <a:ln/>
        </p:spPr>
        <p:txBody>
          <a:bodyPr wrap="square" rtlCol="0" anchor="ctr"/>
          <a:lstStyle/>
          <a:p>
            <a:pPr marL="0" indent="0" algn="l">
              <a:buNone/>
            </a:pPr>
            <a:r>
              <a:rPr lang="en-US" sz="1200" b="1" dirty="0">
                <a:solidFill>
                  <a:srgbClr val="C5973A"/>
                </a:solidFill>
                <a:latin typeface="Palatino Linotype" pitchFamily="34" charset="0"/>
                <a:ea typeface="Palatino Linotype" pitchFamily="34" charset="-122"/>
                <a:cs typeface="Palatino Linotype" pitchFamily="34" charset="-120"/>
              </a:rPr>
              <a:t>TENTATIVE RULING</a:t>
            </a:r>
            <a:endParaRPr lang="en-US" sz="1200" dirty="0"/>
          </a:p>
        </p:txBody>
      </p:sp>
      <p:sp>
        <p:nvSpPr>
          <p:cNvPr id="26" name="Text 24"/>
          <p:cNvSpPr/>
          <p:nvPr/>
        </p:nvSpPr>
        <p:spPr>
          <a:xfrm>
            <a:off x="4773168" y="4160520"/>
            <a:ext cx="4041648" cy="676656"/>
          </a:xfrm>
          <a:prstGeom prst="rect">
            <a:avLst/>
          </a:prstGeom>
          <a:noFill/>
          <a:ln/>
        </p:spPr>
        <p:txBody>
          <a:bodyPr wrap="square"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Haram as an autonomous mufti; conditionally mubah as a scholarly research tool. This mirrors rulings issued by Nahdatul Ulama (Indonesia) and the Egyptian Dar al-Ifta, both of whom prohibit chatbots from issuing fatwas independently.</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advTm="196002"/>
    </mc:Choice>
    <mc:Fallback xmlns="">
      <p:transition spd="slow" advTm="19600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B6A5E"/>
          </a:solidFill>
          <a:ln w="12700">
            <a:solidFill>
              <a:srgbClr val="2B6A5E"/>
            </a:solidFill>
            <a:prstDash val="solid"/>
          </a:ln>
        </p:spPr>
      </p:sp>
      <p:sp>
        <p:nvSpPr>
          <p:cNvPr id="3" name="Shape 1"/>
          <p:cNvSpPr/>
          <p:nvPr/>
        </p:nvSpPr>
        <p:spPr>
          <a:xfrm>
            <a:off x="8997696" y="0"/>
            <a:ext cx="146304" cy="5143500"/>
          </a:xfrm>
          <a:prstGeom prst="rect">
            <a:avLst/>
          </a:prstGeom>
          <a:solidFill>
            <a:srgbClr val="C8550A"/>
          </a:solidFill>
          <a:ln w="12700">
            <a:solidFill>
              <a:srgbClr val="C8550A"/>
            </a:solidFill>
            <a:prstDash val="solid"/>
          </a:ln>
        </p:spPr>
      </p:sp>
      <p:sp>
        <p:nvSpPr>
          <p:cNvPr id="4" name="Text 2"/>
          <p:cNvSpPr/>
          <p:nvPr/>
        </p:nvSpPr>
        <p:spPr>
          <a:xfrm>
            <a:off x="502920" y="164592"/>
            <a:ext cx="8321040" cy="621792"/>
          </a:xfrm>
          <a:prstGeom prst="rect">
            <a:avLst/>
          </a:prstGeom>
          <a:noFill/>
          <a:ln/>
        </p:spPr>
        <p:txBody>
          <a:bodyPr wrap="square" rtlCol="0" anchor="ctr"/>
          <a:lstStyle/>
          <a:p>
            <a:pPr marL="0" indent="0" algn="l">
              <a:buNone/>
            </a:pPr>
            <a:r>
              <a:rPr lang="en-US" sz="3000" b="1" dirty="0">
                <a:solidFill>
                  <a:srgbClr val="FFFFFF"/>
                </a:solidFill>
                <a:latin typeface="Palatino Linotype" pitchFamily="34" charset="0"/>
                <a:ea typeface="Palatino Linotype" pitchFamily="34" charset="-122"/>
                <a:cs typeface="Palatino Linotype" pitchFamily="34" charset="-120"/>
              </a:rPr>
              <a:t>Conclusion &amp; Critical Takeaways</a:t>
            </a:r>
            <a:endParaRPr lang="en-US" sz="3000" dirty="0"/>
          </a:p>
        </p:txBody>
      </p:sp>
      <p:sp>
        <p:nvSpPr>
          <p:cNvPr id="5" name="Shape 3"/>
          <p:cNvSpPr/>
          <p:nvPr/>
        </p:nvSpPr>
        <p:spPr>
          <a:xfrm>
            <a:off x="502920" y="822960"/>
            <a:ext cx="8321040" cy="27432"/>
          </a:xfrm>
          <a:prstGeom prst="rect">
            <a:avLst/>
          </a:prstGeom>
          <a:solidFill>
            <a:srgbClr val="C8550A"/>
          </a:solidFill>
          <a:ln w="12700">
            <a:solidFill>
              <a:srgbClr val="C8550A"/>
            </a:solidFill>
            <a:prstDash val="solid"/>
          </a:ln>
        </p:spPr>
      </p:sp>
      <p:sp>
        <p:nvSpPr>
          <p:cNvPr id="6" name="Shape 4"/>
          <p:cNvSpPr/>
          <p:nvPr/>
        </p:nvSpPr>
        <p:spPr>
          <a:xfrm>
            <a:off x="502920" y="950976"/>
            <a:ext cx="8321040" cy="841248"/>
          </a:xfrm>
          <a:prstGeom prst="rect">
            <a:avLst/>
          </a:prstGeom>
          <a:solidFill>
            <a:srgbClr val="0E1A28"/>
          </a:solidFill>
          <a:ln w="12700">
            <a:solidFill>
              <a:srgbClr val="C8550A"/>
            </a:solidFill>
            <a:prstDash val="solid"/>
          </a:ln>
        </p:spPr>
      </p:sp>
      <p:sp>
        <p:nvSpPr>
          <p:cNvPr id="7" name="Text 5"/>
          <p:cNvSpPr/>
          <p:nvPr/>
        </p:nvSpPr>
        <p:spPr>
          <a:xfrm>
            <a:off x="658368" y="987552"/>
            <a:ext cx="1188720" cy="256032"/>
          </a:xfrm>
          <a:prstGeom prst="rect">
            <a:avLst/>
          </a:prstGeom>
          <a:noFill/>
          <a:ln/>
        </p:spPr>
        <p:txBody>
          <a:bodyPr wrap="square" rtlCol="0" anchor="ctr"/>
          <a:lstStyle/>
          <a:p>
            <a:pPr marL="0" indent="0">
              <a:buNone/>
            </a:pPr>
            <a:r>
              <a:rPr lang="en-US" sz="1100" b="1" dirty="0">
                <a:solidFill>
                  <a:srgbClr val="C8550A"/>
                </a:solidFill>
                <a:latin typeface="Calibri" pitchFamily="34" charset="0"/>
                <a:ea typeface="Calibri" pitchFamily="34" charset="-122"/>
                <a:cs typeface="Calibri" pitchFamily="34" charset="-120"/>
              </a:rPr>
              <a:t>POSITION</a:t>
            </a:r>
            <a:endParaRPr lang="en-US" sz="1100" dirty="0"/>
          </a:p>
        </p:txBody>
      </p:sp>
      <p:sp>
        <p:nvSpPr>
          <p:cNvPr id="8" name="Text 6"/>
          <p:cNvSpPr/>
          <p:nvPr/>
        </p:nvSpPr>
        <p:spPr>
          <a:xfrm>
            <a:off x="658368" y="1133856"/>
            <a:ext cx="8046720" cy="512064"/>
          </a:xfrm>
          <a:prstGeom prst="rect">
            <a:avLst/>
          </a:prstGeom>
          <a:noFill/>
          <a:ln/>
        </p:spPr>
        <p:txBody>
          <a:bodyPr wrap="square"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LLMs cannot perform ijtihad. They lack taqwa, sanad, and the moral accountability that Islamic jurisprudence demands. Deploying them as autonomous muftis is haram — deploying them as scholar-supervised research aids may be conditionally mubah.</a:t>
            </a:r>
            <a:endParaRPr lang="en-US" sz="1300" dirty="0"/>
          </a:p>
        </p:txBody>
      </p:sp>
      <p:sp>
        <p:nvSpPr>
          <p:cNvPr id="9" name="Shape 7"/>
          <p:cNvSpPr/>
          <p:nvPr/>
        </p:nvSpPr>
        <p:spPr>
          <a:xfrm>
            <a:off x="384048" y="1938528"/>
            <a:ext cx="2743200" cy="2743200"/>
          </a:xfrm>
          <a:prstGeom prst="rect">
            <a:avLst/>
          </a:prstGeom>
          <a:solidFill>
            <a:srgbClr val="2B6A5E"/>
          </a:solidFill>
          <a:ln w="12700">
            <a:solidFill>
              <a:srgbClr val="2B6A5E"/>
            </a:solidFill>
            <a:prstDash val="solid"/>
          </a:ln>
        </p:spPr>
      </p:sp>
      <p:sp>
        <p:nvSpPr>
          <p:cNvPr id="10" name="Text 8"/>
          <p:cNvSpPr/>
          <p:nvPr/>
        </p:nvSpPr>
        <p:spPr>
          <a:xfrm>
            <a:off x="475488" y="1993392"/>
            <a:ext cx="2560320" cy="438912"/>
          </a:xfrm>
          <a:prstGeom prst="rect">
            <a:avLst/>
          </a:prstGeom>
          <a:noFill/>
          <a:ln/>
        </p:spPr>
        <p:txBody>
          <a:bodyPr wrap="square" rtlCol="0" anchor="t"/>
          <a:lstStyle/>
          <a:p>
            <a:pPr marL="0" indent="0" algn="l">
              <a:buNone/>
            </a:pPr>
            <a:r>
              <a:rPr lang="en-US" sz="1050" b="1" dirty="0">
                <a:solidFill>
                  <a:srgbClr val="C5973A"/>
                </a:solidFill>
                <a:latin typeface="Calibri" pitchFamily="34" charset="0"/>
                <a:ea typeface="Calibri" pitchFamily="34" charset="-122"/>
                <a:cs typeface="Calibri" pitchFamily="34" charset="-120"/>
              </a:rPr>
              <a:t>💡  RECOMMENDATION</a:t>
            </a:r>
            <a:endParaRPr lang="en-US" sz="1050" dirty="0"/>
          </a:p>
        </p:txBody>
      </p:sp>
      <p:sp>
        <p:nvSpPr>
          <p:cNvPr id="11" name="Text 9"/>
          <p:cNvSpPr/>
          <p:nvPr/>
        </p:nvSpPr>
        <p:spPr>
          <a:xfrm>
            <a:off x="475488" y="2450592"/>
            <a:ext cx="2560320" cy="2194560"/>
          </a:xfrm>
          <a:prstGeom prst="rect">
            <a:avLst/>
          </a:prstGeom>
          <a:noFill/>
          <a:ln/>
        </p:spPr>
        <p:txBody>
          <a:bodyPr wrap="square" rtlCol="0" anchor="t"/>
          <a:lstStyle/>
          <a:p>
            <a:pPr marL="0" indent="0" algn="l">
              <a:buNone/>
            </a:pPr>
            <a:r>
              <a:rPr lang="en-US" sz="1150" dirty="0">
                <a:solidFill>
                  <a:srgbClr val="FFFFFF"/>
                </a:solidFill>
                <a:latin typeface="Calibri" pitchFamily="34" charset="0"/>
                <a:ea typeface="Calibri" pitchFamily="34" charset="-122"/>
                <a:cs typeface="Calibri" pitchFamily="34" charset="-120"/>
              </a:rPr>
              <a:t>All AI fatwa platforms must implement a mandatory 'Human Scholar Review' layer before any ruling reaches the user. Governments and app stores should require this as a condition of deployment — mirroring medical AI regulation models.</a:t>
            </a:r>
            <a:endParaRPr lang="en-US" sz="1150" dirty="0"/>
          </a:p>
        </p:txBody>
      </p:sp>
      <p:sp>
        <p:nvSpPr>
          <p:cNvPr id="12" name="Shape 10"/>
          <p:cNvSpPr/>
          <p:nvPr/>
        </p:nvSpPr>
        <p:spPr>
          <a:xfrm>
            <a:off x="3236976" y="1938528"/>
            <a:ext cx="2743200" cy="2743200"/>
          </a:xfrm>
          <a:prstGeom prst="rect">
            <a:avLst/>
          </a:prstGeom>
          <a:solidFill>
            <a:srgbClr val="2B3060"/>
          </a:solidFill>
          <a:ln w="12700">
            <a:solidFill>
              <a:srgbClr val="2B3060"/>
            </a:solidFill>
            <a:prstDash val="solid"/>
          </a:ln>
        </p:spPr>
      </p:sp>
      <p:sp>
        <p:nvSpPr>
          <p:cNvPr id="13" name="Text 11"/>
          <p:cNvSpPr/>
          <p:nvPr/>
        </p:nvSpPr>
        <p:spPr>
          <a:xfrm>
            <a:off x="3328416" y="1993392"/>
            <a:ext cx="2560320" cy="438912"/>
          </a:xfrm>
          <a:prstGeom prst="rect">
            <a:avLst/>
          </a:prstGeom>
          <a:noFill/>
          <a:ln/>
        </p:spPr>
        <p:txBody>
          <a:bodyPr wrap="square" rtlCol="0" anchor="t"/>
          <a:lstStyle/>
          <a:p>
            <a:pPr marL="0" indent="0" algn="l">
              <a:buNone/>
            </a:pPr>
            <a:r>
              <a:rPr lang="en-US" sz="1050" b="1" dirty="0">
                <a:solidFill>
                  <a:srgbClr val="C5973A"/>
                </a:solidFill>
                <a:latin typeface="Calibri" pitchFamily="34" charset="0"/>
                <a:ea typeface="Calibri" pitchFamily="34" charset="-122"/>
                <a:cs typeface="Calibri" pitchFamily="34" charset="-120"/>
              </a:rPr>
              <a:t>🔬  OPEN QUESTION</a:t>
            </a:r>
            <a:endParaRPr lang="en-US" sz="1050" dirty="0"/>
          </a:p>
        </p:txBody>
      </p:sp>
      <p:sp>
        <p:nvSpPr>
          <p:cNvPr id="14" name="Text 12"/>
          <p:cNvSpPr/>
          <p:nvPr/>
        </p:nvSpPr>
        <p:spPr>
          <a:xfrm>
            <a:off x="3328416" y="2450592"/>
            <a:ext cx="2560320" cy="2194560"/>
          </a:xfrm>
          <a:prstGeom prst="rect">
            <a:avLst/>
          </a:prstGeom>
          <a:noFill/>
          <a:ln/>
        </p:spPr>
        <p:txBody>
          <a:bodyPr wrap="square" rtlCol="0" anchor="t"/>
          <a:lstStyle/>
          <a:p>
            <a:pPr marL="0" indent="0" algn="l">
              <a:buNone/>
            </a:pPr>
            <a:r>
              <a:rPr lang="en-US" sz="1150" dirty="0">
                <a:solidFill>
                  <a:srgbClr val="FFFFFF"/>
                </a:solidFill>
                <a:latin typeface="Calibri" pitchFamily="34" charset="0"/>
                <a:ea typeface="Calibri" pitchFamily="34" charset="-122"/>
                <a:cs typeface="Calibri" pitchFamily="34" charset="-120"/>
              </a:rPr>
              <a:t>Can a hybrid human-AI ijtihad model — where AI generates candidate rulings and a mujtahid selects, modifies, and signs — constitute valid scholarship? This question demands dedicated ijtihad from bodies like the OIC Fiqh Academy.</a:t>
            </a:r>
            <a:endParaRPr lang="en-US" sz="1150" dirty="0"/>
          </a:p>
        </p:txBody>
      </p:sp>
      <p:sp>
        <p:nvSpPr>
          <p:cNvPr id="15" name="Shape 13"/>
          <p:cNvSpPr/>
          <p:nvPr/>
        </p:nvSpPr>
        <p:spPr>
          <a:xfrm>
            <a:off x="6089904" y="1938528"/>
            <a:ext cx="2743200" cy="2743200"/>
          </a:xfrm>
          <a:prstGeom prst="rect">
            <a:avLst/>
          </a:prstGeom>
          <a:solidFill>
            <a:srgbClr val="8B1220"/>
          </a:solidFill>
          <a:ln w="12700">
            <a:solidFill>
              <a:srgbClr val="8B1220"/>
            </a:solidFill>
            <a:prstDash val="solid"/>
          </a:ln>
        </p:spPr>
      </p:sp>
      <p:sp>
        <p:nvSpPr>
          <p:cNvPr id="16" name="Text 14"/>
          <p:cNvSpPr/>
          <p:nvPr/>
        </p:nvSpPr>
        <p:spPr>
          <a:xfrm>
            <a:off x="6181344" y="1993392"/>
            <a:ext cx="2560320" cy="438912"/>
          </a:xfrm>
          <a:prstGeom prst="rect">
            <a:avLst/>
          </a:prstGeom>
          <a:noFill/>
          <a:ln/>
        </p:spPr>
        <p:txBody>
          <a:bodyPr wrap="square" rtlCol="0" anchor="t"/>
          <a:lstStyle/>
          <a:p>
            <a:pPr marL="0" indent="0" algn="l">
              <a:buNone/>
            </a:pPr>
            <a:r>
              <a:rPr lang="en-US" sz="1050" b="1" dirty="0">
                <a:solidFill>
                  <a:srgbClr val="C5973A"/>
                </a:solidFill>
                <a:latin typeface="Calibri" pitchFamily="34" charset="0"/>
                <a:ea typeface="Calibri" pitchFamily="34" charset="-122"/>
                <a:cs typeface="Calibri" pitchFamily="34" charset="-120"/>
              </a:rPr>
              <a:t>⚠  SCHOLARLY ALERT</a:t>
            </a:r>
            <a:endParaRPr lang="en-US" sz="1050" dirty="0"/>
          </a:p>
        </p:txBody>
      </p:sp>
      <p:sp>
        <p:nvSpPr>
          <p:cNvPr id="17" name="Text 15"/>
          <p:cNvSpPr/>
          <p:nvPr/>
        </p:nvSpPr>
        <p:spPr>
          <a:xfrm>
            <a:off x="6181344" y="2450592"/>
            <a:ext cx="2560320" cy="2194560"/>
          </a:xfrm>
          <a:prstGeom prst="rect">
            <a:avLst/>
          </a:prstGeom>
          <a:noFill/>
          <a:ln/>
        </p:spPr>
        <p:txBody>
          <a:bodyPr wrap="square" rtlCol="0" anchor="t"/>
          <a:lstStyle/>
          <a:p>
            <a:pPr marL="0" indent="0" algn="l">
              <a:buNone/>
            </a:pPr>
            <a:r>
              <a:rPr lang="en-US" sz="1150" dirty="0">
                <a:solidFill>
                  <a:srgbClr val="FFFFFF"/>
                </a:solidFill>
                <a:latin typeface="Calibri" pitchFamily="34" charset="0"/>
                <a:ea typeface="Calibri" pitchFamily="34" charset="-122"/>
                <a:cs typeface="Calibri" pitchFamily="34" charset="-120"/>
              </a:rPr>
              <a:t>The ulama have not yet moved fast enough. Fatwa chatbots are already deployed at Hajj scale. This is an urgent call for Islamic jurisprudential bodies to issue clear, binding guidance on AI-generated rulings before the phenomenon becomes irreversible.</a:t>
            </a:r>
            <a:endParaRPr lang="en-US" sz="1150" dirty="0"/>
          </a:p>
        </p:txBody>
      </p:sp>
      <p:sp>
        <p:nvSpPr>
          <p:cNvPr id="18" name="Shape 16"/>
          <p:cNvSpPr/>
          <p:nvPr/>
        </p:nvSpPr>
        <p:spPr>
          <a:xfrm>
            <a:off x="0" y="4773168"/>
            <a:ext cx="9144000" cy="370332"/>
          </a:xfrm>
          <a:prstGeom prst="rect">
            <a:avLst/>
          </a:prstGeom>
          <a:solidFill>
            <a:srgbClr val="C8550A"/>
          </a:solidFill>
          <a:ln w="12700">
            <a:solidFill>
              <a:srgbClr val="C8550A"/>
            </a:solidFill>
            <a:prstDash val="solid"/>
          </a:ln>
        </p:spPr>
      </p:sp>
      <p:sp>
        <p:nvSpPr>
          <p:cNvPr id="19" name="Text 17"/>
          <p:cNvSpPr/>
          <p:nvPr/>
        </p:nvSpPr>
        <p:spPr>
          <a:xfrm>
            <a:off x="320040" y="4773168"/>
            <a:ext cx="8503920" cy="370332"/>
          </a:xfrm>
          <a:prstGeom prst="rect">
            <a:avLst/>
          </a:prstGeom>
          <a:noFill/>
          <a:ln/>
        </p:spPr>
        <p:txBody>
          <a:bodyPr wrap="square" rtlCol="0" anchor="ctr"/>
          <a:lstStyle/>
          <a:p>
            <a:pPr marL="0" indent="0" algn="ctr">
              <a:buNone/>
            </a:pPr>
            <a:r>
              <a:rPr lang="en-US" sz="1150" i="1" dirty="0">
                <a:solidFill>
                  <a:srgbClr val="0B1120"/>
                </a:solidFill>
                <a:latin typeface="Palatino Linotype" pitchFamily="34" charset="0"/>
                <a:ea typeface="Palatino Linotype" pitchFamily="34" charset="-122"/>
                <a:cs typeface="Palatino Linotype" pitchFamily="34" charset="-120"/>
              </a:rPr>
              <a:t>"Whoever is asked about knowledge and conceals it will be bridled with a bridle of fire on the Day of Resurrection." — Sunan Abi Dawud #3658</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2000" advTm="139029"/>
    </mc:Choice>
    <mc:Fallback xmlns="">
      <p:transition spd="slow" advTm="139029"/>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1656</TotalTime>
  <Words>2945</Words>
  <Application>Microsoft Office PowerPoint</Application>
  <PresentationFormat>On-screen Show (16:9)</PresentationFormat>
  <Paragraphs>103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Palatino Linotype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AI Perform Ijtihad?</dc:title>
  <dc:subject>PptxGenJS Presentation</dc:subject>
  <dc:creator>University Student</dc:creator>
  <cp:lastModifiedBy>hp</cp:lastModifiedBy>
  <cp:revision>9</cp:revision>
  <dcterms:created xsi:type="dcterms:W3CDTF">2026-04-28T09:34:57Z</dcterms:created>
  <dcterms:modified xsi:type="dcterms:W3CDTF">2026-06-03T17:58:32Z</dcterms:modified>
</cp:coreProperties>
</file>