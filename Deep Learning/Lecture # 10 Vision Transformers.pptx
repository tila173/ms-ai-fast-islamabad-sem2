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5"/>
  </p:notesMasterIdLst>
  <p:sldIdLst>
    <p:sldId id="352" r:id="rId2"/>
    <p:sldId id="421" r:id="rId3"/>
    <p:sldId id="1756" r:id="rId4"/>
    <p:sldId id="1784" r:id="rId5"/>
    <p:sldId id="1800" r:id="rId6"/>
    <p:sldId id="1809" r:id="rId7"/>
    <p:sldId id="1816" r:id="rId8"/>
    <p:sldId id="1829" r:id="rId9"/>
    <p:sldId id="1817" r:id="rId10"/>
    <p:sldId id="1830" r:id="rId11"/>
    <p:sldId id="1831" r:id="rId12"/>
    <p:sldId id="1805" r:id="rId13"/>
    <p:sldId id="1819" r:id="rId14"/>
    <p:sldId id="1820" r:id="rId15"/>
    <p:sldId id="1821" r:id="rId16"/>
    <p:sldId id="1822" r:id="rId17"/>
    <p:sldId id="1823" r:id="rId18"/>
    <p:sldId id="1825" r:id="rId19"/>
    <p:sldId id="1828" r:id="rId20"/>
    <p:sldId id="1826" r:id="rId21"/>
    <p:sldId id="1824" r:id="rId22"/>
    <p:sldId id="1827" r:id="rId23"/>
    <p:sldId id="12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9" d="100"/>
          <a:sy n="69" d="100"/>
        </p:scale>
        <p:origin x="78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0C695-B896-43C8-BED8-4AADAF27EE62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5302-CAF0-41CB-8C41-BBB781A563F1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7F85-4B9B-4D0C-A517-F66401370C52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F51D3-211E-4FFE-9D5B-F79B2C1C68F0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8B0-B673-43A0-9BAF-2C14DCB975E8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45340-B2ED-4F2E-BC11-9B41F37CA6DC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BFB82-9085-49A7-A936-26B68BA0EACB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9E5A6-25FE-48AA-BC23-1073735FA4AC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72ECD-FC46-4122-9068-C703D5484BB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8DAA-EE3D-4F95-8100-56305B747802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B2B360A-FFF8-420E-9ADA-CB7782A5977C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  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1929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1B043-E79E-4040-957B-E5D488B22133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25351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Vision Transformers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Deep Learning 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solidFill>
                  <a:srgbClr val="FF0000"/>
                </a:solidFill>
                <a:ea typeface="SimSun" panose="02010600030101010101" pitchFamily="2" charset="-122"/>
              </a:rPr>
              <a:t>Vision Transformers (</a:t>
            </a:r>
            <a:r>
              <a:rPr lang="en-US" dirty="0" err="1">
                <a:solidFill>
                  <a:srgbClr val="FF0000"/>
                </a:solidFill>
                <a:ea typeface="SimSun" panose="02010600030101010101" pitchFamily="2" charset="-122"/>
              </a:rPr>
              <a:t>ViT</a:t>
            </a:r>
            <a:r>
              <a:rPr lang="en-US" dirty="0">
                <a:solidFill>
                  <a:srgbClr val="FF0000"/>
                </a:solidFill>
                <a:ea typeface="SimSun" panose="02010600030101010101" pitchFamily="2" charset="-122"/>
              </a:rPr>
              <a:t>)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FA12-85FC-4DA8-9EB1-A72A2D40BF5B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Recap of Previous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EADA-D8F1-4C9D-94AF-80B44FC9874D}" type="datetime1">
              <a:rPr lang="en-US" smtClean="0"/>
              <a:t>4/24/2026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519E8-8230-8DF4-BFB6-FAE246862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715000" cy="4525963"/>
          </a:xfrm>
        </p:spPr>
        <p:txBody>
          <a:bodyPr/>
          <a:lstStyle/>
          <a:p>
            <a:r>
              <a:rPr lang="en-US" dirty="0"/>
              <a:t>The Transformer contains the following component: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Encoder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Decoder</a:t>
            </a:r>
          </a:p>
          <a:p>
            <a:r>
              <a:rPr lang="en-US" dirty="0"/>
              <a:t>Consists of </a:t>
            </a:r>
          </a:p>
          <a:p>
            <a:pPr lvl="1"/>
            <a:r>
              <a:rPr lang="en-US" dirty="0"/>
              <a:t>Stacked self-attention </a:t>
            </a:r>
          </a:p>
          <a:p>
            <a:pPr lvl="1"/>
            <a:r>
              <a:rPr lang="en-US" dirty="0"/>
              <a:t>Fully connected layers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61617-154A-5AB9-CBEE-8A57D471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17681-6EA0-DCFA-2A14-1DB86CD1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A62B8B-15A4-5108-4A9D-B43CE137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7162800" cy="838200"/>
          </a:xfrm>
        </p:spPr>
        <p:txBody>
          <a:bodyPr/>
          <a:lstStyle/>
          <a:p>
            <a:r>
              <a:rPr lang="en-US" dirty="0"/>
              <a:t>Transformer Model 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9E7BA1-B187-886F-2345-800DBE11A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0" y="269596"/>
            <a:ext cx="4419600" cy="622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4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27DBD5-DD34-C357-CABE-9689107C8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172200" cy="4525963"/>
          </a:xfrm>
        </p:spPr>
        <p:txBody>
          <a:bodyPr/>
          <a:lstStyle/>
          <a:p>
            <a:r>
              <a:rPr lang="en-US" b="0" i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urce-serif-pro"/>
              </a:rPr>
              <a:t>Self- and cross-attention </a:t>
            </a:r>
            <a:r>
              <a:rPr lang="en-US" b="0" i="1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only differ in which tokens are given as inputs Q, K, and V.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In </a:t>
            </a:r>
            <a:r>
              <a:rPr lang="en-US" b="1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urce-serif-pro"/>
              </a:rPr>
              <a:t>self-attention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, the same tokens are used for all three inputs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In </a:t>
            </a:r>
            <a:r>
              <a:rPr lang="en-US" b="1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urce-serif-pro"/>
              </a:rPr>
              <a:t>cross-attention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urce-serif-pro"/>
              </a:rPr>
              <a:t>,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 the same tokens are given to K and V, but different tokens are used for Q.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76D34-5A9C-5AB9-69DB-11FC0F23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81A30-01BC-E30D-1437-E4580C96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716A2E-59AF-F0C7-32C3-D25B1067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&amp; Cross-Attention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B67F3-3363-F4EC-FC57-1C724336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2" y="1786197"/>
            <a:ext cx="4895027" cy="377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3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BFE22-C52F-5A0E-AA77-54D943DF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6C832-A189-746D-51F0-85C980EC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501B6F-3FD9-7D28-33C0-08D7FD89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875119-3DD2-7CC3-6627-7634BF8C8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1544461"/>
            <a:ext cx="4013200" cy="499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35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CDA5E-2323-094A-D38E-BCCAB29F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7D7CC-DF69-368E-7E55-59DA6E7A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AEA54-9467-D18E-A9B6-1F3DE195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CF4F153-D2DC-1BEB-1107-3C8AFD5892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86304"/>
            <a:ext cx="7086600" cy="499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01ADDE-CF1B-2F24-413A-DD2FD47DFCCC}"/>
              </a:ext>
            </a:extLst>
          </p:cNvPr>
          <p:cNvSpPr txBox="1"/>
          <p:nvPr/>
        </p:nvSpPr>
        <p:spPr>
          <a:xfrm>
            <a:off x="10417629" y="6063733"/>
            <a:ext cx="1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medium.com</a:t>
            </a:r>
          </a:p>
        </p:txBody>
      </p:sp>
    </p:spTree>
    <p:extLst>
      <p:ext uri="{BB962C8B-B14F-4D97-AF65-F5344CB8AC3E}">
        <p14:creationId xmlns:p14="http://schemas.microsoft.com/office/powerpoint/2010/main" val="241502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668E1-A980-0505-4C7F-E7AE92E3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B83F4-E910-FC63-7A2B-C7E4940A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62FAF3-F333-4704-AD1B-3EC890F8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Transformers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07240C-4FCE-D057-E909-8C94988A7E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33451"/>
            <a:ext cx="3178964" cy="504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21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AB9252-9A70-402A-D5D8-57E93E5B7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</a:t>
            </a:r>
            <a:r>
              <a:rPr lang="en-US" dirty="0"/>
              <a:t>: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Consider queries (Q), keys (K), and values (V) with dimensions 10 x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Model Dimensionality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6 (embedding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size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Number of Heads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3 (for this example)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Projection Dimension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d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k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​=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d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v</a:t>
            </a:r>
            <a:r>
              <a:rPr lang="en-US" b="0" i="0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​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=2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Weight matrices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W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Q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,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W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K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,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W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V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: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need 3 set  one for each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head, its size is 6x2.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B2986-EDBE-9DF4-1896-57F99506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121D6-2F79-7989-499F-6DFDD369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218352-2EE2-B41A-C65B-81DD358D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30991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3F2507-3C13-9418-318F-DA50595E6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The Transformer consists of the following key components: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Input Embedding</a:t>
            </a:r>
            <a:r>
              <a:rPr lang="en-US" dirty="0"/>
              <a:t>: Convert input tokens to dense vector representations.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Positional Encoding</a:t>
            </a:r>
            <a:r>
              <a:rPr lang="en-US" dirty="0"/>
              <a:t>: Adds information about the order of tokens.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Scaled Dot-Product Attention</a:t>
            </a:r>
            <a:r>
              <a:rPr lang="en-US" dirty="0"/>
              <a:t>: Computes attention scores between tokens.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Multi-Head Attention</a:t>
            </a:r>
            <a:r>
              <a:rPr lang="en-US" dirty="0"/>
              <a:t>: Uses multiple attention heads for better representation learning.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Feedforward Network (FFN)</a:t>
            </a:r>
            <a:r>
              <a:rPr lang="en-US" dirty="0"/>
              <a:t>: Applies a two-layer MLP with </a:t>
            </a:r>
            <a:r>
              <a:rPr lang="en-US" dirty="0" err="1"/>
              <a:t>ReLU</a:t>
            </a:r>
            <a:r>
              <a:rPr lang="en-US" dirty="0"/>
              <a:t> activation.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Layer Normalization</a:t>
            </a:r>
            <a:r>
              <a:rPr lang="en-US" dirty="0"/>
              <a:t>: Normalizes input for stable training.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Residual Connections</a:t>
            </a:r>
            <a:r>
              <a:rPr lang="en-US" dirty="0"/>
              <a:t>: Helps in gradient flow and stability.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Encoder</a:t>
            </a:r>
            <a:r>
              <a:rPr lang="en-US" dirty="0"/>
              <a:t>: Stacks multi-head attention and FFN layers.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Decoder</a:t>
            </a:r>
            <a:r>
              <a:rPr lang="en-US" dirty="0"/>
              <a:t>: Similar to the encoder but with an additional cross-attention layer.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Final Linear &amp; </a:t>
            </a:r>
            <a:r>
              <a:rPr lang="en-US" b="1" dirty="0" err="1"/>
              <a:t>Softmax</a:t>
            </a:r>
            <a:r>
              <a:rPr lang="en-US" b="1" dirty="0"/>
              <a:t> Layer</a:t>
            </a:r>
            <a:r>
              <a:rPr lang="en-US" dirty="0"/>
              <a:t>: Converts the decoder output into probabilities.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B4E01-62EE-116B-4C13-631AA6C5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C7D81-0B71-6A91-DD9D-54415A1C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1E3F6C-B839-73B8-2378-DDBD2FDE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5207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31592-DEA2-4753-1866-370D4DA8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5B5E9-70A2-8343-4B0B-58050329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176801-FCC7-EC48-8BFF-636E7988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09900"/>
            <a:ext cx="10972800" cy="838200"/>
          </a:xfrm>
        </p:spPr>
        <p:txBody>
          <a:bodyPr/>
          <a:lstStyle/>
          <a:p>
            <a:r>
              <a:rPr lang="en-US" dirty="0"/>
              <a:t>Solved Numerical Example</a:t>
            </a:r>
          </a:p>
        </p:txBody>
      </p:sp>
    </p:spTree>
    <p:extLst>
      <p:ext uri="{BB962C8B-B14F-4D97-AF65-F5344CB8AC3E}">
        <p14:creationId xmlns:p14="http://schemas.microsoft.com/office/powerpoint/2010/main" val="2681407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EADA-D8F1-4C9D-94AF-80B44FC9874D}" type="datetime1">
              <a:rPr lang="en-US" smtClean="0"/>
              <a:t>4/24/2026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48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4797F-3855-AEF2-80BD-43590F0F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A57B8-844E-81A0-F24B-76156680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AE21CA-0998-33AF-CA70-61905B01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57400"/>
            <a:ext cx="10972800" cy="1790700"/>
          </a:xfrm>
        </p:spPr>
        <p:txBody>
          <a:bodyPr/>
          <a:lstStyle/>
          <a:p>
            <a:r>
              <a:rPr lang="en-US" sz="2800" dirty="0"/>
              <a:t>AN IMAGE IS WORTH 16X16 WORDS: TRANSFORMERS FOR IMAGE RECOGNITION AT SCALE</a:t>
            </a:r>
            <a:br>
              <a:rPr lang="en-US" sz="2800" dirty="0"/>
            </a:br>
            <a:r>
              <a:rPr lang="en-US" sz="3200" dirty="0">
                <a:solidFill>
                  <a:srgbClr val="FF0000"/>
                </a:solidFill>
              </a:rPr>
              <a:t>Vision Transformer (</a:t>
            </a:r>
            <a:r>
              <a:rPr lang="en-US" sz="3200" dirty="0" err="1">
                <a:solidFill>
                  <a:srgbClr val="FF0000"/>
                </a:solidFill>
              </a:rPr>
              <a:t>ViT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212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B37E63-3A4B-DCFD-1B64-CB27D70DE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1600200"/>
            <a:ext cx="10134600" cy="4445001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8880F1-69BA-C6BE-3DA6-FC7BFA40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33D8B-74A0-212A-CA08-DA8E23C2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9AA41A-E324-518F-ED49-9163B842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E95CB-D3C7-D858-CB6A-8138A82A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5570615"/>
            <a:ext cx="1508838" cy="46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79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52A42-823C-8A4F-0B02-3B62EB846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Transformer architecture has become the </a:t>
            </a:r>
            <a:r>
              <a:rPr lang="en-US" dirty="0">
                <a:solidFill>
                  <a:srgbClr val="FFC000"/>
                </a:solidFill>
              </a:rPr>
              <a:t>de-facto standard </a:t>
            </a:r>
            <a:r>
              <a:rPr lang="en-US" dirty="0"/>
              <a:t>for </a:t>
            </a:r>
            <a:r>
              <a:rPr lang="en-US" dirty="0">
                <a:solidFill>
                  <a:srgbClr val="FFC000"/>
                </a:solidFill>
              </a:rPr>
              <a:t>natural language processing </a:t>
            </a:r>
            <a:r>
              <a:rPr lang="en-US" dirty="0"/>
              <a:t>tasks</a:t>
            </a:r>
          </a:p>
          <a:p>
            <a:r>
              <a:rPr lang="en-US" dirty="0"/>
              <a:t>Its applications to </a:t>
            </a:r>
            <a:r>
              <a:rPr lang="en-US" dirty="0">
                <a:solidFill>
                  <a:srgbClr val="FF0000"/>
                </a:solidFill>
              </a:rPr>
              <a:t>computer vision remain limited</a:t>
            </a:r>
            <a:r>
              <a:rPr lang="en-US" dirty="0"/>
              <a:t>. </a:t>
            </a:r>
          </a:p>
          <a:p>
            <a:r>
              <a:rPr lang="en-US" dirty="0"/>
              <a:t>In vision, </a:t>
            </a:r>
            <a:r>
              <a:rPr lang="en-US" dirty="0">
                <a:solidFill>
                  <a:srgbClr val="0070C0"/>
                </a:solidFill>
              </a:rPr>
              <a:t>attention is either applied in conjunction with convolutional networks</a:t>
            </a:r>
          </a:p>
          <a:p>
            <a:r>
              <a:rPr lang="en-US" dirty="0"/>
              <a:t>A pure transformer applied directly to </a:t>
            </a:r>
            <a:r>
              <a:rPr lang="en-US" dirty="0">
                <a:solidFill>
                  <a:srgbClr val="0070C0"/>
                </a:solidFill>
              </a:rPr>
              <a:t>sequences of image patches </a:t>
            </a:r>
            <a:r>
              <a:rPr lang="en-US" dirty="0"/>
              <a:t>can perform very well on </a:t>
            </a:r>
            <a:r>
              <a:rPr lang="en-US" dirty="0">
                <a:solidFill>
                  <a:srgbClr val="FF0000"/>
                </a:solidFill>
              </a:rPr>
              <a:t>image classification tasks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FF0000"/>
                </a:solidFill>
              </a:rPr>
              <a:t>Vision Transformer (</a:t>
            </a:r>
            <a:r>
              <a:rPr lang="en-US" dirty="0" err="1">
                <a:solidFill>
                  <a:srgbClr val="FF0000"/>
                </a:solidFill>
              </a:rPr>
              <a:t>ViT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attains excellent results compared to state-of-the-art </a:t>
            </a:r>
            <a:r>
              <a:rPr lang="en-US" dirty="0">
                <a:solidFill>
                  <a:srgbClr val="FFC000"/>
                </a:solidFill>
              </a:rPr>
              <a:t>convolutional networks </a:t>
            </a:r>
            <a:r>
              <a:rPr lang="en-US" dirty="0"/>
              <a:t>while requiring substantially </a:t>
            </a:r>
            <a:r>
              <a:rPr lang="en-US" dirty="0">
                <a:solidFill>
                  <a:srgbClr val="00B050"/>
                </a:solidFill>
              </a:rPr>
              <a:t>fewer computational resources to train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FED67-1F6D-55CB-7795-15B1EEAA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E54B8-2947-FC1D-1113-71521FB2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26B64A-F41F-E458-94AD-A2D37D12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029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BDC1AA-13B9-1A31-B28C-26C30978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way for applying a standard </a:t>
            </a:r>
            <a:r>
              <a:rPr lang="en-US" dirty="0">
                <a:solidFill>
                  <a:srgbClr val="00B050"/>
                </a:solidFill>
              </a:rPr>
              <a:t>Transformer directly to images</a:t>
            </a:r>
          </a:p>
          <a:p>
            <a:r>
              <a:rPr lang="en-US" dirty="0"/>
              <a:t>Split an image into </a:t>
            </a:r>
            <a:r>
              <a:rPr lang="en-US" dirty="0">
                <a:solidFill>
                  <a:srgbClr val="00B050"/>
                </a:solidFill>
              </a:rPr>
              <a:t>patches </a:t>
            </a:r>
          </a:p>
          <a:p>
            <a:r>
              <a:rPr lang="en-US" dirty="0"/>
              <a:t>Image patches are treated the same way as </a:t>
            </a:r>
            <a:r>
              <a:rPr lang="en-US" dirty="0">
                <a:solidFill>
                  <a:srgbClr val="FF0000"/>
                </a:solidFill>
              </a:rPr>
              <a:t>tokens (words) </a:t>
            </a:r>
            <a:r>
              <a:rPr lang="en-US" dirty="0"/>
              <a:t>in an NLP application. </a:t>
            </a:r>
          </a:p>
          <a:p>
            <a:pPr lvl="1"/>
            <a:r>
              <a:rPr lang="en-US" dirty="0"/>
              <a:t>Patch Embeddings.</a:t>
            </a:r>
          </a:p>
          <a:p>
            <a:r>
              <a:rPr lang="en-US" dirty="0"/>
              <a:t>The </a:t>
            </a:r>
            <a:r>
              <a:rPr lang="en-US" dirty="0" err="1"/>
              <a:t>ViT</a:t>
            </a:r>
            <a:r>
              <a:rPr lang="en-US" dirty="0"/>
              <a:t> uses only the </a:t>
            </a:r>
            <a:r>
              <a:rPr lang="en-US" dirty="0">
                <a:solidFill>
                  <a:srgbClr val="FFC000"/>
                </a:solidFill>
              </a:rPr>
              <a:t>Encoder Part of Transformer</a:t>
            </a:r>
          </a:p>
          <a:p>
            <a:r>
              <a:rPr lang="en-US" dirty="0"/>
              <a:t>The Transformer uses </a:t>
            </a:r>
            <a:r>
              <a:rPr lang="en-US" dirty="0">
                <a:solidFill>
                  <a:srgbClr val="FF0000"/>
                </a:solidFill>
              </a:rPr>
              <a:t>constant latent vector size D through all of its layers</a:t>
            </a:r>
            <a:r>
              <a:rPr lang="en-US" dirty="0"/>
              <a:t>, so we flatten the patches and map to D dimensions with a </a:t>
            </a:r>
            <a:r>
              <a:rPr lang="en-US" dirty="0">
                <a:solidFill>
                  <a:srgbClr val="FF0000"/>
                </a:solidFill>
              </a:rPr>
              <a:t>trainable linear projection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54769-C4CB-3583-F55C-69F17936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C351A-4647-F9BE-D3E3-31A3A79C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9D79F-651B-0231-82F1-9C3230FA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5820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A13A02-98FF-CAD9-D234-A7A1EED02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600200"/>
            <a:ext cx="9067800" cy="4935798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A553A-5C00-0C36-A6C1-98E24B7E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11E81-EB0F-DB9A-E802-B596A9E4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ACF5B5-C3A0-0E81-CAE3-412E9A87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985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AAE33-33E8-6CA0-D75D-BB6CC3DC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Split an image into patches: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The first step in processing an image with a Vision Transformer is to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divide it into smaller, fixed-size patches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sequence of linear embeddings of these patches as an input to a Transformer</a:t>
            </a:r>
            <a:endParaRPr lang="en-US" sz="2800" b="0" i="0" dirty="0">
              <a:solidFill>
                <a:srgbClr val="292929"/>
              </a:solidFill>
              <a:effectLst/>
              <a:latin typeface="Inte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Each 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Inter"/>
              </a:rPr>
              <a:t>patch represents a local region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of the image.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Flatten the patches: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Pixel values are </a:t>
            </a:r>
            <a:r>
              <a:rPr lang="en-US" sz="2800" b="0" i="0" dirty="0">
                <a:solidFill>
                  <a:srgbClr val="FFC000"/>
                </a:solidFill>
                <a:effectLst/>
                <a:latin typeface="Inter"/>
              </a:rPr>
              <a:t>flattened into a single vector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Treat image patches as </a:t>
            </a:r>
            <a:r>
              <a:rPr lang="en-US" sz="28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Inter"/>
              </a:rPr>
              <a:t>sequential data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C64BE-9605-2E60-42D9-B5C3297F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4ECB-9990-8A2A-94D4-94DDC8D0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0DB640-1621-DBD9-9A29-9F18FE55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1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564A5-E2BB-1468-0AA6-8BF5B53AB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Produce lower-dimensional linear embeddings: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Pass these flattened patches via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Linear Layer to transform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into a lower-dimensional space.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Reduces the 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Inter"/>
              </a:rPr>
              <a:t>dimensionality of the data while preserving important features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Generate positional encodings: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lvl="1"/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Positional encodings are generated and added to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include the relative positions of different patches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in the image.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292929"/>
              </a:solidFill>
              <a:effectLst/>
              <a:highlight>
                <a:srgbClr val="FAFAFA"/>
              </a:highlight>
              <a:latin typeface="Inter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0591D-B391-BB7F-57A8-FF64F0BA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3DBB0-9DDA-799F-61AC-385D2916C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950E62-3936-13EE-F80B-38CE8805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99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7F2BBC-8215-10E8-B72A-7DF3764E5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Transformer Encoder: </a:t>
            </a:r>
          </a:p>
          <a:p>
            <a:pPr lvl="1"/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The input to a standard Transformer encoder comprises the sequence of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patch embeddings and positional embeddings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lvl="1"/>
            <a:r>
              <a:rPr lang="en-US" sz="28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Inter"/>
              </a:rPr>
              <a:t>Layer normalization (LN)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is applied to scale the data within the layer, ensuring stability and efficiency during training.</a:t>
            </a:r>
          </a:p>
          <a:p>
            <a:pPr lvl="1"/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This encoder is composed of two main components: </a:t>
            </a:r>
          </a:p>
          <a:p>
            <a:pPr lvl="2"/>
            <a:r>
              <a:rPr lang="en-US" sz="2400" b="0" i="0" dirty="0">
                <a:solidFill>
                  <a:srgbClr val="00B050"/>
                </a:solidFill>
                <a:effectLst/>
                <a:latin typeface="Inter"/>
              </a:rPr>
              <a:t>Multi-head self-attention </a:t>
            </a:r>
          </a:p>
          <a:p>
            <a:pPr lvl="2"/>
            <a:r>
              <a:rPr lang="en-US" sz="2400" dirty="0">
                <a:solidFill>
                  <a:srgbClr val="00B050"/>
                </a:solidFill>
                <a:latin typeface="Inter"/>
              </a:rPr>
              <a:t>M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Inter"/>
              </a:rPr>
              <a:t>ulti-layer perceptron (MLP) blocks.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AC911-FFE9-69A8-4A58-833A1214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3243E-B34B-1AC8-D40F-8FB6EC28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2228A9-EF84-0A02-C657-5039F1CA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252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FC1137-06CB-912B-1B53-38ADA078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Gaussian Error Linear Unit (GELU)</a:t>
            </a:r>
          </a:p>
          <a:p>
            <a:pPr lvl="1"/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 approximation to GELU is performed using</a:t>
            </a:r>
            <a:endParaRPr lang="en-US" sz="2800" dirty="0"/>
          </a:p>
          <a:p>
            <a:pPr algn="l">
              <a:buFont typeface="Arial" panose="020B0604020202020204" pitchFamily="34" charset="0"/>
              <a:buChar char="•"/>
            </a:pPr>
            <a:endParaRPr lang="en-US" b="1" dirty="0">
              <a:solidFill>
                <a:srgbClr val="292929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1" dirty="0">
              <a:solidFill>
                <a:srgbClr val="292929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92929"/>
                </a:solidFill>
                <a:effectLst/>
                <a:latin typeface="Inter"/>
              </a:rPr>
              <a:t>Classification Token:</a:t>
            </a: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The classification head is </a:t>
            </a:r>
            <a:r>
              <a:rPr lang="en-US" b="0" i="0" dirty="0">
                <a:solidFill>
                  <a:srgbClr val="00B050"/>
                </a:solidFill>
                <a:effectLst/>
                <a:latin typeface="Inter"/>
              </a:rPr>
              <a:t>implemented by a MLP with one hidden layer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To enable image classification, a special "</a:t>
            </a:r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classification token</a:t>
            </a: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" is </a:t>
            </a:r>
            <a:r>
              <a:rPr lang="en-US" b="0" i="0" dirty="0">
                <a:solidFill>
                  <a:srgbClr val="00B0F0"/>
                </a:solidFill>
                <a:effectLst/>
                <a:latin typeface="Inter"/>
              </a:rPr>
              <a:t>prepended to the sequence of patch embeddings</a:t>
            </a: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This token's state at the output of the Transformer encoder serves as the representation of the entire image.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DC3E9-9032-9C76-C40A-A263C58D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B6C0D-A096-0446-1ADC-4A57BDC3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9C6106-1EA2-9C04-9D18-5AE09AF2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325C8-BB37-FF04-5887-8B1FF58C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429" y="2667000"/>
            <a:ext cx="6541171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19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5353E-D2C2-DF64-3F3A-633293C0FCF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Read the Vision Transformer Paper in Details:</a:t>
            </a:r>
          </a:p>
          <a:p>
            <a:pPr lvl="1"/>
            <a:r>
              <a:rPr lang="en-US" b="1" dirty="0">
                <a:solidFill>
                  <a:srgbClr val="191919"/>
                </a:solidFill>
                <a:latin typeface="Inter"/>
                <a:hlinkClick r:id="rId2"/>
              </a:rPr>
              <a:t>Download Paper</a:t>
            </a:r>
            <a:r>
              <a:rPr lang="en-US" dirty="0">
                <a:solidFill>
                  <a:srgbClr val="191919"/>
                </a:solidFill>
                <a:latin typeface="Inter"/>
              </a:rPr>
              <a:t> </a:t>
            </a:r>
          </a:p>
          <a:p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Specifically look at these questions.</a:t>
            </a:r>
          </a:p>
          <a:p>
            <a:pPr lvl="1"/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Why Vision Transformer has much less image-specific inductive bias than CNNs?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How the </a:t>
            </a:r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Hybrid Architecture is tested in </a:t>
            </a:r>
            <a:r>
              <a:rPr lang="en-US" b="0" i="0" dirty="0" err="1">
                <a:solidFill>
                  <a:srgbClr val="191919"/>
                </a:solidFill>
                <a:effectLst/>
                <a:latin typeface="Inter"/>
              </a:rPr>
              <a:t>ViT</a:t>
            </a:r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 paper?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How Fine-Tuning is performed?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Explain what is self-supervised pre-training?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What challenges are highlighted by </a:t>
            </a:r>
            <a:r>
              <a:rPr lang="en-US" dirty="0" err="1">
                <a:solidFill>
                  <a:srgbClr val="191919"/>
                </a:solidFill>
                <a:latin typeface="Inter"/>
              </a:rPr>
              <a:t>ViT</a:t>
            </a:r>
            <a:r>
              <a:rPr lang="en-US" dirty="0">
                <a:solidFill>
                  <a:srgbClr val="191919"/>
                </a:solidFill>
                <a:latin typeface="Inter"/>
              </a:rPr>
              <a:t> paper?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75632-5CB3-0419-0E63-3C40CC4E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29CA-21D1-4379-BAEB-4D65469B102E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6162A-668A-D847-1D73-3DAC8F102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8B2FC0-5A33-025D-13AA-C4659645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Task</a:t>
            </a:r>
          </a:p>
        </p:txBody>
      </p:sp>
    </p:spTree>
    <p:extLst>
      <p:ext uri="{BB962C8B-B14F-4D97-AF65-F5344CB8AC3E}">
        <p14:creationId xmlns:p14="http://schemas.microsoft.com/office/powerpoint/2010/main" val="1465826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23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5018-80DF-40BE-B28F-6F6D69069508}" type="datetime1">
              <a:rPr lang="en-US" smtClean="0"/>
              <a:t>4/24/2026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41624</TotalTime>
  <Words>865</Words>
  <Application>Microsoft Office PowerPoint</Application>
  <PresentationFormat>Widescreen</PresentationFormat>
  <Paragraphs>147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SimSun</vt:lpstr>
      <vt:lpstr>Arial</vt:lpstr>
      <vt:lpstr>Arial</vt:lpstr>
      <vt:lpstr>Calibri</vt:lpstr>
      <vt:lpstr>Inter</vt:lpstr>
      <vt:lpstr>KaTeX_Main</vt:lpstr>
      <vt:lpstr>KaTeX_Math</vt:lpstr>
      <vt:lpstr>Söhne</vt:lpstr>
      <vt:lpstr>source-serif-pro</vt:lpstr>
      <vt:lpstr>Wingdings</vt:lpstr>
      <vt:lpstr>Office Theme</vt:lpstr>
      <vt:lpstr>PowerPoint Presentation</vt:lpstr>
      <vt:lpstr>Goals</vt:lpstr>
      <vt:lpstr>Recap of Previous Lecture</vt:lpstr>
      <vt:lpstr>Transformer Model Architecture</vt:lpstr>
      <vt:lpstr>Self-Attention &amp; Cross-Attention</vt:lpstr>
      <vt:lpstr>Multi-Head Attention</vt:lpstr>
      <vt:lpstr>Multi-Head Attention</vt:lpstr>
      <vt:lpstr>Training Transformers</vt:lpstr>
      <vt:lpstr>Multi-Head Attention</vt:lpstr>
      <vt:lpstr>Transformer Implementation</vt:lpstr>
      <vt:lpstr>Solved Numerical Example</vt:lpstr>
      <vt:lpstr>Today’s Lecture</vt:lpstr>
      <vt:lpstr>AN IMAGE IS WORTH 16X16 WORDS: TRANSFORMERS FOR IMAGE RECOGNITION AT SCALE Vision Transformer (ViT)</vt:lpstr>
      <vt:lpstr>Vision Transformer (ViT)</vt:lpstr>
      <vt:lpstr>Vision Transformer (ViT)</vt:lpstr>
      <vt:lpstr>Vision Transformer (ViT)</vt:lpstr>
      <vt:lpstr>Vision Transformer (ViT)</vt:lpstr>
      <vt:lpstr>Working: ViT</vt:lpstr>
      <vt:lpstr>Working: ViT</vt:lpstr>
      <vt:lpstr>Working: ViT</vt:lpstr>
      <vt:lpstr>Working: ViT</vt:lpstr>
      <vt:lpstr>Reading Task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Mew Two</cp:lastModifiedBy>
  <cp:revision>2140</cp:revision>
  <dcterms:created xsi:type="dcterms:W3CDTF">2006-08-16T00:00:00Z</dcterms:created>
  <dcterms:modified xsi:type="dcterms:W3CDTF">2026-04-24T07:14:31Z</dcterms:modified>
</cp:coreProperties>
</file>